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2000" cy="6858000" type="screen4x3"/>
  <p:notesSz cx="6858000" cy="9144000"/>
  <p:embeddedFontLst>
    <p:embeddedFont>
      <p:font typeface="Archivo Display" pitchFamily="2" charset="0"/>
      <p:regular r:id="rIdFont1"/>
    </p:embeddedFont>
    <p:embeddedFont>
      <p:font typeface="Archivo Condensed" pitchFamily="2" charset="0"/>
      <p:regular r:id="rIdFont2"/>
    </p:embeddedFont>
    <p:embeddedFont>
      <p:font typeface="Archivo Expanded" pitchFamily="2" charset="0"/>
      <p:regular r:id="rIdFont3"/>
    </p:embeddedFont>
    <p:embeddedFont>
      <p:font typeface="Archivo Label" pitchFamily="2" charset="0"/>
      <p:regular r:id="rIdFont4"/>
    </p:embeddedFont>
    <p:embeddedFont>
      <p:font typeface="JetBrains Mono" pitchFamily="49" charset="0"/>
      <p:regular r:id="rIdFont5"/>
      <p:bold r:id="rIdFont6"/>
    </p:embeddedFont>
    <p:embeddedFont>
      <p:font typeface="Caveat Brush" pitchFamily="2" charset="0"/>
      <p:regular r:id="rIdFont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Font3" Type="http://schemas.openxmlformats.org/officeDocument/2006/relationships/font" Target="fonts/font3.fntdata"/><Relationship Id="rIdFont4" Type="http://schemas.openxmlformats.org/officeDocument/2006/relationships/font" Target="fonts/font4.fntdata"/><Relationship Id="rIdFont5" Type="http://schemas.openxmlformats.org/officeDocument/2006/relationships/font" Target="fonts/font5.fntdata"/><Relationship Id="rIdFont6" Type="http://schemas.openxmlformats.org/officeDocument/2006/relationships/font" Target="fonts/font6.fntdata"/><Relationship Id="rIdFont7" Type="http://schemas.openxmlformats.org/officeDocument/2006/relationships/font" Target="fonts/font7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Cashiers (n = 25)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6"/>
            <c:spPr>
              <a:solidFill>
                <a:srgbClr val="FF7A1A"/>
              </a:solidFill>
              <a:ln w="31750">
                <a:solidFill>
                  <a:srgbClr val="FFFFFF"/>
                </a:solidFill>
              </a:ln>
            </c:spPr>
          </c:marker>
          <c:xVal>
            <c:numRef>
              <c:f>Sheet1!$A$2:$A$26</c:f>
              <c:numCache>
                <c:formatCode>General</c:formatCode>
                <c:ptCount val="25"/>
                <c:pt idx="0">
                  <c:v>1.0</c:v>
                </c:pt>
                <c:pt idx="1">
                  <c:v>1.3333</c:v>
                </c:pt>
                <c:pt idx="2">
                  <c:v>1.3333</c:v>
                </c:pt>
                <c:pt idx="3">
                  <c:v>1.6667</c:v>
                </c:pt>
                <c:pt idx="4">
                  <c:v>1.6667</c:v>
                </c:pt>
                <c:pt idx="5">
                  <c:v>1.6667</c:v>
                </c:pt>
                <c:pt idx="6">
                  <c:v>1.6667</c:v>
                </c:pt>
                <c:pt idx="7">
                  <c:v>2.0</c:v>
                </c:pt>
                <c:pt idx="8">
                  <c:v>2.0</c:v>
                </c:pt>
                <c:pt idx="9">
                  <c:v>2.3333</c:v>
                </c:pt>
                <c:pt idx="10">
                  <c:v>2.3333</c:v>
                </c:pt>
                <c:pt idx="11">
                  <c:v>2.6667</c:v>
                </c:pt>
                <c:pt idx="12">
                  <c:v>2.6667</c:v>
                </c:pt>
                <c:pt idx="13">
                  <c:v>2.6667</c:v>
                </c:pt>
                <c:pt idx="14">
                  <c:v>2.6667</c:v>
                </c:pt>
                <c:pt idx="15">
                  <c:v>2.6667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3.3333</c:v>
                </c:pt>
                <c:pt idx="20">
                  <c:v>3.3333</c:v>
                </c:pt>
                <c:pt idx="21">
                  <c:v>3.6667</c:v>
                </c:pt>
                <c:pt idx="22">
                  <c:v>3.6667</c:v>
                </c:pt>
                <c:pt idx="23">
                  <c:v>4.0</c:v>
                </c:pt>
                <c:pt idx="24">
                  <c:v>4.3333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1.3333</c:v>
                </c:pt>
                <c:pt idx="1">
                  <c:v>2.0</c:v>
                </c:pt>
                <c:pt idx="2">
                  <c:v>2.6667</c:v>
                </c:pt>
                <c:pt idx="3">
                  <c:v>2.0</c:v>
                </c:pt>
                <c:pt idx="4">
                  <c:v>2.6667</c:v>
                </c:pt>
                <c:pt idx="5">
                  <c:v>3.0</c:v>
                </c:pt>
                <c:pt idx="6">
                  <c:v>3.6667</c:v>
                </c:pt>
                <c:pt idx="7">
                  <c:v>2.0</c:v>
                </c:pt>
                <c:pt idx="8">
                  <c:v>2.0</c:v>
                </c:pt>
                <c:pt idx="9">
                  <c:v>2.3333</c:v>
                </c:pt>
                <c:pt idx="10">
                  <c:v>3.0</c:v>
                </c:pt>
                <c:pt idx="11">
                  <c:v>2.0</c:v>
                </c:pt>
                <c:pt idx="12">
                  <c:v>2.3333</c:v>
                </c:pt>
                <c:pt idx="13">
                  <c:v>2.3333</c:v>
                </c:pt>
                <c:pt idx="14">
                  <c:v>3.3333</c:v>
                </c:pt>
                <c:pt idx="15">
                  <c:v>4.3333</c:v>
                </c:pt>
                <c:pt idx="16">
                  <c:v>2.0</c:v>
                </c:pt>
                <c:pt idx="17">
                  <c:v>3.6667</c:v>
                </c:pt>
                <c:pt idx="18">
                  <c:v>4.3333</c:v>
                </c:pt>
                <c:pt idx="19">
                  <c:v>2.6667</c:v>
                </c:pt>
                <c:pt idx="20">
                  <c:v>2.6667</c:v>
                </c:pt>
                <c:pt idx="21">
                  <c:v>3.0</c:v>
                </c:pt>
                <c:pt idx="22">
                  <c:v>4.0</c:v>
                </c:pt>
                <c:pt idx="23">
                  <c:v>4.0</c:v>
                </c:pt>
                <c:pt idx="24">
                  <c:v>3.6667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Sheet1!$B$28</c:f>
              <c:strCache>
                <c:ptCount val="1"/>
                <c:pt idx="0">
                  <c:v>Least-squares line</c:v>
                </c:pt>
              </c:strCache>
            </c:strRef>
          </c:tx>
          <c:spPr>
            <a:ln w="69850">
              <a:solidFill>
                <a:srgbClr val="E8253F"/>
              </a:solidFill>
            </a:ln>
          </c:spPr>
          <c:marker>
            <c:symbol val="none"/>
          </c:marker>
          <c:xVal>
            <c:numRef>
              <c:f>Sheet1!$A$29:$A$30</c:f>
              <c:numCache>
                <c:formatCode>General</c:formatCode>
                <c:ptCount val="2"/>
                <c:pt idx="0">
                  <c:v>1.0</c:v>
                </c:pt>
                <c:pt idx="1">
                  <c:v>4.3333</c:v>
                </c:pt>
              </c:numCache>
            </c:numRef>
          </c:xVal>
          <c:yVal>
            <c:numRef>
              <c:f>Sheet1!$B$29:$B$30</c:f>
              <c:numCache>
                <c:formatCode>General</c:formatCode>
                <c:ptCount val="2"/>
                <c:pt idx="0">
                  <c:v>2.0503</c:v>
                </c:pt>
                <c:pt idx="1">
                  <c:v>3.7523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Sheet1!$B$32</c:f>
              <c:strCache>
                <c:ptCount val="1"/>
                <c:pt idx="0">
                  <c:v>Two cashiers, identical scores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30"/>
            <c:spPr>
              <a:noFill/>
              <a:ln w="25400">
                <a:solidFill>
                  <a:srgbClr val="0B0610"/>
                </a:solidFill>
                <a:prstDash val="dash"/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2000">
                        <a:solidFill>
                          <a:srgbClr val="0B0610"/>
                        </a:solidFill>
                        <a:latin typeface="Caveat Brush"/>
                      </a:rPr>
                      <a:t>×2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2000">
                        <a:solidFill>
                          <a:srgbClr val="0B0610"/>
                        </a:solidFill>
                        <a:latin typeface="Caveat Brush"/>
                      </a:rPr>
                      <a:t>×2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2000">
                        <a:solidFill>
                          <a:srgbClr val="0B0610"/>
                        </a:solidFill>
                        <a:latin typeface="Caveat Brush"/>
                      </a:rPr>
                      <a:t>×2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Sheet1!$A$33:$A$35</c:f>
              <c:numCache>
                <c:formatCode>General</c:formatCode>
                <c:ptCount val="3"/>
                <c:pt idx="0">
                  <c:v>2.0</c:v>
                </c:pt>
                <c:pt idx="1">
                  <c:v>2.6667</c:v>
                </c:pt>
                <c:pt idx="2">
                  <c:v>3.3333</c:v>
                </c:pt>
              </c:numCache>
            </c:numRef>
          </c:xVal>
          <c:yVal>
            <c:numRef>
              <c:f>Sheet1!$B$33:$B$35</c:f>
              <c:numCache>
                <c:formatCode>General</c:formatCode>
                <c:ptCount val="3"/>
                <c:pt idx="0">
                  <c:v>2.0</c:v>
                </c:pt>
                <c:pt idx="1">
                  <c:v>2.3333</c:v>
                </c:pt>
                <c:pt idx="2">
                  <c:v>2.6667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5.0"/>
          <c:min val="1.0"/>
        </c:scaling>
        <c:delete val="0"/>
        <c:axPos val="b"/>
        <c:title>
          <c:tx>
            <c:rich>
              <a:bodyPr/>
              <a:lstStyle/>
              <a:p>
                <a:r>
                  <a:rPr sz="1300" b="0">
                    <a:solidFill>
                      <a:srgbClr val="0B0610"/>
                    </a:solidFill>
                    <a:latin typeface="Archivo Label"/>
                  </a:rPr>
                  <a:t>SKILL VARIETY (score 1–5)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31750">
            <a:solidFill>
              <a:srgbClr val="0B0610"/>
            </a:solidFill>
          </a:ln>
        </c:sp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5.0"/>
          <c:min val="1.0"/>
        </c:scaling>
        <c:delete val="0"/>
        <c:axPos val="l"/>
        <c:title>
          <c:tx>
            <c:rich>
              <a:bodyPr/>
              <a:lstStyle/>
              <a:p>
                <a:r>
                  <a:rPr sz="1300" b="0">
                    <a:solidFill>
                      <a:srgbClr val="0B0610"/>
                    </a:solidFill>
                    <a:latin typeface="Archivo Label"/>
                  </a:rPr>
                  <a:t>JOB SATISFACTION (score 1–5)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31750">
            <a:solidFill>
              <a:srgbClr val="0B0610"/>
            </a:solidFill>
          </a:ln>
        </c:spPr>
        <c:crossAx val="-2128940872"/>
        <c:crosses val="autoZero"/>
        <c:crossBetween val="midCat"/>
        <c:majorUnit val="1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400">
          <a:solidFill>
            <a:srgbClr val="0B0610"/>
          </a:solidFill>
          <a:latin typeface="JetBrains Mon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[On screen while the class settles. No script. First click starts the opening.]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the last time you went grocery shopping.</a:t>
            </a:r>
          </a:p>
          <a:p>
            <a:r>
              <a:t>You probably spent thirty or forty minutes inside the store.</a:t>
            </a:r>
          </a:p>
          <a:p>
            <a:r>
              <a:t>But the final person you interacted with was the cashier.</a:t>
            </a:r>
          </a:p>
          <a:p>
            <a:r>
              <a:t>And in those last few minutes, that person handled your money, your discounts, your billing accuracy, your waiting time, and probably your final impression of the entire visit.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imagine doing that same transaction…</a:t>
            </a:r>
          </a:p>
          <a:p>
            <a:r>
              <a:t>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again.</a:t>
            </a:r>
          </a:p>
          <a:p>
            <a:r>
              <a:t>And again.</a:t>
            </a:r>
          </a:p>
          <a:p>
            <a:r>
              <a:t>For an entire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creates an interesting question.</a:t>
            </a:r>
          </a:p>
          <a:p>
            <a:r>
              <a:t>Can a job be important, but still not be designed in a way that brings out the best in the person doing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is the question behind our study of checkout cashiers at Imtiaz.</a:t>
            </a:r>
          </a:p>
          <a:p>
            <a:r>
              <a:t>And instead of assuming we knew the answer, we asked the cashiers.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collected responses from 25 checkout cashiers across multiple Imtiaz branches in Karachi.</a:t>
            </a:r>
          </a:p>
          <a:p>
            <a:r>
              <a:t>[On screen: interviewer-administered; questions read aloud and explained; voluntary; no names, IDs or phone numbers; small cross-sectional sample.]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we looked at their jobs through five dimensions of the Job Characteristics Model:</a:t>
            </a:r>
          </a:p>
          <a:p>
            <a:r>
              <a:t>skill variety,</a:t>
            </a:r>
          </a:p>
          <a:p>
            <a:r>
              <a:t>task identity,</a:t>
            </a:r>
          </a:p>
          <a:p>
            <a:r>
              <a:t>task significance,</a:t>
            </a:r>
          </a:p>
          <a:p>
            <a:r>
              <a:t>autonomy,</a:t>
            </a:r>
          </a:p>
          <a:p>
            <a:r>
              <a:t>and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But there was something important about our approach.</a:t>
            </a:r>
          </a:p>
          <a:p>
            <a:r>
              <a:t>We did not begin by saying, 'Cashier jobs are repetitive, therefore job rotation is the solution.'</a:t>
            </a:r>
          </a:p>
          <a:p>
            <a:r>
              <a:t>That would be applying theory before understanding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did the opposite.</a:t>
            </a:r>
          </a:p>
          <a:p>
            <a:r>
              <a:t>Diagnose first. Redesign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the results challenged what might be the easiest assumption about routine work.</a:t>
            </a:r>
          </a:p>
          <a:p>
            <a:r>
              <a:t>Task Significance was 4.09 out of 5.</a:t>
            </a:r>
          </a:p>
          <a:p>
            <a:r>
              <a:t>Task Identity was 4.04.</a:t>
            </a:r>
          </a:p>
          <a:p>
            <a:r>
              <a:t>In other words, these employees generally understood that what they do matters, and they could see a complete piece of work from beginning to end.</a:t>
            </a:r>
          </a:p>
          <a:p>
            <a:r>
              <a:t>A customer arrives.</a:t>
            </a:r>
          </a:p>
          <a:p>
            <a:r>
              <a:t>Products are scanned.</a:t>
            </a:r>
          </a:p>
          <a:p>
            <a:r>
              <a:t>Payment is processed.</a:t>
            </a:r>
          </a:p>
          <a:p>
            <a:r>
              <a:t>The transaction is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the cashier job does not appear to suffer primarily from a lack of meaning.</a:t>
            </a:r>
          </a:p>
          <a:p>
            <a:r>
              <a:t>[Pause here.]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appears somewhere else.</a:t>
            </a:r>
          </a:p>
          <a:p>
            <a:r>
              <a:t>Feedback falls to 3.40.</a:t>
            </a:r>
          </a:p>
          <a:p>
            <a:r>
              <a:t>Autonomy falls to 2.84.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then we reach the lowest score in the entire JCM diagnosis:</a:t>
            </a:r>
          </a:p>
          <a:p>
            <a:r>
              <a:t>Skill Variety: 2.55 out of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changes the story completely.</a:t>
            </a:r>
          </a:p>
          <a:p>
            <a:r>
              <a:t>[Full comparison on the 1–5 scale: Task Significance 4.09 · Task Identity 4.04 · Feedback 3.40 · Autonomy 2.84 · Skill Variety 2.55.]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job is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But it is narrow.</a:t>
            </a:r>
          </a:p>
          <a:p>
            <a:r>
              <a:t>The employee can see the importance of the work, while still experiencing the work itself as repetitive and constrained.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then asked another question.</a:t>
            </a:r>
          </a:p>
          <a:p>
            <a:r>
              <a:t>If these characteristics are weak, what changes do employees actually value?</a:t>
            </a:r>
          </a:p>
          <a:p>
            <a:r>
              <a:t>The strongest response was not unlimited freedom.</a:t>
            </a:r>
          </a:p>
          <a:p>
            <a:r>
              <a:t>It was not random movement around the store.</a:t>
            </a:r>
          </a:p>
          <a:p>
            <a:r>
              <a:t>Employees rated greater authority to resolve routine customer issues at 4.32 out of 5.</a:t>
            </a:r>
          </a:p>
          <a:p>
            <a:r>
              <a:t>Greater responsibility and ownership scored 4.16.</a:t>
            </a:r>
          </a:p>
          <a:p>
            <a:r>
              <a:t>More regular performance feedback scored 4.04.</a:t>
            </a:r>
          </a:p>
          <a:p>
            <a:r>
              <a:t>And overall job satisfaction in our sample was only 2.84.</a:t>
            </a:r>
          </a:p>
          <a:p>
            <a:r>
              <a:t>[On screen, quietly: rotation into other suitable responsibilities, 3.28. Still positive, but lower.]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was another signal worth noticing.</a:t>
            </a:r>
          </a:p>
          <a:p>
            <a:r>
              <a:t>Skill variety had the clearest positive association with job satisfaction in our exploratory analysis, at approximately r = .54.</a:t>
            </a:r>
          </a:p>
          <a:p>
            <a:r>
              <a:t>We are deliberately saying association, not causation.</a:t>
            </a:r>
          </a:p>
          <a:p>
            <a:r>
              <a:t>With 25 respondents and a cross-sectional survey, it would be irresponsible to claim that increasing skill variety causes higher satisfaction.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But when the lowest JCM score, employee preferences, and the strongest observed association with satisfaction begin pointing in a similar direction…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…that becomes a useful managerial signal.</a:t>
            </a:r>
          </a:p>
          <a:p>
            <a:r>
              <a:t>[Not proof. A reason to redesign carefully, and to test.]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does this matter theoretically?</a:t>
            </a:r>
          </a:p>
          <a:p>
            <a:r>
              <a:t>The Job Characteristics Model links skill variety, task identity and task significance to experienced meaningfulness.</a:t>
            </a:r>
          </a:p>
          <a:p>
            <a:r>
              <a:t>Autonomy links to experienced responsibility.</a:t>
            </a:r>
          </a:p>
          <a:p>
            <a:r>
              <a:t>Feedback links to knowledge of results.</a:t>
            </a:r>
          </a:p>
          <a:p>
            <a:r>
              <a:t>These psychological states are expected to influence outcomes such as internal work motivation and satisfaction.</a:t>
            </a:r>
          </a:p>
          <a:p>
            <a:r>
              <a:t>[Our scores place the gaps in variety, autonomy and feedback; significance and identity are strengths.]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Change specific characteristics of the job so that the psychological experience of doing that job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proposed role is the Enriched Checkout Cashier.</a:t>
            </a:r>
          </a:p>
          <a:p>
            <a:r>
              <a:t>[Same cashier, same checkout. Still the narrow lane, as it is today.]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redesign has four components: structured micro-rotation, controlled decision authority, checkout-zone ownership, and structured feedback.</a:t>
            </a:r>
          </a:p>
          <a:p>
            <a:r>
              <a:t>It keeps what already works: task identity and task significance.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First, structured micro-rotation, targeting skill variety.</a:t>
            </a:r>
          </a:p>
          <a:p>
            <a:r>
              <a:t>Potential checkout-adjacent activities, subject to training and staffing: queue coordination, basic price-verification coordination, checkout-area availability and merchandising checks, onboarding and shadow support for newer cashiers, and customer checkout guidance where applicable.</a:t>
            </a:r>
          </a:p>
          <a:p>
            <a:r>
              <a:t>The employee remains primarily a cashier.</a:t>
            </a:r>
          </a:p>
          <a:p>
            <a:r>
              <a:t>This is not random movement around the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Second, controlled decision authority, targeting autonomy.</a:t>
            </a:r>
          </a:p>
          <a:p>
            <a:r>
              <a:t>Today a routine customer problem travels from customer, to cashier, to waiting, to supervisor, to decision, back to the cashier and back to the customer.</a:t>
            </a:r>
          </a:p>
          <a:p>
            <a:r>
              <a:t>Under the proposed design, trained cashiers would resolve predefined low-risk routine issues: customer, trained cashier, resolution.</a:t>
            </a:r>
          </a:p>
          <a:p>
            <a:r>
              <a:t>Supervisors retain high-risk matters: significant refunds, discretionary discounts, suspected fraud, security issues, major price disputes and unusual exceptions.</a:t>
            </a:r>
          </a:p>
          <a:p>
            <a:r>
              <a:t>[This is a proposed design principle. Exact permissions would be defined by management.]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Controlled autonomy is not unrestricted autonomy.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moving appropriate decisions closer to the point where the customer problem actually occurs.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Third, checkout-zone ownership.</a:t>
            </a:r>
          </a:p>
          <a:p>
            <a:r>
              <a:t>The cashier can take greater responsibility for queue buildup, recurring POS and pricing issues, checkout-area readiness, customer concerns, and handover communication.</a:t>
            </a:r>
          </a:p>
          <a:p>
            <a:r>
              <a:t>Job enlargement simply adds more tasks.</a:t>
            </a:r>
          </a:p>
          <a:p>
            <a:r>
              <a:t>Job enrichment increases meaningful responsibility and ownership.</a:t>
            </a:r>
          </a:p>
          <a:p>
            <a:r>
              <a:t>The redesign aims for enrichment.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Fourth, structured feedback: short, regular supervisor conversations.</a:t>
            </a:r>
          </a:p>
          <a:p>
            <a:r>
              <a:t>The terminal already tells the cashier whether the transaction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Operational feedback tells you whether the transaction worked. Developmental feedback tells you whether you are growing.</a:t>
            </a:r>
          </a:p>
          <a:p>
            <a:r>
              <a:t>The conversations would cover accuracy, customer service, reliability, improvement, and recognition.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we have proposed so far is a hypothesis.</a:t>
            </a:r>
          </a:p>
          <a:p>
            <a:r>
              <a:t>We have not proven that our redesign works.</a:t>
            </a:r>
          </a:p>
          <a:p>
            <a:r>
              <a:t>So the next step is not to roll it out everywhere.</a:t>
            </a:r>
          </a:p>
          <a:p>
            <a:r>
              <a:t>The next step is to test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propose a six-week pilot at one Karachi branch with approximately 10 to 12 cashiers.</a:t>
            </a:r>
          </a:p>
          <a:p>
            <a:r>
              <a:t>Week 0: baseline.</a:t>
            </a:r>
          </a:p>
          <a:p>
            <a:r>
              <a:t>Weeks 1 to 6: the intervention, with a midpoint check in Week 3.</a:t>
            </a:r>
          </a:p>
          <a:p>
            <a:r>
              <a:t>Week 6: post-measurement.</a:t>
            </a:r>
          </a:p>
          <a:p>
            <a:r>
              <a:t>[This pilot has not been conducted. There are no pilot results.]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would measure employee outcomes: skill variety, autonomy, feedback, internal work motivation and job satisfaction.</a:t>
            </a:r>
          </a:p>
          <a:p>
            <a:r>
              <a:t>And we would monitor operational safeguards: transaction and error rate, cash discrepancies, routine escalations, and checkout complaints.</a:t>
            </a:r>
          </a:p>
          <a:p>
            <a:r>
              <a:t>Both must survive.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redesign is not successful merely because employees like it.</a:t>
            </a:r>
          </a:p>
          <a:p>
            <a:r>
              <a:t>If satisfaction improves while cash discrepancies or errors materially worsen, that is not a successful redesign.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final decision would then be: scale, modify, or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there is one thing we learned from this project, it is that routine work should not automatically be confused with meaningless work.</a:t>
            </a:r>
          </a:p>
          <a:p>
            <a:r>
              <a:t>Our respondents already understand the significance of what they do.</a:t>
            </a:r>
          </a:p>
          <a:p>
            <a:r>
              <a:t>They already see the transaction through from beginning to end.</a:t>
            </a:r>
          </a:p>
          <a:p>
            <a:r>
              <a:t>What they appear to lack is enough variety, appropriate discretion, and developmental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our recommendation is not to completely reinvent the cashier.</a:t>
            </a:r>
          </a:p>
          <a:p>
            <a:r>
              <a:t>It is to redesign the environment around the cashier so that the employee can use more capability without sacrificing the controls the business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 sometimes the difference between a job that someone simply performs…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…and a job that someone actually takes ownership of…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…is not the importance of the work.</a:t>
            </a:r>
          </a:p>
          <a:p>
            <a:r>
              <a:t>It is how the work has been designed.</a:t>
            </a:r>
          </a:p>
          <a:p>
            <a:r>
              <a:t>Not a different job. A better-designed one.</a:t>
            </a:r>
          </a:p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[APPENDIX: backup for viva and Q&amp;A only. Not part of the 7–8 minute presentation.]</a:t>
            </a:r>
          </a:p>
          <a:p>
            <a:r>
              <a:t>If asked about the other relationships: these are exploratory Pearson correlations, n = 25, with no significance testing. They describe associations only, not causation. The one we discuss in the talk is Skill Variety and Job Satisfaction, r = +0.539, presented as r ≈ .54.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12.jpg"/><Relationship Id="rId8" Type="http://schemas.openxmlformats.org/officeDocument/2006/relationships/image" Target="../media/image13.jpg"/><Relationship Id="rId9" Type="http://schemas.openxmlformats.org/officeDocument/2006/relationships/image" Target="../media/image14.jpg"/><Relationship Id="rId10" Type="http://schemas.openxmlformats.org/officeDocument/2006/relationships/image" Target="../media/image15.jpg"/><Relationship Id="rId11" Type="http://schemas.openxmlformats.org/officeDocument/2006/relationships/image" Target="../media/image16.jpg"/><Relationship Id="rId12" Type="http://schemas.openxmlformats.org/officeDocument/2006/relationships/image" Target="../media/image17.jpg"/><Relationship Id="rId13" Type="http://schemas.openxmlformats.org/officeDocument/2006/relationships/image" Target="../media/image18.jpg"/><Relationship Id="rId14" Type="http://schemas.openxmlformats.org/officeDocument/2006/relationships/image" Target="../media/image19.jpg"/><Relationship Id="rId15" Type="http://schemas.openxmlformats.org/officeDocument/2006/relationships/image" Target="../media/image20.jpg"/><Relationship Id="rId16" Type="http://schemas.openxmlformats.org/officeDocument/2006/relationships/image" Target="../media/image21.jpg"/><Relationship Id="rId17" Type="http://schemas.openxmlformats.org/officeDocument/2006/relationships/image" Target="../media/image22.jpg"/><Relationship Id="rId18" Type="http://schemas.openxmlformats.org/officeDocument/2006/relationships/image" Target="../media/image23.jpg"/><Relationship Id="rId19" Type="http://schemas.openxmlformats.org/officeDocument/2006/relationships/image" Target="../media/image24.jpg"/><Relationship Id="rId20" Type="http://schemas.openxmlformats.org/officeDocument/2006/relationships/image" Target="../media/image25.jpg"/><Relationship Id="rId21" Type="http://schemas.openxmlformats.org/officeDocument/2006/relationships/image" Target="../media/image26.jpg"/><Relationship Id="rId22" Type="http://schemas.openxmlformats.org/officeDocument/2006/relationships/image" Target="../media/image27.jpg"/><Relationship Id="rId23" Type="http://schemas.openxmlformats.org/officeDocument/2006/relationships/image" Target="../media/image28.jpg"/><Relationship Id="rId24" Type="http://schemas.openxmlformats.org/officeDocument/2006/relationships/image" Target="../media/image29.jpg"/><Relationship Id="rId25" Type="http://schemas.openxmlformats.org/officeDocument/2006/relationships/image" Target="../media/image30.jpg"/><Relationship Id="rId26" Type="http://schemas.openxmlformats.org/officeDocument/2006/relationships/image" Target="../media/image31.jpg"/><Relationship Id="rId27" Type="http://schemas.openxmlformats.org/officeDocument/2006/relationships/image" Target="../media/image32.jpg"/><Relationship Id="rId2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1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jpg"/><Relationship Id="rId4" Type="http://schemas.openxmlformats.org/officeDocument/2006/relationships/image" Target="../media/image5.jp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jpg"/><Relationship Id="rId4" Type="http://schemas.openxmlformats.org/officeDocument/2006/relationships/image" Target="../media/image5.jp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1.png"/><Relationship Id="rId4" Type="http://schemas.openxmlformats.org/officeDocument/2006/relationships/image" Target="../media/image42.png"/><Relationship Id="rId5" Type="http://schemas.openxmlformats.org/officeDocument/2006/relationships/image" Target="../media/image44.jpg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1.png"/><Relationship Id="rId4" Type="http://schemas.openxmlformats.org/officeDocument/2006/relationships/image" Target="../media/image42.png"/><Relationship Id="rId5" Type="http://schemas.openxmlformats.org/officeDocument/2006/relationships/image" Target="../media/image44.jpg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jpg"/><Relationship Id="rId4" Type="http://schemas.openxmlformats.org/officeDocument/2006/relationships/chart" Target="../charts/char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Relationship Id="rId4" Type="http://schemas.openxmlformats.org/officeDocument/2006/relationships/image" Target="../media/image45.png"/><Relationship Id="rId5" Type="http://schemas.openxmlformats.org/officeDocument/2006/relationships/image" Target="../media/image50.jpg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Relationship Id="rId4" Type="http://schemas.openxmlformats.org/officeDocument/2006/relationships/image" Target="../media/image45.png"/><Relationship Id="rId5" Type="http://schemas.openxmlformats.org/officeDocument/2006/relationships/image" Target="../media/image50.jpg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1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4.jpg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4.jpg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0.jpg"/><Relationship Id="rId5" Type="http://schemas.openxmlformats.org/officeDocument/2006/relationships/image" Target="../media/image53.jpg"/><Relationship Id="rId6" Type="http://schemas.openxmlformats.org/officeDocument/2006/relationships/image" Target="../media/image29.jpg"/><Relationship Id="rId7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image" Target="../media/image1.png"/><Relationship Id="rId4" Type="http://schemas.openxmlformats.org/officeDocument/2006/relationships/image" Target="../media/image55.png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image" Target="../media/image1.png"/><Relationship Id="rId4" Type="http://schemas.openxmlformats.org/officeDocument/2006/relationships/image" Target="../media/image55.png"/><Relationship Id="rId5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image" Target="../media/image57.png"/><Relationship Id="rId7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1.png"/><Relationship Id="rId5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1.png"/><Relationship Id="rId5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1.png"/><Relationship Id="rId5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7.png"/><Relationship Id="rId4" Type="http://schemas.openxmlformats.org/officeDocument/2006/relationships/image" Target="../media/image44.jpg"/><Relationship Id="rId5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7.png"/><Relationship Id="rId4" Type="http://schemas.openxmlformats.org/officeDocument/2006/relationships/image" Target="../media/image44.jpg"/><Relationship Id="rId5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D1243"/>
            </a:gs>
            <a:gs pos="52000">
              <a:srgbClr val="1C0A29"/>
            </a:gs>
            <a:gs pos="100000">
              <a:srgbClr val="0B0610"/>
            </a:gs>
          </a:gsLst>
          <a:path path="circle">
            <a:fillToRect l="50000" t="38000" r="50000" b="62000"/>
          </a:path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Texture: film grain" descr="grain.png"/>
          <p:cNvPicPr>
            <a:picLocks noChangeAspect="1" noSel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hoto A01 (scanner hands, torn edge)" descr="torn_a01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0" y="0"/>
            <a:ext cx="7747000" cy="6858000"/>
          </a:xfrm>
          <a:prstGeom prst="rect">
            <a:avLst/>
          </a:prstGeom>
        </p:spPr>
      </p:pic>
      <p:sp>
        <p:nvSpPr>
          <p:cNvPr id="4" name="Photo shade"/>
          <p:cNvSpPr/>
          <p:nvPr/>
        </p:nvSpPr>
        <p:spPr>
          <a:xfrm>
            <a:off x="4445000" y="0"/>
            <a:ext cx="7747000" cy="6858000"/>
          </a:xfrm>
          <a:prstGeom prst="rect">
            <a:avLst/>
          </a:prstGeom>
          <a:gradFill rotWithShape="1">
            <a:gsLst>
              <a:gs pos="0">
                <a:srgbClr val="1E0B2B">
                  <a:alpha val="85000"/>
                </a:srgbClr>
              </a:gs>
              <a:gs pos="40000">
                <a:srgbClr val="1E0B2B">
                  <a:alpha val="0"/>
                </a:srgbClr>
              </a:gs>
              <a:gs pos="100000">
                <a:srgbClr val="1E0B2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Scanner line"/>
          <p:cNvSpPr/>
          <p:nvPr/>
        </p:nvSpPr>
        <p:spPr>
          <a:xfrm>
            <a:off x="4826000" y="3556000"/>
            <a:ext cx="7366000" cy="38100"/>
          </a:xfrm>
          <a:prstGeom prst="rect">
            <a:avLst/>
          </a:prstGeom>
          <a:solidFill>
            <a:srgbClr val="FF5AA2"/>
          </a:solidFill>
          <a:ln>
            <a:noFill/>
          </a:ln>
          <a:effectLst>
            <a:glow rad="114300">
              <a:srgbClr val="FF2E88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98500" y="952500"/>
            <a:ext cx="5359617" cy="2228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sz="1300" b="0" spc="156">
                <a:solidFill>
                  <a:srgbClr val="C5BEB4"/>
                </a:solidFill>
                <a:latin typeface="JetBrains Mono"/>
                <a:ea typeface="JetBrains Mono"/>
                <a:cs typeface="JetBrains Mono"/>
              </a:rPr>
              <a:t>KSBL · ORGANIZATIONAL BEHAVIOUR · FALL 2026</a:t>
            </a:r>
          </a:p>
        </p:txBody>
      </p:sp>
      <p:sp>
        <p:nvSpPr>
          <p:cNvPr id="7" name="Wordmark"/>
          <p:cNvSpPr txBox="1"/>
          <p:nvPr/>
        </p:nvSpPr>
        <p:spPr>
          <a:xfrm>
            <a:off x="609600" y="1301750"/>
            <a:ext cx="6985000" cy="1905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190"/>
              </a:lnSpc>
            </a:pPr>
            <a:r>
              <a:rPr sz="16500" b="0">
                <a:solidFill>
                  <a:srgbClr val="F4ECDD"/>
                </a:solidFill>
                <a:effectLst>
                  <a:outerShdw blurRad="0" dist="88900" dir="5400000" algn="tl" rotWithShape="0">
                    <a:srgbClr val="000000">
                      <a:alpha val="35000"/>
                    </a:srgbClr>
                  </a:outerShdw>
                </a:effectLst>
                <a:latin typeface="Archivo Display"/>
                <a:ea typeface="Archivo Display"/>
                <a:cs typeface="Archivo Display"/>
              </a:rPr>
              <a:t>CHECK</a:t>
            </a:r>
            <a:r>
              <a:rPr sz="16500" b="0">
                <a:solidFill>
                  <a:srgbClr val="FF2E88"/>
                </a:solidFill>
                <a:effectLst>
                  <a:outerShdw blurRad="0" dist="88900" dir="5400000" algn="tl" rotWithShape="0">
                    <a:srgbClr val="000000">
                      <a:alpha val="35000"/>
                    </a:srgbClr>
                  </a:outerShdw>
                </a:effectLst>
                <a:latin typeface="Archivo Display"/>
                <a:ea typeface="Archivo Display"/>
                <a:cs typeface="Archivo Display"/>
              </a:rPr>
              <a:t>OUT</a:t>
            </a:r>
          </a:p>
        </p:txBody>
      </p:sp>
      <p:sp>
        <p:nvSpPr>
          <p:cNvPr id="8" name="Title"/>
          <p:cNvSpPr txBox="1"/>
          <p:nvPr/>
        </p:nvSpPr>
        <p:spPr>
          <a:xfrm>
            <a:off x="698500" y="3460750"/>
            <a:ext cx="6350000" cy="698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00"/>
              </a:lnSpc>
            </a:pPr>
            <a:r>
              <a:rPr sz="22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REDESIGNING THE CHECKOUT CASHIER ROLE</a:t>
            </a:r>
          </a:p>
        </p:txBody>
      </p:sp>
      <p:sp>
        <p:nvSpPr>
          <p:cNvPr id="9" name="Subtitle"/>
          <p:cNvSpPr txBox="1"/>
          <p:nvPr/>
        </p:nvSpPr>
        <p:spPr>
          <a:xfrm>
            <a:off x="698500" y="4222750"/>
            <a:ext cx="73025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95"/>
              </a:lnSpc>
            </a:pPr>
            <a:r>
              <a:rPr sz="1300" b="0" spc="182">
                <a:solidFill>
                  <a:srgbClr val="D1CABE"/>
                </a:solidFill>
                <a:latin typeface="Archivo Label"/>
                <a:ea typeface="Archivo Label"/>
                <a:cs typeface="Archivo Label"/>
              </a:rPr>
              <a:t>USING THE JOB CHARACTERISTICS MODEL</a:t>
            </a:r>
          </a:p>
          <a:p>
            <a:pPr algn="l">
              <a:lnSpc>
                <a:spcPts val="1495"/>
              </a:lnSpc>
            </a:pPr>
            <a:r>
              <a:rPr sz="1300" b="0" spc="182">
                <a:solidFill>
                  <a:srgbClr val="D1CABE"/>
                </a:solidFill>
                <a:latin typeface="Archivo Label"/>
                <a:ea typeface="Archivo Label"/>
                <a:cs typeface="Archivo Label"/>
              </a:rPr>
              <a:t>CHECKOUT CASHIERS · IMTIAZ STORES · KARACHI</a:t>
            </a:r>
          </a:p>
        </p:txBody>
      </p:sp>
      <p:sp>
        <p:nvSpPr>
          <p:cNvPr id="10" name="TextBox 9"/>
          <p:cNvSpPr txBox="1"/>
          <p:nvPr/>
        </p:nvSpPr>
        <p:spPr>
          <a:xfrm rot="21300000">
            <a:off x="762000" y="4889500"/>
            <a:ext cx="2174248" cy="4663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32"/>
              </a:lnSpc>
            </a:pPr>
            <a:r>
              <a:rPr sz="3400" b="0">
                <a:solidFill>
                  <a:srgbClr val="FFD23F"/>
                </a:solidFill>
                <a:latin typeface="Caveat Brush"/>
                <a:ea typeface="Caveat Brush"/>
                <a:cs typeface="Caveat Brush"/>
              </a:rPr>
              <a:t>a field study</a:t>
            </a:r>
          </a:p>
        </p:txBody>
      </p:sp>
      <p:sp>
        <p:nvSpPr>
          <p:cNvPr id="11" name="Lower third"/>
          <p:cNvSpPr/>
          <p:nvPr/>
        </p:nvSpPr>
        <p:spPr>
          <a:xfrm>
            <a:off x="10208784" y="4064000"/>
            <a:ext cx="1411716" cy="243840"/>
          </a:xfrm>
          <a:prstGeom prst="rect">
            <a:avLst/>
          </a:prstGeom>
          <a:solidFill>
            <a:srgbClr val="0B0610"/>
          </a:solidFill>
          <a:ln>
            <a:noFill/>
          </a:ln>
          <a:effectLst>
            <a:outerShdw blurRad="0" dist="53881" dir="2700000" algn="tl" rotWithShape="0">
              <a:srgbClr val="0B061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tIns="12700" rIns="63500" bIns="12700">
            <a:noAutofit/>
          </a:bodyPr>
          <a:lstStyle/>
          <a:p>
            <a:pPr algn="l">
              <a:lnSpc>
                <a:spcPts val="1375"/>
              </a:lnSpc>
            </a:pPr>
            <a:r>
              <a:rPr sz="1100" b="1" spc="154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PRESENTED BY</a:t>
            </a:r>
          </a:p>
        </p:txBody>
      </p:sp>
      <p:sp>
        <p:nvSpPr>
          <p:cNvPr id="12" name="Lower third"/>
          <p:cNvSpPr/>
          <p:nvPr/>
        </p:nvSpPr>
        <p:spPr>
          <a:xfrm>
            <a:off x="9845675" y="4345940"/>
            <a:ext cx="1774825" cy="274320"/>
          </a:xfrm>
          <a:prstGeom prst="rect">
            <a:avLst/>
          </a:prstGeom>
          <a:solidFill>
            <a:srgbClr val="FFD23F"/>
          </a:solidFill>
          <a:ln>
            <a:noFill/>
          </a:ln>
          <a:effectLst>
            <a:outerShdw blurRad="0" dist="53881" dir="2700000" algn="tl" rotWithShape="0">
              <a:srgbClr val="0B061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tIns="12700" rIns="63500" bIns="12700">
            <a:no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Munhib Alam Khan</a:t>
            </a:r>
          </a:p>
        </p:txBody>
      </p:sp>
      <p:sp>
        <p:nvSpPr>
          <p:cNvPr id="13" name="Lower third"/>
          <p:cNvSpPr/>
          <p:nvPr/>
        </p:nvSpPr>
        <p:spPr>
          <a:xfrm>
            <a:off x="10142736" y="4658360"/>
            <a:ext cx="1477764" cy="274320"/>
          </a:xfrm>
          <a:prstGeom prst="rect">
            <a:avLst/>
          </a:prstGeom>
          <a:solidFill>
            <a:srgbClr val="FFD23F"/>
          </a:solidFill>
          <a:ln>
            <a:noFill/>
          </a:ln>
          <a:effectLst>
            <a:outerShdw blurRad="0" dist="53881" dir="2700000" algn="tl" rotWithShape="0">
              <a:srgbClr val="0B061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tIns="12700" rIns="63500" bIns="12700">
            <a:no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Abdullah Khan</a:t>
            </a:r>
          </a:p>
        </p:txBody>
      </p:sp>
      <p:sp>
        <p:nvSpPr>
          <p:cNvPr id="14" name="Lower third"/>
          <p:cNvSpPr/>
          <p:nvPr/>
        </p:nvSpPr>
        <p:spPr>
          <a:xfrm>
            <a:off x="10439797" y="4970780"/>
            <a:ext cx="1180703" cy="274320"/>
          </a:xfrm>
          <a:prstGeom prst="rect">
            <a:avLst/>
          </a:prstGeom>
          <a:solidFill>
            <a:srgbClr val="FFD23F"/>
          </a:solidFill>
          <a:ln>
            <a:noFill/>
          </a:ln>
          <a:effectLst>
            <a:outerShdw blurRad="0" dist="53881" dir="2700000" algn="tl" rotWithShape="0">
              <a:srgbClr val="0B061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tIns="12700" rIns="63500" bIns="12700">
            <a:no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Rabie Sami</a:t>
            </a:r>
          </a:p>
        </p:txBody>
      </p:sp>
      <p:sp>
        <p:nvSpPr>
          <p:cNvPr id="15" name="Lower third"/>
          <p:cNvSpPr/>
          <p:nvPr/>
        </p:nvSpPr>
        <p:spPr>
          <a:xfrm>
            <a:off x="10340777" y="5283200"/>
            <a:ext cx="1279723" cy="274320"/>
          </a:xfrm>
          <a:prstGeom prst="rect">
            <a:avLst/>
          </a:prstGeom>
          <a:solidFill>
            <a:srgbClr val="FFD23F"/>
          </a:solidFill>
          <a:ln>
            <a:noFill/>
          </a:ln>
          <a:effectLst>
            <a:outerShdw blurRad="0" dist="53881" dir="2700000" algn="tl" rotWithShape="0">
              <a:srgbClr val="0B061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tIns="12700" rIns="63500" bIns="12700">
            <a:no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Karan Kumar</a:t>
            </a:r>
          </a:p>
        </p:txBody>
      </p:sp>
      <p:sp>
        <p:nvSpPr>
          <p:cNvPr id="16" name="Lower third"/>
          <p:cNvSpPr/>
          <p:nvPr/>
        </p:nvSpPr>
        <p:spPr>
          <a:xfrm>
            <a:off x="8347623" y="5595620"/>
            <a:ext cx="3272877" cy="243840"/>
          </a:xfrm>
          <a:prstGeom prst="rect">
            <a:avLst/>
          </a:prstGeom>
          <a:solidFill>
            <a:srgbClr val="0B0610"/>
          </a:solidFill>
          <a:ln>
            <a:noFill/>
          </a:ln>
          <a:effectLst>
            <a:outerShdw blurRad="0" dist="53881" dir="2700000" algn="tl" rotWithShape="0">
              <a:srgbClr val="0B061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tIns="12700" rIns="63500" bIns="12700">
            <a:noAutofit/>
          </a:bodyPr>
          <a:lstStyle/>
          <a:p>
            <a:pPr algn="l">
              <a:lnSpc>
                <a:spcPts val="1375"/>
              </a:lnSpc>
            </a:pPr>
            <a:r>
              <a:rPr sz="1100" b="1" spc="154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INSTRUCTOR · Dr. Faryal Razzaq</a:t>
            </a:r>
          </a:p>
        </p:txBody>
      </p:sp>
      <p:sp>
        <p:nvSpPr>
          <p:cNvPr id="17" name="Imagery disclosure"/>
          <p:cNvSpPr txBox="1"/>
          <p:nvPr/>
        </p:nvSpPr>
        <p:spPr>
          <a:xfrm>
            <a:off x="698500" y="6464300"/>
            <a:ext cx="107950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8B8481"/>
                </a:solidFill>
                <a:latin typeface="JetBrains Mono"/>
                <a:ea typeface="JetBrains Mono"/>
                <a:cs typeface="JetBrains Mono"/>
              </a:rPr>
              <a:t>Photography: AI-generated &amp; illustrative · no real employees or respondents · academic study, not affiliated with Imtiaz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3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 A02 (receipt printer)" descr="a02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hoto d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Shade lef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0610">
                  <a:alpha val="92000"/>
                </a:srgbClr>
              </a:gs>
              <a:gs pos="38000">
                <a:srgbClr val="0B0610">
                  <a:alpha val="70000"/>
                </a:srgbClr>
              </a:gs>
              <a:gs pos="70000">
                <a:srgbClr val="0B0610">
                  <a:alpha val="0"/>
                </a:srgbClr>
              </a:gs>
              <a:gs pos="100000">
                <a:srgbClr val="0B0610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Letterbox top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etterbox bottom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Headline"/>
          <p:cNvSpPr txBox="1"/>
          <p:nvPr/>
        </p:nvSpPr>
        <p:spPr>
          <a:xfrm>
            <a:off x="762000" y="1587500"/>
            <a:ext cx="6350000" cy="33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600"/>
              </a:lnSpc>
            </a:pPr>
            <a:r>
              <a:rPr sz="10000" b="0">
                <a:solidFill>
                  <a:srgbClr val="F4ECDD"/>
                </a:solidFill>
                <a:latin typeface="Archivo Display"/>
                <a:ea typeface="Archivo Display"/>
                <a:cs typeface="Archivo Display"/>
              </a:rPr>
              <a:t>THE LAST</a:t>
            </a:r>
          </a:p>
          <a:p>
            <a:pPr algn="l">
              <a:lnSpc>
                <a:spcPts val="8600"/>
              </a:lnSpc>
            </a:pPr>
            <a:r>
              <a:rPr sz="10000" b="0">
                <a:solidFill>
                  <a:srgbClr val="F4ECDD"/>
                </a:solidFill>
                <a:latin typeface="Archivo Display"/>
                <a:ea typeface="Archivo Display"/>
                <a:cs typeface="Archivo Display"/>
              </a:rPr>
              <a:t>PERSON</a:t>
            </a:r>
          </a:p>
          <a:p>
            <a:pPr algn="l">
              <a:lnSpc>
                <a:spcPts val="8600"/>
              </a:lnSpc>
            </a:pPr>
            <a:r>
              <a:rPr sz="10000" b="0">
                <a:solidFill>
                  <a:srgbClr val="FF2E88"/>
                </a:solidFill>
                <a:latin typeface="Archivo Display"/>
                <a:ea typeface="Archivo Display"/>
                <a:cs typeface="Archivo Display"/>
              </a:rPr>
              <a:t>YOU MEET.</a:t>
            </a:r>
          </a:p>
        </p:txBody>
      </p:sp>
      <p:pic>
        <p:nvPicPr>
          <p:cNvPr id="8" name="Receipt paper" descr="receipt_stri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00" y="762000"/>
            <a:ext cx="4064000" cy="533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18801" y="1219200"/>
            <a:ext cx="977397" cy="2057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500"/>
              </a:lnSpc>
            </a:pPr>
            <a:r>
              <a:rPr sz="1200" b="1" spc="168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CHECKOUT</a:t>
            </a:r>
          </a:p>
        </p:txBody>
      </p:sp>
      <p:sp>
        <p:nvSpPr>
          <p:cNvPr id="10" name="Receipt rule"/>
          <p:cNvSpPr/>
          <p:nvPr/>
        </p:nvSpPr>
        <p:spPr>
          <a:xfrm>
            <a:off x="7620000" y="1498600"/>
            <a:ext cx="3175000" cy="635"/>
          </a:xfrm>
          <a:prstGeom prst="rect">
            <a:avLst/>
          </a:prstGeom>
          <a:noFill/>
          <a:ln w="19050">
            <a:solidFill>
              <a:srgbClr val="0B0610"/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20000" y="1587500"/>
            <a:ext cx="938887" cy="3600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625"/>
              </a:lnSpc>
            </a:pPr>
            <a:r>
              <a:rPr sz="21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MONEY</a:t>
            </a:r>
          </a:p>
        </p:txBody>
      </p:sp>
      <p:sp>
        <p:nvSpPr>
          <p:cNvPr id="12" name="Dot leader"/>
          <p:cNvSpPr/>
          <p:nvPr/>
        </p:nvSpPr>
        <p:spPr>
          <a:xfrm>
            <a:off x="8521799" y="1841500"/>
            <a:ext cx="1866801" cy="635"/>
          </a:xfrm>
          <a:prstGeom prst="rect">
            <a:avLst/>
          </a:prstGeom>
          <a:noFill/>
          <a:ln w="25400">
            <a:solidFill>
              <a:srgbClr val="0B0610">
                <a:alpha val="35000"/>
              </a:srgbClr>
            </a:solidFill>
            <a:prstDash val="sysDot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572801" y="1587500"/>
            <a:ext cx="222199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980"/>
              </a:lnSpc>
            </a:pPr>
            <a:r>
              <a:rPr sz="1800" b="1">
                <a:solidFill>
                  <a:srgbClr val="0B0610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0" y="1962150"/>
            <a:ext cx="1604653" cy="3600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625"/>
              </a:lnSpc>
            </a:pPr>
            <a:r>
              <a:rPr sz="21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DISCOUNTS</a:t>
            </a:r>
          </a:p>
        </p:txBody>
      </p:sp>
      <p:sp>
        <p:nvSpPr>
          <p:cNvPr id="15" name="Dot leader"/>
          <p:cNvSpPr/>
          <p:nvPr/>
        </p:nvSpPr>
        <p:spPr>
          <a:xfrm>
            <a:off x="9161959" y="2216150"/>
            <a:ext cx="1226641" cy="635"/>
          </a:xfrm>
          <a:prstGeom prst="rect">
            <a:avLst/>
          </a:prstGeom>
          <a:noFill/>
          <a:ln w="25400">
            <a:solidFill>
              <a:srgbClr val="0B0610">
                <a:alpha val="35000"/>
              </a:srgbClr>
            </a:solidFill>
            <a:prstDash val="sysDot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572801" y="1962150"/>
            <a:ext cx="222199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980"/>
              </a:lnSpc>
            </a:pPr>
            <a:r>
              <a:rPr sz="1800" b="1">
                <a:solidFill>
                  <a:srgbClr val="0B0610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336800"/>
            <a:ext cx="1438212" cy="3600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625"/>
              </a:lnSpc>
            </a:pPr>
            <a:r>
              <a:rPr sz="21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ACCURACY</a:t>
            </a:r>
          </a:p>
        </p:txBody>
      </p:sp>
      <p:sp>
        <p:nvSpPr>
          <p:cNvPr id="18" name="Dot leader"/>
          <p:cNvSpPr/>
          <p:nvPr/>
        </p:nvSpPr>
        <p:spPr>
          <a:xfrm>
            <a:off x="9001919" y="2590800"/>
            <a:ext cx="1386681" cy="635"/>
          </a:xfrm>
          <a:prstGeom prst="rect">
            <a:avLst/>
          </a:prstGeom>
          <a:noFill/>
          <a:ln w="25400">
            <a:solidFill>
              <a:srgbClr val="0B0610">
                <a:alpha val="35000"/>
              </a:srgbClr>
            </a:solidFill>
            <a:prstDash val="sysDot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572801" y="2336800"/>
            <a:ext cx="222199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980"/>
              </a:lnSpc>
            </a:pPr>
            <a:r>
              <a:rPr sz="1800" b="1">
                <a:solidFill>
                  <a:srgbClr val="0B0610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0" y="2711450"/>
            <a:ext cx="2103977" cy="3600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625"/>
              </a:lnSpc>
            </a:pPr>
            <a:r>
              <a:rPr sz="21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WAITING TIME</a:t>
            </a:r>
          </a:p>
        </p:txBody>
      </p:sp>
      <p:sp>
        <p:nvSpPr>
          <p:cNvPr id="21" name="Dot leader"/>
          <p:cNvSpPr/>
          <p:nvPr/>
        </p:nvSpPr>
        <p:spPr>
          <a:xfrm>
            <a:off x="9642078" y="2965450"/>
            <a:ext cx="746522" cy="635"/>
          </a:xfrm>
          <a:prstGeom prst="rect">
            <a:avLst/>
          </a:prstGeom>
          <a:noFill/>
          <a:ln w="25400">
            <a:solidFill>
              <a:srgbClr val="0B0610">
                <a:alpha val="35000"/>
              </a:srgbClr>
            </a:solidFill>
            <a:prstDash val="sysDot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572801" y="2711450"/>
            <a:ext cx="222199" cy="2743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980"/>
              </a:lnSpc>
            </a:pPr>
            <a:r>
              <a:rPr sz="1800" b="1">
                <a:solidFill>
                  <a:srgbClr val="0B0610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23" name="Total rule"/>
          <p:cNvSpPr/>
          <p:nvPr/>
        </p:nvSpPr>
        <p:spPr>
          <a:xfrm>
            <a:off x="7620000" y="3124200"/>
            <a:ext cx="3175000" cy="635"/>
          </a:xfrm>
          <a:prstGeom prst="rect">
            <a:avLst/>
          </a:prstGeom>
          <a:noFill/>
          <a:ln w="25400">
            <a:solidFill>
              <a:srgbClr val="0B061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620000" y="3187700"/>
            <a:ext cx="2954528" cy="3429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= FINAL IMPRESSION</a:t>
            </a:r>
          </a:p>
        </p:txBody>
      </p:sp>
      <p:sp>
        <p:nvSpPr>
          <p:cNvPr id="25" name="Marker ring"/>
          <p:cNvSpPr/>
          <p:nvPr/>
        </p:nvSpPr>
        <p:spPr>
          <a:xfrm>
            <a:off x="7269386" y="2985582"/>
            <a:ext cx="3840957" cy="727293"/>
          </a:xfrm>
          <a:custGeom>
            <a:avLst/>
            <a:gdLst/>
            <a:ahLst/>
            <a:cxnLst/>
            <a:rect l="l" t="t" r="r" b="b"/>
            <a:pathLst>
              <a:path w="3840957" h="727293">
                <a:moveTo>
                  <a:pt x="3665112" y="219703"/>
                </a:moveTo>
                <a:lnTo>
                  <a:pt x="3840957" y="309700"/>
                </a:lnTo>
                <a:lnTo>
                  <a:pt x="3835202" y="406433"/>
                </a:lnTo>
                <a:lnTo>
                  <a:pt x="3736842" y="501947"/>
                </a:lnTo>
                <a:lnTo>
                  <a:pt x="3416840" y="576939"/>
                </a:lnTo>
                <a:lnTo>
                  <a:pt x="3116720" y="653379"/>
                </a:lnTo>
                <a:lnTo>
                  <a:pt x="2660722" y="691299"/>
                </a:lnTo>
                <a:lnTo>
                  <a:pt x="2197473" y="721381"/>
                </a:lnTo>
                <a:lnTo>
                  <a:pt x="1702657" y="727293"/>
                </a:lnTo>
                <a:lnTo>
                  <a:pt x="1208582" y="708533"/>
                </a:lnTo>
                <a:lnTo>
                  <a:pt x="781795" y="656657"/>
                </a:lnTo>
                <a:lnTo>
                  <a:pt x="437374" y="586887"/>
                </a:lnTo>
                <a:lnTo>
                  <a:pt x="181253" y="504474"/>
                </a:lnTo>
                <a:lnTo>
                  <a:pt x="29497" y="412191"/>
                </a:lnTo>
                <a:lnTo>
                  <a:pt x="0" y="314318"/>
                </a:lnTo>
                <a:lnTo>
                  <a:pt x="185650" y="223418"/>
                </a:lnTo>
                <a:lnTo>
                  <a:pt x="434731" y="141194"/>
                </a:lnTo>
                <a:lnTo>
                  <a:pt x="776378" y="72544"/>
                </a:lnTo>
                <a:lnTo>
                  <a:pt x="1192784" y="20046"/>
                </a:lnTo>
                <a:lnTo>
                  <a:pt x="1680532" y="2825"/>
                </a:lnTo>
                <a:lnTo>
                  <a:pt x="2170000" y="0"/>
                </a:lnTo>
                <a:lnTo>
                  <a:pt x="2666848" y="13583"/>
                </a:lnTo>
                <a:lnTo>
                  <a:pt x="3057880" y="74429"/>
                </a:lnTo>
                <a:lnTo>
                  <a:pt x="3444012" y="134072"/>
                </a:lnTo>
                <a:lnTo>
                  <a:pt x="3690841" y="217600"/>
                </a:lnTo>
                <a:lnTo>
                  <a:pt x="3772045" y="311553"/>
                </a:lnTo>
                <a:lnTo>
                  <a:pt x="3815069" y="405949"/>
                </a:lnTo>
              </a:path>
            </a:pathLst>
          </a:custGeom>
          <a:noFill/>
          <a:ln w="44450" cap="rnd">
            <a:solidFill>
              <a:srgbClr val="FFD23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3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f0" descr="a06.jpg"/>
          <p:cNvPicPr>
            <a:picLocks noChangeAspect="1"/>
          </p:cNvPicPr>
          <p:nvPr/>
        </p:nvPicPr>
        <p:blipFill>
          <a:blip r:embed="rId2"/>
          <a:srcRect l="10625" r="10625"/>
          <a:stretch>
            <a:fillRect/>
          </a:stretch>
        </p:blipFill>
        <p:spPr>
          <a:xfrm rot="21240000">
            <a:off x="952500" y="1587500"/>
            <a:ext cx="2667000" cy="1905000"/>
          </a:xfrm>
          <a:prstGeom prst="rect">
            <a:avLst/>
          </a:prstGeom>
          <a:ln w="101600">
            <a:solidFill>
              <a:srgbClr val="FBF8F1"/>
            </a:solidFill>
            <a:round/>
          </a:ln>
          <a:effectLst>
            <a:outerShdw blurRad="0" dist="144802" dir="3127500" algn="tl" rotWithShape="0">
              <a:srgbClr val="000000">
                <a:alpha val="55000"/>
              </a:srgbClr>
            </a:outerShdw>
          </a:effectLst>
        </p:spPr>
      </p:pic>
      <p:pic>
        <p:nvPicPr>
          <p:cNvPr id="3" name="!!f1" descr="a06.jpg"/>
          <p:cNvPicPr>
            <a:picLocks noChangeAspect="1"/>
          </p:cNvPicPr>
          <p:nvPr/>
        </p:nvPicPr>
        <p:blipFill>
          <a:blip r:embed="rId2"/>
          <a:srcRect l="10625" r="10625"/>
          <a:stretch>
            <a:fillRect/>
          </a:stretch>
        </p:blipFill>
        <p:spPr>
          <a:xfrm rot="180000">
            <a:off x="3556000" y="1905000"/>
            <a:ext cx="2667000" cy="1905000"/>
          </a:xfrm>
          <a:prstGeom prst="rect">
            <a:avLst/>
          </a:prstGeom>
          <a:ln w="101600">
            <a:solidFill>
              <a:srgbClr val="FBF8F1"/>
            </a:solidFill>
            <a:round/>
          </a:ln>
          <a:effectLst>
            <a:outerShdw blurRad="0" dist="144802" dir="3127500" algn="tl" rotWithShape="0">
              <a:srgbClr val="000000">
                <a:alpha val="55000"/>
              </a:srgbClr>
            </a:outerShdw>
          </a:effectLst>
        </p:spPr>
      </p:pic>
      <p:pic>
        <p:nvPicPr>
          <p:cNvPr id="4" name="!!f2" descr="a06.jpg"/>
          <p:cNvPicPr>
            <a:picLocks noChangeAspect="1"/>
          </p:cNvPicPr>
          <p:nvPr/>
        </p:nvPicPr>
        <p:blipFill>
          <a:blip r:embed="rId2"/>
          <a:srcRect l="10625" r="10625"/>
          <a:stretch>
            <a:fillRect/>
          </a:stretch>
        </p:blipFill>
        <p:spPr>
          <a:xfrm rot="21480000">
            <a:off x="6096000" y="1460500"/>
            <a:ext cx="2667000" cy="1905000"/>
          </a:xfrm>
          <a:prstGeom prst="rect">
            <a:avLst/>
          </a:prstGeom>
          <a:ln w="101600">
            <a:solidFill>
              <a:srgbClr val="FBF8F1"/>
            </a:solidFill>
            <a:round/>
          </a:ln>
          <a:effectLst>
            <a:outerShdw blurRad="0" dist="144802" dir="3127500" algn="tl" rotWithShape="0">
              <a:srgbClr val="000000">
                <a:alpha val="55000"/>
              </a:srgbClr>
            </a:outerShdw>
          </a:effectLst>
        </p:spPr>
      </p:pic>
      <p:pic>
        <p:nvPicPr>
          <p:cNvPr id="5" name="!!f3" descr="a06.jpg"/>
          <p:cNvPicPr>
            <a:picLocks noChangeAspect="1"/>
          </p:cNvPicPr>
          <p:nvPr/>
        </p:nvPicPr>
        <p:blipFill>
          <a:blip r:embed="rId2"/>
          <a:srcRect l="10625" r="10625"/>
          <a:stretch>
            <a:fillRect/>
          </a:stretch>
        </p:blipFill>
        <p:spPr>
          <a:xfrm rot="300000">
            <a:off x="8699500" y="1841500"/>
            <a:ext cx="2667000" cy="1905000"/>
          </a:xfrm>
          <a:prstGeom prst="rect">
            <a:avLst/>
          </a:prstGeom>
          <a:ln w="101600">
            <a:solidFill>
              <a:srgbClr val="FBF8F1"/>
            </a:solidFill>
            <a:round/>
          </a:ln>
          <a:effectLst>
            <a:outerShdw blurRad="0" dist="144802" dir="3127500" algn="tl" rotWithShape="0">
              <a:srgbClr val="000000">
                <a:alpha val="55000"/>
              </a:srgbClr>
            </a:outerShdw>
          </a:effectLst>
        </p:spPr>
      </p:pic>
      <p:sp>
        <p:nvSpPr>
          <p:cNvPr id="6" name="!!word"/>
          <p:cNvSpPr/>
          <p:nvPr/>
        </p:nvSpPr>
        <p:spPr>
          <a:xfrm>
            <a:off x="3055799" y="2286000"/>
            <a:ext cx="6080403" cy="2053590"/>
          </a:xfrm>
          <a:prstGeom prst="rect">
            <a:avLst/>
          </a:prstGeom>
          <a:solidFill>
            <a:srgbClr val="FF2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125730" rIns="0" bIns="0">
            <a:noAutofit/>
          </a:bodyPr>
          <a:lstStyle/>
          <a:p>
            <a:pPr algn="ctr">
              <a:lnSpc>
                <a:spcPts val="14190"/>
              </a:lnSpc>
            </a:pPr>
            <a:r>
              <a:rPr sz="16500" b="0">
                <a:solidFill>
                  <a:srgbClr val="0B0610"/>
                </a:solidFill>
                <a:latin typeface="Archivo Display"/>
                <a:ea typeface="Archivo Display"/>
                <a:cs typeface="Archivo Display"/>
              </a:rPr>
              <a:t>AGAIN.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3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Receipt wall (repetition)" descr="receipt_w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word"/>
          <p:cNvSpPr/>
          <p:nvPr/>
        </p:nvSpPr>
        <p:spPr>
          <a:xfrm>
            <a:off x="1538288" y="2095500"/>
            <a:ext cx="9115425" cy="2921000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95250" rIns="0" bIns="0">
            <a:noAutofit/>
          </a:bodyPr>
          <a:lstStyle/>
          <a:p>
            <a:pPr algn="ctr">
              <a:lnSpc>
                <a:spcPts val="10750"/>
              </a:lnSpc>
            </a:pPr>
            <a:r>
              <a:rPr sz="12500" b="0">
                <a:solidFill>
                  <a:srgbClr val="0B0610"/>
                </a:solidFill>
                <a:latin typeface="Archivo Display"/>
                <a:ea typeface="Archivo Display"/>
                <a:cs typeface="Archivo Display"/>
              </a:rPr>
              <a:t>FOR AN ENTIRE</a:t>
            </a:r>
          </a:p>
          <a:p>
            <a:pPr algn="ctr">
              <a:lnSpc>
                <a:spcPts val="10750"/>
              </a:lnSpc>
            </a:pPr>
            <a:r>
              <a:rPr sz="12500" b="0">
                <a:solidFill>
                  <a:srgbClr val="0B0610"/>
                </a:solidFill>
                <a:latin typeface="Archivo Display"/>
                <a:ea typeface="Archivo Display"/>
                <a:cs typeface="Archivo Display"/>
              </a:rPr>
              <a:t>SHIFT.</a:t>
            </a:r>
          </a:p>
        </p:txBody>
      </p:sp>
      <p:sp>
        <p:nvSpPr>
          <p:cNvPr id="4" name="Tally"/>
          <p:cNvSpPr/>
          <p:nvPr/>
        </p:nvSpPr>
        <p:spPr>
          <a:xfrm>
            <a:off x="1905000" y="5461000"/>
            <a:ext cx="30137" cy="762000"/>
          </a:xfrm>
          <a:custGeom>
            <a:avLst/>
            <a:gdLst/>
            <a:ahLst/>
            <a:cxnLst/>
            <a:rect l="l" t="t" r="r" b="b"/>
            <a:pathLst>
              <a:path w="30137" h="762000">
                <a:moveTo>
                  <a:pt x="0" y="0"/>
                </a:moveTo>
                <a:lnTo>
                  <a:pt x="11538" y="94971"/>
                </a:lnTo>
                <a:lnTo>
                  <a:pt x="10498" y="190362"/>
                </a:lnTo>
                <a:lnTo>
                  <a:pt x="9390" y="285754"/>
                </a:lnTo>
                <a:lnTo>
                  <a:pt x="6199" y="381217"/>
                </a:lnTo>
                <a:lnTo>
                  <a:pt x="30137" y="475775"/>
                </a:lnTo>
                <a:lnTo>
                  <a:pt x="23190" y="571362"/>
                </a:lnTo>
                <a:lnTo>
                  <a:pt x="13506" y="667041"/>
                </a:lnTo>
                <a:lnTo>
                  <a:pt x="25400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ally"/>
          <p:cNvSpPr/>
          <p:nvPr/>
        </p:nvSpPr>
        <p:spPr>
          <a:xfrm>
            <a:off x="2095500" y="5461000"/>
            <a:ext cx="30137" cy="762000"/>
          </a:xfrm>
          <a:custGeom>
            <a:avLst/>
            <a:gdLst/>
            <a:ahLst/>
            <a:cxnLst/>
            <a:rect l="l" t="t" r="r" b="b"/>
            <a:pathLst>
              <a:path w="30137" h="762000">
                <a:moveTo>
                  <a:pt x="0" y="0"/>
                </a:moveTo>
                <a:lnTo>
                  <a:pt x="11538" y="94971"/>
                </a:lnTo>
                <a:lnTo>
                  <a:pt x="10498" y="190362"/>
                </a:lnTo>
                <a:lnTo>
                  <a:pt x="9390" y="285754"/>
                </a:lnTo>
                <a:lnTo>
                  <a:pt x="6199" y="381217"/>
                </a:lnTo>
                <a:lnTo>
                  <a:pt x="30137" y="475775"/>
                </a:lnTo>
                <a:lnTo>
                  <a:pt x="23190" y="571362"/>
                </a:lnTo>
                <a:lnTo>
                  <a:pt x="13506" y="667041"/>
                </a:lnTo>
                <a:lnTo>
                  <a:pt x="25400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lly"/>
          <p:cNvSpPr/>
          <p:nvPr/>
        </p:nvSpPr>
        <p:spPr>
          <a:xfrm>
            <a:off x="2286000" y="5461000"/>
            <a:ext cx="31561" cy="762000"/>
          </a:xfrm>
          <a:custGeom>
            <a:avLst/>
            <a:gdLst/>
            <a:ahLst/>
            <a:cxnLst/>
            <a:rect l="l" t="t" r="r" b="b"/>
            <a:pathLst>
              <a:path w="31561" h="762000">
                <a:moveTo>
                  <a:pt x="0" y="0"/>
                </a:moveTo>
                <a:lnTo>
                  <a:pt x="11526" y="94972"/>
                </a:lnTo>
                <a:lnTo>
                  <a:pt x="7620" y="190458"/>
                </a:lnTo>
                <a:lnTo>
                  <a:pt x="19395" y="285421"/>
                </a:lnTo>
                <a:lnTo>
                  <a:pt x="5024" y="381256"/>
                </a:lnTo>
                <a:lnTo>
                  <a:pt x="8989" y="476480"/>
                </a:lnTo>
                <a:lnTo>
                  <a:pt x="31196" y="571095"/>
                </a:lnTo>
                <a:lnTo>
                  <a:pt x="31561" y="666439"/>
                </a:lnTo>
                <a:lnTo>
                  <a:pt x="25400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ally"/>
          <p:cNvSpPr/>
          <p:nvPr/>
        </p:nvSpPr>
        <p:spPr>
          <a:xfrm>
            <a:off x="2474168" y="5461000"/>
            <a:ext cx="27732" cy="762000"/>
          </a:xfrm>
          <a:custGeom>
            <a:avLst/>
            <a:gdLst/>
            <a:ahLst/>
            <a:cxnLst/>
            <a:rect l="l" t="t" r="r" b="b"/>
            <a:pathLst>
              <a:path w="27732" h="762000">
                <a:moveTo>
                  <a:pt x="2332" y="0"/>
                </a:moveTo>
                <a:lnTo>
                  <a:pt x="13845" y="94972"/>
                </a:lnTo>
                <a:lnTo>
                  <a:pt x="7074" y="190554"/>
                </a:lnTo>
                <a:lnTo>
                  <a:pt x="0" y="286145"/>
                </a:lnTo>
                <a:lnTo>
                  <a:pt x="6181" y="381295"/>
                </a:lnTo>
                <a:lnTo>
                  <a:pt x="21905" y="476127"/>
                </a:lnTo>
                <a:lnTo>
                  <a:pt x="9802" y="571886"/>
                </a:lnTo>
                <a:lnTo>
                  <a:pt x="20215" y="666895"/>
                </a:lnTo>
                <a:lnTo>
                  <a:pt x="27732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ally"/>
          <p:cNvSpPr/>
          <p:nvPr/>
        </p:nvSpPr>
        <p:spPr>
          <a:xfrm>
            <a:off x="1803400" y="5575300"/>
            <a:ext cx="863600" cy="520700"/>
          </a:xfrm>
          <a:custGeom>
            <a:avLst/>
            <a:gdLst/>
            <a:ahLst/>
            <a:cxnLst/>
            <a:rect l="l" t="t" r="r" b="b"/>
            <a:pathLst>
              <a:path w="863600" h="520700">
                <a:moveTo>
                  <a:pt x="0" y="520700"/>
                </a:moveTo>
                <a:lnTo>
                  <a:pt x="104524" y="449930"/>
                </a:lnTo>
                <a:lnTo>
                  <a:pt x="221323" y="399519"/>
                </a:lnTo>
                <a:lnTo>
                  <a:pt x="325325" y="327884"/>
                </a:lnTo>
                <a:lnTo>
                  <a:pt x="437400" y="269638"/>
                </a:lnTo>
                <a:lnTo>
                  <a:pt x="533840" y="185460"/>
                </a:lnTo>
                <a:lnTo>
                  <a:pt x="652366" y="137914"/>
                </a:lnTo>
                <a:lnTo>
                  <a:pt x="753827" y="62064"/>
                </a:lnTo>
                <a:lnTo>
                  <a:pt x="863600" y="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ally"/>
          <p:cNvSpPr/>
          <p:nvPr/>
        </p:nvSpPr>
        <p:spPr>
          <a:xfrm>
            <a:off x="3105733" y="5461000"/>
            <a:ext cx="36780" cy="762000"/>
          </a:xfrm>
          <a:custGeom>
            <a:avLst/>
            <a:gdLst/>
            <a:ahLst/>
            <a:cxnLst/>
            <a:rect l="l" t="t" r="r" b="b"/>
            <a:pathLst>
              <a:path w="36780" h="762000">
                <a:moveTo>
                  <a:pt x="5767" y="0"/>
                </a:moveTo>
                <a:lnTo>
                  <a:pt x="17207" y="94975"/>
                </a:lnTo>
                <a:lnTo>
                  <a:pt x="24972" y="190072"/>
                </a:lnTo>
                <a:lnTo>
                  <a:pt x="0" y="286260"/>
                </a:lnTo>
                <a:lnTo>
                  <a:pt x="34301" y="380472"/>
                </a:lnTo>
                <a:lnTo>
                  <a:pt x="25378" y="476125"/>
                </a:lnTo>
                <a:lnTo>
                  <a:pt x="29539" y="571343"/>
                </a:lnTo>
                <a:lnTo>
                  <a:pt x="36780" y="666457"/>
                </a:lnTo>
                <a:lnTo>
                  <a:pt x="31167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lly"/>
          <p:cNvSpPr/>
          <p:nvPr/>
        </p:nvSpPr>
        <p:spPr>
          <a:xfrm>
            <a:off x="3302000" y="5461000"/>
            <a:ext cx="31777" cy="762000"/>
          </a:xfrm>
          <a:custGeom>
            <a:avLst/>
            <a:gdLst/>
            <a:ahLst/>
            <a:cxnLst/>
            <a:rect l="l" t="t" r="r" b="b"/>
            <a:pathLst>
              <a:path w="31777" h="762000">
                <a:moveTo>
                  <a:pt x="0" y="0"/>
                </a:moveTo>
                <a:lnTo>
                  <a:pt x="11427" y="94975"/>
                </a:lnTo>
                <a:lnTo>
                  <a:pt x="16327" y="190167"/>
                </a:lnTo>
                <a:lnTo>
                  <a:pt x="4238" y="285926"/>
                </a:lnTo>
                <a:lnTo>
                  <a:pt x="27359" y="380511"/>
                </a:lnTo>
                <a:lnTo>
                  <a:pt x="30195" y="475773"/>
                </a:lnTo>
                <a:lnTo>
                  <a:pt x="31777" y="571076"/>
                </a:lnTo>
                <a:lnTo>
                  <a:pt x="17335" y="666913"/>
                </a:lnTo>
                <a:lnTo>
                  <a:pt x="25400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ally"/>
          <p:cNvSpPr/>
          <p:nvPr/>
        </p:nvSpPr>
        <p:spPr>
          <a:xfrm>
            <a:off x="3492500" y="5461000"/>
            <a:ext cx="35390" cy="762000"/>
          </a:xfrm>
          <a:custGeom>
            <a:avLst/>
            <a:gdLst/>
            <a:ahLst/>
            <a:cxnLst/>
            <a:rect l="l" t="t" r="r" b="b"/>
            <a:pathLst>
              <a:path w="35390" h="762000">
                <a:moveTo>
                  <a:pt x="0" y="0"/>
                </a:moveTo>
                <a:lnTo>
                  <a:pt x="11415" y="94975"/>
                </a:lnTo>
                <a:lnTo>
                  <a:pt x="13448" y="190263"/>
                </a:lnTo>
                <a:lnTo>
                  <a:pt x="14243" y="285593"/>
                </a:lnTo>
                <a:lnTo>
                  <a:pt x="26185" y="380551"/>
                </a:lnTo>
                <a:lnTo>
                  <a:pt x="9046" y="476478"/>
                </a:lnTo>
                <a:lnTo>
                  <a:pt x="8051" y="571867"/>
                </a:lnTo>
                <a:lnTo>
                  <a:pt x="35390" y="666311"/>
                </a:lnTo>
                <a:lnTo>
                  <a:pt x="25400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ally"/>
          <p:cNvSpPr/>
          <p:nvPr/>
        </p:nvSpPr>
        <p:spPr>
          <a:xfrm>
            <a:off x="3683000" y="5461000"/>
            <a:ext cx="25400" cy="762000"/>
          </a:xfrm>
          <a:custGeom>
            <a:avLst/>
            <a:gdLst/>
            <a:ahLst/>
            <a:cxnLst/>
            <a:rect l="l" t="t" r="r" b="b"/>
            <a:pathLst>
              <a:path w="25400" h="762000">
                <a:moveTo>
                  <a:pt x="0" y="0"/>
                </a:moveTo>
                <a:lnTo>
                  <a:pt x="11403" y="94976"/>
                </a:lnTo>
                <a:lnTo>
                  <a:pt x="10570" y="190359"/>
                </a:lnTo>
                <a:lnTo>
                  <a:pt x="24248" y="285259"/>
                </a:lnTo>
                <a:lnTo>
                  <a:pt x="25010" y="380590"/>
                </a:lnTo>
                <a:lnTo>
                  <a:pt x="19630" y="476125"/>
                </a:lnTo>
                <a:lnTo>
                  <a:pt x="16056" y="571600"/>
                </a:lnTo>
                <a:lnTo>
                  <a:pt x="21712" y="666767"/>
                </a:lnTo>
                <a:lnTo>
                  <a:pt x="25400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lly"/>
          <p:cNvSpPr/>
          <p:nvPr/>
        </p:nvSpPr>
        <p:spPr>
          <a:xfrm>
            <a:off x="3009900" y="5575300"/>
            <a:ext cx="863600" cy="520700"/>
          </a:xfrm>
          <a:custGeom>
            <a:avLst/>
            <a:gdLst/>
            <a:ahLst/>
            <a:cxnLst/>
            <a:rect l="l" t="t" r="r" b="b"/>
            <a:pathLst>
              <a:path w="863600" h="520700">
                <a:moveTo>
                  <a:pt x="0" y="520700"/>
                </a:moveTo>
                <a:lnTo>
                  <a:pt x="104570" y="450006"/>
                </a:lnTo>
                <a:lnTo>
                  <a:pt x="218914" y="395524"/>
                </a:lnTo>
                <a:lnTo>
                  <a:pt x="327455" y="331416"/>
                </a:lnTo>
                <a:lnTo>
                  <a:pt x="428654" y="255132"/>
                </a:lnTo>
                <a:lnTo>
                  <a:pt x="533816" y="185421"/>
                </a:lnTo>
                <a:lnTo>
                  <a:pt x="648817" y="132028"/>
                </a:lnTo>
                <a:lnTo>
                  <a:pt x="752244" y="59439"/>
                </a:lnTo>
                <a:lnTo>
                  <a:pt x="863600" y="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ally"/>
          <p:cNvSpPr/>
          <p:nvPr/>
        </p:nvSpPr>
        <p:spPr>
          <a:xfrm>
            <a:off x="4311301" y="5461000"/>
            <a:ext cx="41541" cy="762000"/>
          </a:xfrm>
          <a:custGeom>
            <a:avLst/>
            <a:gdLst/>
            <a:ahLst/>
            <a:cxnLst/>
            <a:rect l="l" t="t" r="r" b="b"/>
            <a:pathLst>
              <a:path w="41541" h="762000">
                <a:moveTo>
                  <a:pt x="6699" y="0"/>
                </a:moveTo>
                <a:lnTo>
                  <a:pt x="18028" y="94978"/>
                </a:lnTo>
                <a:lnTo>
                  <a:pt x="0" y="190935"/>
                </a:lnTo>
                <a:lnTo>
                  <a:pt x="27512" y="285374"/>
                </a:lnTo>
                <a:lnTo>
                  <a:pt x="24661" y="380825"/>
                </a:lnTo>
                <a:lnTo>
                  <a:pt x="26367" y="476124"/>
                </a:lnTo>
                <a:lnTo>
                  <a:pt x="39057" y="571056"/>
                </a:lnTo>
                <a:lnTo>
                  <a:pt x="41541" y="666329"/>
                </a:lnTo>
                <a:lnTo>
                  <a:pt x="32099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ally"/>
          <p:cNvSpPr/>
          <p:nvPr/>
        </p:nvSpPr>
        <p:spPr>
          <a:xfrm>
            <a:off x="4507585" y="5461000"/>
            <a:ext cx="31167" cy="762000"/>
          </a:xfrm>
          <a:custGeom>
            <a:avLst/>
            <a:gdLst/>
            <a:ahLst/>
            <a:cxnLst/>
            <a:rect l="l" t="t" r="r" b="b"/>
            <a:pathLst>
              <a:path w="31167" h="762000">
                <a:moveTo>
                  <a:pt x="915" y="0"/>
                </a:moveTo>
                <a:lnTo>
                  <a:pt x="12232" y="94979"/>
                </a:lnTo>
                <a:lnTo>
                  <a:pt x="23070" y="189973"/>
                </a:lnTo>
                <a:lnTo>
                  <a:pt x="0" y="286098"/>
                </a:lnTo>
                <a:lnTo>
                  <a:pt x="17703" y="380864"/>
                </a:lnTo>
                <a:lnTo>
                  <a:pt x="31167" y="475771"/>
                </a:lnTo>
                <a:lnTo>
                  <a:pt x="9547" y="571847"/>
                </a:lnTo>
                <a:lnTo>
                  <a:pt x="22079" y="666785"/>
                </a:lnTo>
                <a:lnTo>
                  <a:pt x="26315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ally"/>
          <p:cNvSpPr/>
          <p:nvPr/>
        </p:nvSpPr>
        <p:spPr>
          <a:xfrm>
            <a:off x="4699000" y="5461000"/>
            <a:ext cx="25400" cy="762000"/>
          </a:xfrm>
          <a:custGeom>
            <a:avLst/>
            <a:gdLst/>
            <a:ahLst/>
            <a:cxnLst/>
            <a:rect l="l" t="t" r="r" b="b"/>
            <a:pathLst>
              <a:path w="25400" h="762000">
                <a:moveTo>
                  <a:pt x="0" y="0"/>
                </a:moveTo>
                <a:lnTo>
                  <a:pt x="11304" y="94979"/>
                </a:lnTo>
                <a:lnTo>
                  <a:pt x="19276" y="190069"/>
                </a:lnTo>
                <a:lnTo>
                  <a:pt x="9090" y="285764"/>
                </a:lnTo>
                <a:lnTo>
                  <a:pt x="15613" y="380903"/>
                </a:lnTo>
                <a:lnTo>
                  <a:pt x="9103" y="476476"/>
                </a:lnTo>
                <a:lnTo>
                  <a:pt x="16638" y="571580"/>
                </a:lnTo>
                <a:lnTo>
                  <a:pt x="7486" y="667241"/>
                </a:lnTo>
                <a:lnTo>
                  <a:pt x="25400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ally"/>
          <p:cNvSpPr/>
          <p:nvPr/>
        </p:nvSpPr>
        <p:spPr>
          <a:xfrm>
            <a:off x="4889500" y="5461000"/>
            <a:ext cx="25541" cy="762000"/>
          </a:xfrm>
          <a:custGeom>
            <a:avLst/>
            <a:gdLst/>
            <a:ahLst/>
            <a:cxnLst/>
            <a:rect l="l" t="t" r="r" b="b"/>
            <a:pathLst>
              <a:path w="25541" h="762000">
                <a:moveTo>
                  <a:pt x="0" y="0"/>
                </a:moveTo>
                <a:lnTo>
                  <a:pt x="11292" y="94979"/>
                </a:lnTo>
                <a:lnTo>
                  <a:pt x="16398" y="190165"/>
                </a:lnTo>
                <a:lnTo>
                  <a:pt x="19095" y="285431"/>
                </a:lnTo>
                <a:lnTo>
                  <a:pt x="14439" y="380942"/>
                </a:lnTo>
                <a:lnTo>
                  <a:pt x="19687" y="476123"/>
                </a:lnTo>
                <a:lnTo>
                  <a:pt x="24643" y="571314"/>
                </a:lnTo>
                <a:lnTo>
                  <a:pt x="25541" y="666639"/>
                </a:lnTo>
                <a:lnTo>
                  <a:pt x="25400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ally"/>
          <p:cNvSpPr/>
          <p:nvPr/>
        </p:nvSpPr>
        <p:spPr>
          <a:xfrm>
            <a:off x="4216400" y="5575300"/>
            <a:ext cx="863600" cy="520700"/>
          </a:xfrm>
          <a:custGeom>
            <a:avLst/>
            <a:gdLst/>
            <a:ahLst/>
            <a:cxnLst/>
            <a:rect l="l" t="t" r="r" b="b"/>
            <a:pathLst>
              <a:path w="863600" h="520700">
                <a:moveTo>
                  <a:pt x="0" y="520700"/>
                </a:moveTo>
                <a:lnTo>
                  <a:pt x="104616" y="450082"/>
                </a:lnTo>
                <a:lnTo>
                  <a:pt x="216505" y="391529"/>
                </a:lnTo>
                <a:lnTo>
                  <a:pt x="329584" y="334948"/>
                </a:lnTo>
                <a:lnTo>
                  <a:pt x="433023" y="262379"/>
                </a:lnTo>
                <a:lnTo>
                  <a:pt x="533792" y="185381"/>
                </a:lnTo>
                <a:lnTo>
                  <a:pt x="645268" y="126142"/>
                </a:lnTo>
                <a:lnTo>
                  <a:pt x="750662" y="56814"/>
                </a:lnTo>
                <a:lnTo>
                  <a:pt x="863600" y="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lly"/>
          <p:cNvSpPr/>
          <p:nvPr/>
        </p:nvSpPr>
        <p:spPr>
          <a:xfrm>
            <a:off x="5523629" y="5461000"/>
            <a:ext cx="26271" cy="762000"/>
          </a:xfrm>
          <a:custGeom>
            <a:avLst/>
            <a:gdLst/>
            <a:ahLst/>
            <a:cxnLst/>
            <a:rect l="l" t="t" r="r" b="b"/>
            <a:pathLst>
              <a:path w="26271" h="762000">
                <a:moveTo>
                  <a:pt x="871" y="0"/>
                </a:moveTo>
                <a:lnTo>
                  <a:pt x="12089" y="94982"/>
                </a:lnTo>
                <a:lnTo>
                  <a:pt x="0" y="190741"/>
                </a:lnTo>
                <a:lnTo>
                  <a:pt x="16531" y="285545"/>
                </a:lnTo>
                <a:lnTo>
                  <a:pt x="8262" y="381177"/>
                </a:lnTo>
                <a:lnTo>
                  <a:pt x="20596" y="476122"/>
                </a:lnTo>
                <a:lnTo>
                  <a:pt x="10084" y="571828"/>
                </a:lnTo>
                <a:lnTo>
                  <a:pt x="7810" y="667260"/>
                </a:lnTo>
                <a:lnTo>
                  <a:pt x="26271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lly"/>
          <p:cNvSpPr/>
          <p:nvPr/>
        </p:nvSpPr>
        <p:spPr>
          <a:xfrm>
            <a:off x="5708933" y="5461000"/>
            <a:ext cx="36376" cy="762000"/>
          </a:xfrm>
          <a:custGeom>
            <a:avLst/>
            <a:gdLst/>
            <a:ahLst/>
            <a:cxnLst/>
            <a:rect l="l" t="t" r="r" b="b"/>
            <a:pathLst>
              <a:path w="36376" h="762000">
                <a:moveTo>
                  <a:pt x="6067" y="0"/>
                </a:moveTo>
                <a:lnTo>
                  <a:pt x="17273" y="94982"/>
                </a:lnTo>
                <a:lnTo>
                  <a:pt x="2317" y="190837"/>
                </a:lnTo>
                <a:lnTo>
                  <a:pt x="0" y="286270"/>
                </a:lnTo>
                <a:lnTo>
                  <a:pt x="12283" y="381216"/>
                </a:lnTo>
                <a:lnTo>
                  <a:pt x="36376" y="475769"/>
                </a:lnTo>
                <a:lnTo>
                  <a:pt x="23286" y="571561"/>
                </a:lnTo>
                <a:lnTo>
                  <a:pt x="31060" y="666658"/>
                </a:lnTo>
                <a:lnTo>
                  <a:pt x="31467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ally"/>
          <p:cNvSpPr/>
          <p:nvPr/>
        </p:nvSpPr>
        <p:spPr>
          <a:xfrm>
            <a:off x="5898872" y="5461000"/>
            <a:ext cx="32028" cy="762000"/>
          </a:xfrm>
          <a:custGeom>
            <a:avLst/>
            <a:gdLst/>
            <a:ahLst/>
            <a:cxnLst/>
            <a:rect l="l" t="t" r="r" b="b"/>
            <a:pathLst>
              <a:path w="32028" h="762000">
                <a:moveTo>
                  <a:pt x="6628" y="0"/>
                </a:moveTo>
                <a:lnTo>
                  <a:pt x="17822" y="94983"/>
                </a:lnTo>
                <a:lnTo>
                  <a:pt x="0" y="190933"/>
                </a:lnTo>
                <a:lnTo>
                  <a:pt x="10566" y="285936"/>
                </a:lnTo>
                <a:lnTo>
                  <a:pt x="11670" y="381255"/>
                </a:lnTo>
                <a:lnTo>
                  <a:pt x="15788" y="476474"/>
                </a:lnTo>
                <a:lnTo>
                  <a:pt x="31852" y="571294"/>
                </a:lnTo>
                <a:lnTo>
                  <a:pt x="17943" y="667114"/>
                </a:lnTo>
                <a:lnTo>
                  <a:pt x="32028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ally"/>
          <p:cNvSpPr/>
          <p:nvPr/>
        </p:nvSpPr>
        <p:spPr>
          <a:xfrm>
            <a:off x="6086494" y="5461000"/>
            <a:ext cx="42736" cy="762000"/>
          </a:xfrm>
          <a:custGeom>
            <a:avLst/>
            <a:gdLst/>
            <a:ahLst/>
            <a:cxnLst/>
            <a:rect l="l" t="t" r="r" b="b"/>
            <a:pathLst>
              <a:path w="42736" h="762000">
                <a:moveTo>
                  <a:pt x="9506" y="0"/>
                </a:moveTo>
                <a:lnTo>
                  <a:pt x="20687" y="94983"/>
                </a:lnTo>
                <a:lnTo>
                  <a:pt x="0" y="191029"/>
                </a:lnTo>
                <a:lnTo>
                  <a:pt x="23449" y="285603"/>
                </a:lnTo>
                <a:lnTo>
                  <a:pt x="13373" y="381294"/>
                </a:lnTo>
                <a:lnTo>
                  <a:pt x="29250" y="476121"/>
                </a:lnTo>
                <a:lnTo>
                  <a:pt x="42736" y="571027"/>
                </a:lnTo>
                <a:lnTo>
                  <a:pt x="38876" y="666512"/>
                </a:lnTo>
                <a:lnTo>
                  <a:pt x="34906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ally"/>
          <p:cNvSpPr/>
          <p:nvPr/>
        </p:nvSpPr>
        <p:spPr>
          <a:xfrm>
            <a:off x="5422900" y="5575300"/>
            <a:ext cx="863600" cy="520700"/>
          </a:xfrm>
          <a:custGeom>
            <a:avLst/>
            <a:gdLst/>
            <a:ahLst/>
            <a:cxnLst/>
            <a:rect l="l" t="t" r="r" b="b"/>
            <a:pathLst>
              <a:path w="863600" h="520700">
                <a:moveTo>
                  <a:pt x="0" y="520700"/>
                </a:moveTo>
                <a:lnTo>
                  <a:pt x="104661" y="450158"/>
                </a:lnTo>
                <a:lnTo>
                  <a:pt x="214097" y="387534"/>
                </a:lnTo>
                <a:lnTo>
                  <a:pt x="318599" y="316728"/>
                </a:lnTo>
                <a:lnTo>
                  <a:pt x="437393" y="269626"/>
                </a:lnTo>
                <a:lnTo>
                  <a:pt x="533769" y="185342"/>
                </a:lnTo>
                <a:lnTo>
                  <a:pt x="641719" y="120256"/>
                </a:lnTo>
                <a:lnTo>
                  <a:pt x="762194" y="75941"/>
                </a:lnTo>
                <a:lnTo>
                  <a:pt x="863600" y="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ally"/>
          <p:cNvSpPr/>
          <p:nvPr/>
        </p:nvSpPr>
        <p:spPr>
          <a:xfrm>
            <a:off x="6731000" y="5461000"/>
            <a:ext cx="28552" cy="762000"/>
          </a:xfrm>
          <a:custGeom>
            <a:avLst/>
            <a:gdLst/>
            <a:ahLst/>
            <a:cxnLst/>
            <a:rect l="l" t="t" r="r" b="b"/>
            <a:pathLst>
              <a:path w="28552" h="762000">
                <a:moveTo>
                  <a:pt x="0" y="0"/>
                </a:moveTo>
                <a:lnTo>
                  <a:pt x="11107" y="94986"/>
                </a:lnTo>
                <a:lnTo>
                  <a:pt x="4957" y="190546"/>
                </a:lnTo>
                <a:lnTo>
                  <a:pt x="10508" y="285717"/>
                </a:lnTo>
                <a:lnTo>
                  <a:pt x="28552" y="380472"/>
                </a:lnTo>
                <a:lnTo>
                  <a:pt x="19782" y="476120"/>
                </a:lnTo>
                <a:lnTo>
                  <a:pt x="17800" y="571542"/>
                </a:lnTo>
                <a:lnTo>
                  <a:pt x="10768" y="667132"/>
                </a:lnTo>
                <a:lnTo>
                  <a:pt x="25400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ally"/>
          <p:cNvSpPr/>
          <p:nvPr/>
        </p:nvSpPr>
        <p:spPr>
          <a:xfrm>
            <a:off x="6921500" y="5461000"/>
            <a:ext cx="30366" cy="762000"/>
          </a:xfrm>
          <a:custGeom>
            <a:avLst/>
            <a:gdLst/>
            <a:ahLst/>
            <a:cxnLst/>
            <a:rect l="l" t="t" r="r" b="b"/>
            <a:pathLst>
              <a:path w="30366" h="762000">
                <a:moveTo>
                  <a:pt x="0" y="0"/>
                </a:moveTo>
                <a:lnTo>
                  <a:pt x="11095" y="94986"/>
                </a:lnTo>
                <a:lnTo>
                  <a:pt x="2079" y="190642"/>
                </a:lnTo>
                <a:lnTo>
                  <a:pt x="20513" y="285384"/>
                </a:lnTo>
                <a:lnTo>
                  <a:pt x="27377" y="380511"/>
                </a:lnTo>
                <a:lnTo>
                  <a:pt x="30366" y="475767"/>
                </a:lnTo>
                <a:lnTo>
                  <a:pt x="25806" y="571275"/>
                </a:lnTo>
                <a:lnTo>
                  <a:pt x="28822" y="666530"/>
                </a:lnTo>
                <a:lnTo>
                  <a:pt x="25400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ally"/>
          <p:cNvSpPr/>
          <p:nvPr/>
        </p:nvSpPr>
        <p:spPr>
          <a:xfrm>
            <a:off x="7110785" y="5461000"/>
            <a:ext cx="35026" cy="762000"/>
          </a:xfrm>
          <a:custGeom>
            <a:avLst/>
            <a:gdLst/>
            <a:ahLst/>
            <a:cxnLst/>
            <a:rect l="l" t="t" r="r" b="b"/>
            <a:pathLst>
              <a:path w="35026" h="762000">
                <a:moveTo>
                  <a:pt x="1215" y="0"/>
                </a:moveTo>
                <a:lnTo>
                  <a:pt x="12298" y="94986"/>
                </a:lnTo>
                <a:lnTo>
                  <a:pt x="415" y="190738"/>
                </a:lnTo>
                <a:lnTo>
                  <a:pt x="0" y="286108"/>
                </a:lnTo>
                <a:lnTo>
                  <a:pt x="27417" y="380550"/>
                </a:lnTo>
                <a:lnTo>
                  <a:pt x="10433" y="476472"/>
                </a:lnTo>
                <a:lnTo>
                  <a:pt x="35026" y="571008"/>
                </a:lnTo>
                <a:lnTo>
                  <a:pt x="16359" y="666986"/>
                </a:lnTo>
                <a:lnTo>
                  <a:pt x="26615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ally"/>
          <p:cNvSpPr/>
          <p:nvPr/>
        </p:nvSpPr>
        <p:spPr>
          <a:xfrm>
            <a:off x="7298822" y="5461000"/>
            <a:ext cx="36877" cy="762000"/>
          </a:xfrm>
          <a:custGeom>
            <a:avLst/>
            <a:gdLst/>
            <a:ahLst/>
            <a:cxnLst/>
            <a:rect l="l" t="t" r="r" b="b"/>
            <a:pathLst>
              <a:path w="36877" h="762000">
                <a:moveTo>
                  <a:pt x="3678" y="0"/>
                </a:moveTo>
                <a:lnTo>
                  <a:pt x="14749" y="94987"/>
                </a:lnTo>
                <a:lnTo>
                  <a:pt x="0" y="190834"/>
                </a:lnTo>
                <a:lnTo>
                  <a:pt x="12468" y="285774"/>
                </a:lnTo>
                <a:lnTo>
                  <a:pt x="28706" y="380589"/>
                </a:lnTo>
                <a:lnTo>
                  <a:pt x="23480" y="476119"/>
                </a:lnTo>
                <a:lnTo>
                  <a:pt x="13763" y="571799"/>
                </a:lnTo>
                <a:lnTo>
                  <a:pt x="36877" y="666384"/>
                </a:lnTo>
                <a:lnTo>
                  <a:pt x="29078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ally"/>
          <p:cNvSpPr/>
          <p:nvPr/>
        </p:nvSpPr>
        <p:spPr>
          <a:xfrm>
            <a:off x="6629400" y="5575300"/>
            <a:ext cx="863600" cy="520700"/>
          </a:xfrm>
          <a:custGeom>
            <a:avLst/>
            <a:gdLst/>
            <a:ahLst/>
            <a:cxnLst/>
            <a:rect l="l" t="t" r="r" b="b"/>
            <a:pathLst>
              <a:path w="863600" h="520700">
                <a:moveTo>
                  <a:pt x="0" y="520700"/>
                </a:moveTo>
                <a:lnTo>
                  <a:pt x="104707" y="450234"/>
                </a:lnTo>
                <a:lnTo>
                  <a:pt x="211688" y="383539"/>
                </a:lnTo>
                <a:lnTo>
                  <a:pt x="320728" y="320260"/>
                </a:lnTo>
                <a:lnTo>
                  <a:pt x="428647" y="255120"/>
                </a:lnTo>
                <a:lnTo>
                  <a:pt x="533745" y="185303"/>
                </a:lnTo>
                <a:lnTo>
                  <a:pt x="651285" y="136121"/>
                </a:lnTo>
                <a:lnTo>
                  <a:pt x="760612" y="73317"/>
                </a:lnTo>
                <a:lnTo>
                  <a:pt x="863600" y="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ally"/>
          <p:cNvSpPr/>
          <p:nvPr/>
        </p:nvSpPr>
        <p:spPr>
          <a:xfrm>
            <a:off x="7937500" y="5461000"/>
            <a:ext cx="26387" cy="762000"/>
          </a:xfrm>
          <a:custGeom>
            <a:avLst/>
            <a:gdLst/>
            <a:ahLst/>
            <a:cxnLst/>
            <a:rect l="l" t="t" r="r" b="b"/>
            <a:pathLst>
              <a:path w="26387" h="762000">
                <a:moveTo>
                  <a:pt x="0" y="0"/>
                </a:moveTo>
                <a:lnTo>
                  <a:pt x="10997" y="94989"/>
                </a:lnTo>
                <a:lnTo>
                  <a:pt x="10785" y="190352"/>
                </a:lnTo>
                <a:lnTo>
                  <a:pt x="5355" y="285889"/>
                </a:lnTo>
                <a:lnTo>
                  <a:pt x="17980" y="380824"/>
                </a:lnTo>
                <a:lnTo>
                  <a:pt x="19840" y="476118"/>
                </a:lnTo>
                <a:lnTo>
                  <a:pt x="26387" y="571255"/>
                </a:lnTo>
                <a:lnTo>
                  <a:pt x="14597" y="667004"/>
                </a:lnTo>
                <a:lnTo>
                  <a:pt x="25400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ally"/>
          <p:cNvSpPr/>
          <p:nvPr/>
        </p:nvSpPr>
        <p:spPr>
          <a:xfrm>
            <a:off x="8128000" y="5461000"/>
            <a:ext cx="34392" cy="762000"/>
          </a:xfrm>
          <a:custGeom>
            <a:avLst/>
            <a:gdLst/>
            <a:ahLst/>
            <a:cxnLst/>
            <a:rect l="l" t="t" r="r" b="b"/>
            <a:pathLst>
              <a:path w="34392" h="762000">
                <a:moveTo>
                  <a:pt x="0" y="0"/>
                </a:moveTo>
                <a:lnTo>
                  <a:pt x="10984" y="94990"/>
                </a:lnTo>
                <a:lnTo>
                  <a:pt x="7907" y="190448"/>
                </a:lnTo>
                <a:lnTo>
                  <a:pt x="15360" y="285555"/>
                </a:lnTo>
                <a:lnTo>
                  <a:pt x="16806" y="380863"/>
                </a:lnTo>
                <a:lnTo>
                  <a:pt x="30423" y="475765"/>
                </a:lnTo>
                <a:lnTo>
                  <a:pt x="34392" y="570989"/>
                </a:lnTo>
                <a:lnTo>
                  <a:pt x="32651" y="666402"/>
                </a:lnTo>
                <a:lnTo>
                  <a:pt x="25400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ally"/>
          <p:cNvSpPr/>
          <p:nvPr/>
        </p:nvSpPr>
        <p:spPr>
          <a:xfrm>
            <a:off x="8318500" y="5461000"/>
            <a:ext cx="25400" cy="762000"/>
          </a:xfrm>
          <a:custGeom>
            <a:avLst/>
            <a:gdLst/>
            <a:ahLst/>
            <a:cxnLst/>
            <a:rect l="l" t="t" r="r" b="b"/>
            <a:pathLst>
              <a:path w="25400" h="762000">
                <a:moveTo>
                  <a:pt x="0" y="0"/>
                </a:moveTo>
                <a:lnTo>
                  <a:pt x="10972" y="94990"/>
                </a:lnTo>
                <a:lnTo>
                  <a:pt x="5029" y="190544"/>
                </a:lnTo>
                <a:lnTo>
                  <a:pt x="25365" y="285222"/>
                </a:lnTo>
                <a:lnTo>
                  <a:pt x="15631" y="380902"/>
                </a:lnTo>
                <a:lnTo>
                  <a:pt x="9275" y="476470"/>
                </a:lnTo>
                <a:lnTo>
                  <a:pt x="10666" y="571779"/>
                </a:lnTo>
                <a:lnTo>
                  <a:pt x="18973" y="666858"/>
                </a:lnTo>
                <a:lnTo>
                  <a:pt x="25400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ally"/>
          <p:cNvSpPr/>
          <p:nvPr/>
        </p:nvSpPr>
        <p:spPr>
          <a:xfrm>
            <a:off x="8509000" y="5461000"/>
            <a:ext cx="37028" cy="762000"/>
          </a:xfrm>
          <a:custGeom>
            <a:avLst/>
            <a:gdLst/>
            <a:ahLst/>
            <a:cxnLst/>
            <a:rect l="l" t="t" r="r" b="b"/>
            <a:pathLst>
              <a:path w="37028" h="762000">
                <a:moveTo>
                  <a:pt x="0" y="0"/>
                </a:moveTo>
                <a:lnTo>
                  <a:pt x="10960" y="94991"/>
                </a:lnTo>
                <a:lnTo>
                  <a:pt x="2150" y="190640"/>
                </a:lnTo>
                <a:lnTo>
                  <a:pt x="3638" y="285946"/>
                </a:lnTo>
                <a:lnTo>
                  <a:pt x="14456" y="380941"/>
                </a:lnTo>
                <a:lnTo>
                  <a:pt x="19859" y="476117"/>
                </a:lnTo>
                <a:lnTo>
                  <a:pt x="18671" y="571513"/>
                </a:lnTo>
                <a:lnTo>
                  <a:pt x="37028" y="666257"/>
                </a:lnTo>
                <a:lnTo>
                  <a:pt x="25400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ally"/>
          <p:cNvSpPr/>
          <p:nvPr/>
        </p:nvSpPr>
        <p:spPr>
          <a:xfrm>
            <a:off x="7835900" y="5575300"/>
            <a:ext cx="863600" cy="520700"/>
          </a:xfrm>
          <a:custGeom>
            <a:avLst/>
            <a:gdLst/>
            <a:ahLst/>
            <a:cxnLst/>
            <a:rect l="l" t="t" r="r" b="b"/>
            <a:pathLst>
              <a:path w="863600" h="520700">
                <a:moveTo>
                  <a:pt x="0" y="520700"/>
                </a:moveTo>
                <a:lnTo>
                  <a:pt x="104753" y="450310"/>
                </a:lnTo>
                <a:lnTo>
                  <a:pt x="222394" y="401296"/>
                </a:lnTo>
                <a:lnTo>
                  <a:pt x="322858" y="323792"/>
                </a:lnTo>
                <a:lnTo>
                  <a:pt x="433016" y="262367"/>
                </a:lnTo>
                <a:lnTo>
                  <a:pt x="533721" y="185264"/>
                </a:lnTo>
                <a:lnTo>
                  <a:pt x="647736" y="130235"/>
                </a:lnTo>
                <a:lnTo>
                  <a:pt x="759029" y="70692"/>
                </a:lnTo>
                <a:lnTo>
                  <a:pt x="863600" y="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ally"/>
          <p:cNvSpPr/>
          <p:nvPr/>
        </p:nvSpPr>
        <p:spPr>
          <a:xfrm>
            <a:off x="9144000" y="5461000"/>
            <a:ext cx="25400" cy="762000"/>
          </a:xfrm>
          <a:custGeom>
            <a:avLst/>
            <a:gdLst/>
            <a:ahLst/>
            <a:cxnLst/>
            <a:rect l="l" t="t" r="r" b="b"/>
            <a:pathLst>
              <a:path w="25400" h="762000">
                <a:moveTo>
                  <a:pt x="0" y="0"/>
                </a:moveTo>
                <a:lnTo>
                  <a:pt x="10886" y="94993"/>
                </a:lnTo>
                <a:lnTo>
                  <a:pt x="16613" y="190158"/>
                </a:lnTo>
                <a:lnTo>
                  <a:pt x="203" y="286061"/>
                </a:lnTo>
                <a:lnTo>
                  <a:pt x="7409" y="381176"/>
                </a:lnTo>
                <a:lnTo>
                  <a:pt x="19897" y="476116"/>
                </a:lnTo>
                <a:lnTo>
                  <a:pt x="3241" y="572027"/>
                </a:lnTo>
                <a:lnTo>
                  <a:pt x="18426" y="666877"/>
                </a:lnTo>
                <a:lnTo>
                  <a:pt x="25400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ally"/>
          <p:cNvSpPr/>
          <p:nvPr/>
        </p:nvSpPr>
        <p:spPr>
          <a:xfrm>
            <a:off x="9334500" y="5461000"/>
            <a:ext cx="36480" cy="762000"/>
          </a:xfrm>
          <a:custGeom>
            <a:avLst/>
            <a:gdLst/>
            <a:ahLst/>
            <a:cxnLst/>
            <a:rect l="l" t="t" r="r" b="b"/>
            <a:pathLst>
              <a:path w="36480" h="762000">
                <a:moveTo>
                  <a:pt x="0" y="0"/>
                </a:moveTo>
                <a:lnTo>
                  <a:pt x="10874" y="94993"/>
                </a:lnTo>
                <a:lnTo>
                  <a:pt x="13735" y="190254"/>
                </a:lnTo>
                <a:lnTo>
                  <a:pt x="10208" y="285727"/>
                </a:lnTo>
                <a:lnTo>
                  <a:pt x="6234" y="381216"/>
                </a:lnTo>
                <a:lnTo>
                  <a:pt x="30481" y="475763"/>
                </a:lnTo>
                <a:lnTo>
                  <a:pt x="11247" y="571760"/>
                </a:lnTo>
                <a:lnTo>
                  <a:pt x="36480" y="666275"/>
                </a:lnTo>
                <a:lnTo>
                  <a:pt x="25400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ally"/>
          <p:cNvSpPr/>
          <p:nvPr/>
        </p:nvSpPr>
        <p:spPr>
          <a:xfrm>
            <a:off x="9525000" y="5461000"/>
            <a:ext cx="25400" cy="762000"/>
          </a:xfrm>
          <a:custGeom>
            <a:avLst/>
            <a:gdLst/>
            <a:ahLst/>
            <a:cxnLst/>
            <a:rect l="l" t="t" r="r" b="b"/>
            <a:pathLst>
              <a:path w="25400" h="762000">
                <a:moveTo>
                  <a:pt x="0" y="0"/>
                </a:moveTo>
                <a:lnTo>
                  <a:pt x="10862" y="94994"/>
                </a:lnTo>
                <a:lnTo>
                  <a:pt x="10857" y="190350"/>
                </a:lnTo>
                <a:lnTo>
                  <a:pt x="20213" y="285394"/>
                </a:lnTo>
                <a:lnTo>
                  <a:pt x="5059" y="381255"/>
                </a:lnTo>
                <a:lnTo>
                  <a:pt x="9332" y="476468"/>
                </a:lnTo>
                <a:lnTo>
                  <a:pt x="19253" y="571493"/>
                </a:lnTo>
                <a:lnTo>
                  <a:pt x="22803" y="666731"/>
                </a:lnTo>
                <a:lnTo>
                  <a:pt x="25400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ally"/>
          <p:cNvSpPr/>
          <p:nvPr/>
        </p:nvSpPr>
        <p:spPr>
          <a:xfrm>
            <a:off x="9713985" y="5461000"/>
            <a:ext cx="28773" cy="762000"/>
          </a:xfrm>
          <a:custGeom>
            <a:avLst/>
            <a:gdLst/>
            <a:ahLst/>
            <a:cxnLst/>
            <a:rect l="l" t="t" r="r" b="b"/>
            <a:pathLst>
              <a:path w="28773" h="762000">
                <a:moveTo>
                  <a:pt x="1515" y="0"/>
                </a:moveTo>
                <a:lnTo>
                  <a:pt x="12364" y="94994"/>
                </a:lnTo>
                <a:lnTo>
                  <a:pt x="9493" y="190446"/>
                </a:lnTo>
                <a:lnTo>
                  <a:pt x="0" y="286118"/>
                </a:lnTo>
                <a:lnTo>
                  <a:pt x="5400" y="381294"/>
                </a:lnTo>
                <a:lnTo>
                  <a:pt x="21431" y="476115"/>
                </a:lnTo>
                <a:lnTo>
                  <a:pt x="28773" y="571226"/>
                </a:lnTo>
                <a:lnTo>
                  <a:pt x="10640" y="667187"/>
                </a:lnTo>
                <a:lnTo>
                  <a:pt x="26915" y="76200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ally"/>
          <p:cNvSpPr/>
          <p:nvPr/>
        </p:nvSpPr>
        <p:spPr>
          <a:xfrm>
            <a:off x="9042400" y="5575300"/>
            <a:ext cx="863600" cy="520700"/>
          </a:xfrm>
          <a:custGeom>
            <a:avLst/>
            <a:gdLst/>
            <a:ahLst/>
            <a:cxnLst/>
            <a:rect l="l" t="t" r="r" b="b"/>
            <a:pathLst>
              <a:path w="863600" h="520700">
                <a:moveTo>
                  <a:pt x="0" y="520700"/>
                </a:moveTo>
                <a:lnTo>
                  <a:pt x="104799" y="450386"/>
                </a:lnTo>
                <a:lnTo>
                  <a:pt x="219985" y="397301"/>
                </a:lnTo>
                <a:lnTo>
                  <a:pt x="324988" y="327324"/>
                </a:lnTo>
                <a:lnTo>
                  <a:pt x="437385" y="269613"/>
                </a:lnTo>
                <a:lnTo>
                  <a:pt x="533698" y="185224"/>
                </a:lnTo>
                <a:lnTo>
                  <a:pt x="644187" y="124349"/>
                </a:lnTo>
                <a:lnTo>
                  <a:pt x="757447" y="68067"/>
                </a:lnTo>
                <a:lnTo>
                  <a:pt x="863600" y="0"/>
                </a:lnTo>
              </a:path>
            </a:pathLst>
          </a:custGeom>
          <a:noFill/>
          <a:ln w="698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3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estion"/>
          <p:cNvSpPr txBox="1"/>
          <p:nvPr/>
        </p:nvSpPr>
        <p:spPr>
          <a:xfrm>
            <a:off x="762000" y="1587500"/>
            <a:ext cx="10922000" cy="444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815"/>
              </a:lnSpc>
            </a:pPr>
            <a:r>
              <a:rPr sz="10250" b="0">
                <a:solidFill>
                  <a:srgbClr val="F4ECDD"/>
                </a:solidFill>
                <a:latin typeface="Archivo Display"/>
                <a:ea typeface="Archivo Display"/>
                <a:cs typeface="Archivo Display"/>
              </a:rPr>
              <a:t>CAN A JOB BE IMPORTANT</a:t>
            </a:r>
          </a:p>
          <a:p>
            <a:pPr algn="l">
              <a:lnSpc>
                <a:spcPts val="8815"/>
              </a:lnSpc>
            </a:pPr>
            <a:r>
              <a:rPr sz="10250" b="0">
                <a:solidFill>
                  <a:srgbClr val="FF2E88"/>
                </a:solidFill>
                <a:latin typeface="Archivo Display"/>
                <a:ea typeface="Archivo Display"/>
                <a:cs typeface="Archivo Display"/>
              </a:rPr>
              <a:t>AND STILL BE POORLY DESIGNED?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23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xture: film grain" descr="grain.png"/>
          <p:cNvPicPr>
            <a:picLocks noChangeAspect="1" noSel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eadline"/>
          <p:cNvSpPr txBox="1"/>
          <p:nvPr/>
        </p:nvSpPr>
        <p:spPr>
          <a:xfrm>
            <a:off x="698500" y="1079500"/>
            <a:ext cx="11430000" cy="393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190"/>
              </a:lnSpc>
            </a:pPr>
            <a:r>
              <a:rPr sz="16500" b="0">
                <a:solidFill>
                  <a:srgbClr val="0B0610"/>
                </a:solidFill>
                <a:latin typeface="Archivo Display"/>
                <a:ea typeface="Archivo Display"/>
                <a:cs typeface="Archivo Display"/>
              </a:rPr>
              <a:t>WE ASKED</a:t>
            </a:r>
          </a:p>
          <a:p>
            <a:pPr algn="l">
              <a:lnSpc>
                <a:spcPts val="14190"/>
              </a:lnSpc>
            </a:pPr>
            <a:r>
              <a:rPr sz="16500" b="0">
                <a:solidFill>
                  <a:srgbClr val="0B0610"/>
                </a:solidFill>
                <a:latin typeface="Archivo Display"/>
                <a:ea typeface="Archivo Display"/>
                <a:cs typeface="Archivo Display"/>
              </a:rPr>
              <a:t>THE CASHIERS.</a:t>
            </a:r>
          </a:p>
        </p:txBody>
      </p:sp>
      <p:pic>
        <p:nvPicPr>
          <p:cNvPr id="4" name="!!cashier A04" descr="a04_sti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0" y="4064000"/>
            <a:ext cx="4191000" cy="297771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23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xture: film grain" descr="grain.png"/>
          <p:cNvPicPr>
            <a:picLocks noChangeAspect="1" noSel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ct tag box"/>
          <p:cNvSpPr/>
          <p:nvPr/>
        </p:nvSpPr>
        <p:spPr>
          <a:xfrm>
            <a:off x="393700" y="304800"/>
            <a:ext cx="296751" cy="203200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II</a:t>
            </a:r>
            <a:r>
              <a:rPr sz="1200" b="0" spc="96">
                <a:solidFill>
                  <a:srgbClr val="454043"/>
                </a:solidFill>
                <a:latin typeface="JetBrains Mono"/>
                <a:ea typeface="JetBrains Mono"/>
                <a:cs typeface="JetBrains Mono"/>
              </a:rPr>
              <a:t>  INVESTIGATE</a:t>
            </a:r>
          </a:p>
        </p:txBody>
      </p:sp>
      <p:pic>
        <p:nvPicPr>
          <p:cNvPr id="5" name="Collage 01" descr="m01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685" t="0" r="685" b="0"/>
          <a:stretch>
            <a:fillRect/>
          </a:stretch>
        </p:blipFill>
        <p:spPr>
          <a:xfrm rot="96000">
            <a:off x="5232400" y="44450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6" name="Collage tag"/>
          <p:cNvSpPr/>
          <p:nvPr/>
        </p:nvSpPr>
        <p:spPr>
          <a:xfrm>
            <a:off x="5194300" y="125730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#01</a:t>
            </a:r>
          </a:p>
        </p:txBody>
      </p:sp>
      <p:pic>
        <p:nvPicPr>
          <p:cNvPr id="7" name="Collage 02" descr="m02.jpg"/>
          <p:cNvPicPr>
            <a:picLocks noChangeAspect="1"/>
          </p:cNvPicPr>
          <p:nvPr/>
        </p:nvPicPr>
        <p:blipFill>
          <a:blip r:embed="rId4">
            <a:alphaModFix amt="40000"/>
          </a:blip>
          <a:srcRect l="685" t="0" r="685" b="0"/>
          <a:stretch>
            <a:fillRect/>
          </a:stretch>
        </p:blipFill>
        <p:spPr>
          <a:xfrm rot="144000">
            <a:off x="6597650" y="46355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8" name="Collage tag"/>
          <p:cNvSpPr/>
          <p:nvPr/>
        </p:nvSpPr>
        <p:spPr>
          <a:xfrm>
            <a:off x="6559550" y="127635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#02</a:t>
            </a:r>
          </a:p>
        </p:txBody>
      </p:sp>
      <p:pic>
        <p:nvPicPr>
          <p:cNvPr id="9" name="Collage 03" descr="m03.jpg"/>
          <p:cNvPicPr>
            <a:picLocks noChangeAspect="1"/>
          </p:cNvPicPr>
          <p:nvPr/>
        </p:nvPicPr>
        <p:blipFill>
          <a:blip r:embed="rId5">
            <a:alphaModFix amt="40000"/>
          </a:blip>
          <a:srcRect l="685" t="0" r="685" b="0"/>
          <a:stretch>
            <a:fillRect/>
          </a:stretch>
        </p:blipFill>
        <p:spPr>
          <a:xfrm rot="192000">
            <a:off x="7962900" y="48260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10" name="Collage tag"/>
          <p:cNvSpPr/>
          <p:nvPr/>
        </p:nvSpPr>
        <p:spPr>
          <a:xfrm>
            <a:off x="7924800" y="129540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#03</a:t>
            </a:r>
          </a:p>
        </p:txBody>
      </p:sp>
      <p:pic>
        <p:nvPicPr>
          <p:cNvPr id="11" name="Collage 04" descr="m04.jpg"/>
          <p:cNvPicPr>
            <a:picLocks noChangeAspect="1"/>
          </p:cNvPicPr>
          <p:nvPr/>
        </p:nvPicPr>
        <p:blipFill>
          <a:blip r:embed="rId6">
            <a:alphaModFix amt="40000"/>
          </a:blip>
          <a:srcRect l="685" t="0" r="685" b="0"/>
          <a:stretch>
            <a:fillRect/>
          </a:stretch>
        </p:blipFill>
        <p:spPr>
          <a:xfrm rot="21408000">
            <a:off x="9328150" y="50165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12" name="Collage tag"/>
          <p:cNvSpPr/>
          <p:nvPr/>
        </p:nvSpPr>
        <p:spPr>
          <a:xfrm>
            <a:off x="9290050" y="131445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#04</a:t>
            </a:r>
          </a:p>
        </p:txBody>
      </p:sp>
      <p:pic>
        <p:nvPicPr>
          <p:cNvPr id="13" name="Collage 05" descr="m05.jpg"/>
          <p:cNvPicPr>
            <a:picLocks noChangeAspect="1"/>
          </p:cNvPicPr>
          <p:nvPr/>
        </p:nvPicPr>
        <p:blipFill>
          <a:blip r:embed="rId7">
            <a:alphaModFix amt="40000"/>
          </a:blip>
          <a:srcRect l="685" t="0" r="685" b="0"/>
          <a:stretch>
            <a:fillRect/>
          </a:stretch>
        </p:blipFill>
        <p:spPr>
          <a:xfrm rot="21456000">
            <a:off x="10693400" y="52070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14" name="Collage tag"/>
          <p:cNvSpPr/>
          <p:nvPr/>
        </p:nvSpPr>
        <p:spPr>
          <a:xfrm>
            <a:off x="10655300" y="133350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#05</a:t>
            </a:r>
          </a:p>
        </p:txBody>
      </p:sp>
      <p:pic>
        <p:nvPicPr>
          <p:cNvPr id="15" name="Collage 06" descr="m06.jpg"/>
          <p:cNvPicPr>
            <a:picLocks noChangeAspect="1"/>
          </p:cNvPicPr>
          <p:nvPr/>
        </p:nvPicPr>
        <p:blipFill>
          <a:blip r:embed="rId8">
            <a:alphaModFix amt="40000"/>
          </a:blip>
          <a:srcRect l="685" t="0" r="685" b="0"/>
          <a:stretch>
            <a:fillRect/>
          </a:stretch>
        </p:blipFill>
        <p:spPr>
          <a:xfrm rot="21504000">
            <a:off x="5327650" y="157480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16" name="Collage tag"/>
          <p:cNvSpPr/>
          <p:nvPr/>
        </p:nvSpPr>
        <p:spPr>
          <a:xfrm>
            <a:off x="5289550" y="238760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#06</a:t>
            </a:r>
          </a:p>
        </p:txBody>
      </p:sp>
      <p:pic>
        <p:nvPicPr>
          <p:cNvPr id="17" name="Collage 07" descr="m07.jpg"/>
          <p:cNvPicPr>
            <a:picLocks noChangeAspect="1"/>
          </p:cNvPicPr>
          <p:nvPr/>
        </p:nvPicPr>
        <p:blipFill>
          <a:blip r:embed="rId9">
            <a:alphaModFix amt="40000"/>
          </a:blip>
          <a:srcRect l="685" t="0" r="685" b="0"/>
          <a:stretch>
            <a:fillRect/>
          </a:stretch>
        </p:blipFill>
        <p:spPr>
          <a:xfrm rot="21552000">
            <a:off x="6692900" y="159385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18" name="Collage tag"/>
          <p:cNvSpPr/>
          <p:nvPr/>
        </p:nvSpPr>
        <p:spPr>
          <a:xfrm>
            <a:off x="6654800" y="240665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#07</a:t>
            </a:r>
          </a:p>
        </p:txBody>
      </p:sp>
      <p:pic>
        <p:nvPicPr>
          <p:cNvPr id="19" name="Collage 08" descr="m08.jpg"/>
          <p:cNvPicPr>
            <a:picLocks noChangeAspect="1"/>
          </p:cNvPicPr>
          <p:nvPr/>
        </p:nvPicPr>
        <p:blipFill>
          <a:blip r:embed="rId10">
            <a:alphaModFix amt="40000"/>
          </a:blip>
          <a:srcRect l="685" t="0" r="685" b="0"/>
          <a:stretch>
            <a:fillRect/>
          </a:stretch>
        </p:blipFill>
        <p:spPr>
          <a:xfrm>
            <a:off x="7886700" y="161290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20" name="Collage tag"/>
          <p:cNvSpPr/>
          <p:nvPr/>
        </p:nvSpPr>
        <p:spPr>
          <a:xfrm>
            <a:off x="7848600" y="242570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#08</a:t>
            </a:r>
          </a:p>
        </p:txBody>
      </p:sp>
      <p:pic>
        <p:nvPicPr>
          <p:cNvPr id="21" name="Collage 09" descr="m09.jpg"/>
          <p:cNvPicPr>
            <a:picLocks noChangeAspect="1"/>
          </p:cNvPicPr>
          <p:nvPr/>
        </p:nvPicPr>
        <p:blipFill>
          <a:blip r:embed="rId11">
            <a:alphaModFix amt="40000"/>
          </a:blip>
          <a:srcRect l="685" t="0" r="685" b="0"/>
          <a:stretch>
            <a:fillRect/>
          </a:stretch>
        </p:blipFill>
        <p:spPr>
          <a:xfrm rot="48000">
            <a:off x="9251950" y="163195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22" name="Collage tag"/>
          <p:cNvSpPr/>
          <p:nvPr/>
        </p:nvSpPr>
        <p:spPr>
          <a:xfrm>
            <a:off x="9213850" y="244475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#09</a:t>
            </a:r>
          </a:p>
        </p:txBody>
      </p:sp>
      <p:pic>
        <p:nvPicPr>
          <p:cNvPr id="23" name="Collage 10" descr="m10.jpg"/>
          <p:cNvPicPr>
            <a:picLocks noChangeAspect="1"/>
          </p:cNvPicPr>
          <p:nvPr/>
        </p:nvPicPr>
        <p:blipFill>
          <a:blip r:embed="rId12">
            <a:alphaModFix amt="40000"/>
          </a:blip>
          <a:srcRect l="685" t="0" r="685" b="0"/>
          <a:stretch>
            <a:fillRect/>
          </a:stretch>
        </p:blipFill>
        <p:spPr>
          <a:xfrm rot="96000">
            <a:off x="10617200" y="165100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24" name="Collage tag"/>
          <p:cNvSpPr/>
          <p:nvPr/>
        </p:nvSpPr>
        <p:spPr>
          <a:xfrm>
            <a:off x="10579100" y="246380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#10</a:t>
            </a:r>
          </a:p>
        </p:txBody>
      </p:sp>
      <p:pic>
        <p:nvPicPr>
          <p:cNvPr id="25" name="Collage 11" descr="m11.jpg"/>
          <p:cNvPicPr>
            <a:picLocks noChangeAspect="1"/>
          </p:cNvPicPr>
          <p:nvPr/>
        </p:nvPicPr>
        <p:blipFill>
          <a:blip r:embed="rId13">
            <a:alphaModFix amt="40000"/>
          </a:blip>
          <a:srcRect l="685" t="0" r="685" b="0"/>
          <a:stretch>
            <a:fillRect/>
          </a:stretch>
        </p:blipFill>
        <p:spPr>
          <a:xfrm rot="144000">
            <a:off x="5251450" y="287655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26" name="Collage tag"/>
          <p:cNvSpPr/>
          <p:nvPr/>
        </p:nvSpPr>
        <p:spPr>
          <a:xfrm>
            <a:off x="5213350" y="368935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#11</a:t>
            </a:r>
          </a:p>
        </p:txBody>
      </p:sp>
      <p:pic>
        <p:nvPicPr>
          <p:cNvPr id="27" name="Collage 12" descr="m12.jpg"/>
          <p:cNvPicPr>
            <a:picLocks noChangeAspect="1"/>
          </p:cNvPicPr>
          <p:nvPr/>
        </p:nvPicPr>
        <p:blipFill>
          <a:blip r:embed="rId14">
            <a:alphaModFix amt="40000"/>
          </a:blip>
          <a:srcRect l="685" t="0" r="685" b="0"/>
          <a:stretch>
            <a:fillRect/>
          </a:stretch>
        </p:blipFill>
        <p:spPr>
          <a:xfrm rot="192000">
            <a:off x="6616700" y="289560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28" name="Collage tag"/>
          <p:cNvSpPr/>
          <p:nvPr/>
        </p:nvSpPr>
        <p:spPr>
          <a:xfrm>
            <a:off x="6578600" y="370840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#12</a:t>
            </a:r>
          </a:p>
        </p:txBody>
      </p:sp>
      <p:pic>
        <p:nvPicPr>
          <p:cNvPr id="29" name="Collage 13" descr="m13.jpg"/>
          <p:cNvPicPr>
            <a:picLocks noChangeAspect="1"/>
          </p:cNvPicPr>
          <p:nvPr/>
        </p:nvPicPr>
        <p:blipFill>
          <a:blip r:embed="rId15">
            <a:alphaModFix amt="40000"/>
          </a:blip>
          <a:srcRect l="685" t="0" r="685" b="0"/>
          <a:stretch>
            <a:fillRect/>
          </a:stretch>
        </p:blipFill>
        <p:spPr>
          <a:xfrm rot="21408000">
            <a:off x="7981950" y="291465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30" name="Collage tag"/>
          <p:cNvSpPr/>
          <p:nvPr/>
        </p:nvSpPr>
        <p:spPr>
          <a:xfrm>
            <a:off x="7943850" y="372745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#13</a:t>
            </a:r>
          </a:p>
        </p:txBody>
      </p:sp>
      <p:pic>
        <p:nvPicPr>
          <p:cNvPr id="31" name="Collage 14" descr="m14.jpg"/>
          <p:cNvPicPr>
            <a:picLocks noChangeAspect="1"/>
          </p:cNvPicPr>
          <p:nvPr/>
        </p:nvPicPr>
        <p:blipFill>
          <a:blip r:embed="rId16">
            <a:alphaModFix amt="40000"/>
          </a:blip>
          <a:srcRect l="685" t="0" r="685" b="0"/>
          <a:stretch>
            <a:fillRect/>
          </a:stretch>
        </p:blipFill>
        <p:spPr>
          <a:xfrm rot="21456000">
            <a:off x="9347200" y="293370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32" name="Collage tag"/>
          <p:cNvSpPr/>
          <p:nvPr/>
        </p:nvSpPr>
        <p:spPr>
          <a:xfrm>
            <a:off x="9309100" y="374650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#14</a:t>
            </a:r>
          </a:p>
        </p:txBody>
      </p:sp>
      <p:pic>
        <p:nvPicPr>
          <p:cNvPr id="33" name="Collage 15" descr="m15.jpg"/>
          <p:cNvPicPr>
            <a:picLocks noChangeAspect="1"/>
          </p:cNvPicPr>
          <p:nvPr/>
        </p:nvPicPr>
        <p:blipFill>
          <a:blip r:embed="rId17">
            <a:alphaModFix amt="40000"/>
          </a:blip>
          <a:srcRect l="685" t="0" r="685" b="0"/>
          <a:stretch>
            <a:fillRect/>
          </a:stretch>
        </p:blipFill>
        <p:spPr>
          <a:xfrm rot="21504000">
            <a:off x="10712450" y="278130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34" name="Collage tag"/>
          <p:cNvSpPr/>
          <p:nvPr/>
        </p:nvSpPr>
        <p:spPr>
          <a:xfrm>
            <a:off x="10674350" y="359410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#15</a:t>
            </a:r>
          </a:p>
        </p:txBody>
      </p:sp>
      <p:pic>
        <p:nvPicPr>
          <p:cNvPr id="35" name="Collage 16" descr="m16.jpg"/>
          <p:cNvPicPr>
            <a:picLocks noChangeAspect="1"/>
          </p:cNvPicPr>
          <p:nvPr/>
        </p:nvPicPr>
        <p:blipFill>
          <a:blip r:embed="rId18">
            <a:alphaModFix amt="40000"/>
          </a:blip>
          <a:srcRect l="685" t="0" r="685" b="0"/>
          <a:stretch>
            <a:fillRect/>
          </a:stretch>
        </p:blipFill>
        <p:spPr>
          <a:xfrm rot="21552000">
            <a:off x="5346700" y="400685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36" name="Collage tag"/>
          <p:cNvSpPr/>
          <p:nvPr/>
        </p:nvSpPr>
        <p:spPr>
          <a:xfrm>
            <a:off x="5308600" y="481965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#16</a:t>
            </a:r>
          </a:p>
        </p:txBody>
      </p:sp>
      <p:pic>
        <p:nvPicPr>
          <p:cNvPr id="37" name="Collage 17" descr="m17.jpg"/>
          <p:cNvPicPr>
            <a:picLocks noChangeAspect="1"/>
          </p:cNvPicPr>
          <p:nvPr/>
        </p:nvPicPr>
        <p:blipFill>
          <a:blip r:embed="rId19">
            <a:alphaModFix amt="40000"/>
          </a:blip>
          <a:srcRect l="685" t="0" r="685" b="0"/>
          <a:stretch>
            <a:fillRect/>
          </a:stretch>
        </p:blipFill>
        <p:spPr>
          <a:xfrm>
            <a:off x="6540500" y="402590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38" name="Collage tag"/>
          <p:cNvSpPr/>
          <p:nvPr/>
        </p:nvSpPr>
        <p:spPr>
          <a:xfrm>
            <a:off x="6502400" y="483870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#17</a:t>
            </a:r>
          </a:p>
        </p:txBody>
      </p:sp>
      <p:pic>
        <p:nvPicPr>
          <p:cNvPr id="39" name="Collage 18" descr="m18.jpg"/>
          <p:cNvPicPr>
            <a:picLocks noChangeAspect="1"/>
          </p:cNvPicPr>
          <p:nvPr/>
        </p:nvPicPr>
        <p:blipFill>
          <a:blip r:embed="rId20">
            <a:alphaModFix amt="40000"/>
          </a:blip>
          <a:srcRect l="685" t="0" r="685" b="0"/>
          <a:stretch>
            <a:fillRect/>
          </a:stretch>
        </p:blipFill>
        <p:spPr>
          <a:xfrm rot="48000">
            <a:off x="7905750" y="404495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40" name="Collage tag"/>
          <p:cNvSpPr/>
          <p:nvPr/>
        </p:nvSpPr>
        <p:spPr>
          <a:xfrm>
            <a:off x="7867650" y="485775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#18</a:t>
            </a:r>
          </a:p>
        </p:txBody>
      </p:sp>
      <p:pic>
        <p:nvPicPr>
          <p:cNvPr id="41" name="Collage 19" descr="m19.jpg"/>
          <p:cNvPicPr>
            <a:picLocks noChangeAspect="1"/>
          </p:cNvPicPr>
          <p:nvPr/>
        </p:nvPicPr>
        <p:blipFill>
          <a:blip r:embed="rId21">
            <a:alphaModFix amt="40000"/>
          </a:blip>
          <a:srcRect l="685" t="0" r="685" b="0"/>
          <a:stretch>
            <a:fillRect/>
          </a:stretch>
        </p:blipFill>
        <p:spPr>
          <a:xfrm rot="96000">
            <a:off x="9271000" y="406400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42" name="Collage tag"/>
          <p:cNvSpPr/>
          <p:nvPr/>
        </p:nvSpPr>
        <p:spPr>
          <a:xfrm>
            <a:off x="9232900" y="487680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#19</a:t>
            </a:r>
          </a:p>
        </p:txBody>
      </p:sp>
      <p:pic>
        <p:nvPicPr>
          <p:cNvPr id="43" name="Collage 20" descr="m20.jpg"/>
          <p:cNvPicPr>
            <a:picLocks noChangeAspect="1"/>
          </p:cNvPicPr>
          <p:nvPr/>
        </p:nvPicPr>
        <p:blipFill>
          <a:blip r:embed="rId22">
            <a:alphaModFix amt="40000"/>
          </a:blip>
          <a:srcRect l="685" t="0" r="685" b="0"/>
          <a:stretch>
            <a:fillRect/>
          </a:stretch>
        </p:blipFill>
        <p:spPr>
          <a:xfrm rot="144000">
            <a:off x="10636250" y="408305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44" name="Collage tag"/>
          <p:cNvSpPr/>
          <p:nvPr/>
        </p:nvSpPr>
        <p:spPr>
          <a:xfrm>
            <a:off x="10598150" y="489585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#20</a:t>
            </a:r>
          </a:p>
        </p:txBody>
      </p:sp>
      <p:pic>
        <p:nvPicPr>
          <p:cNvPr id="45" name="Collage 21" descr="m21.jpg"/>
          <p:cNvPicPr>
            <a:picLocks noChangeAspect="1"/>
          </p:cNvPicPr>
          <p:nvPr/>
        </p:nvPicPr>
        <p:blipFill>
          <a:blip r:embed="rId23">
            <a:alphaModFix amt="40000"/>
          </a:blip>
          <a:srcRect l="685" t="0" r="685" b="0"/>
          <a:stretch>
            <a:fillRect/>
          </a:stretch>
        </p:blipFill>
        <p:spPr>
          <a:xfrm rot="192000">
            <a:off x="5270500" y="530860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46" name="Collage tag"/>
          <p:cNvSpPr/>
          <p:nvPr/>
        </p:nvSpPr>
        <p:spPr>
          <a:xfrm>
            <a:off x="5232400" y="612140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#21</a:t>
            </a:r>
          </a:p>
        </p:txBody>
      </p:sp>
      <p:pic>
        <p:nvPicPr>
          <p:cNvPr id="47" name="Collage 22" descr="m22.jpg"/>
          <p:cNvPicPr>
            <a:picLocks noChangeAspect="1"/>
          </p:cNvPicPr>
          <p:nvPr/>
        </p:nvPicPr>
        <p:blipFill>
          <a:blip r:embed="rId24">
            <a:alphaModFix amt="40000"/>
          </a:blip>
          <a:srcRect l="685" t="0" r="685" b="0"/>
          <a:stretch>
            <a:fillRect/>
          </a:stretch>
        </p:blipFill>
        <p:spPr>
          <a:xfrm rot="21408000">
            <a:off x="6635750" y="532765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48" name="Collage tag"/>
          <p:cNvSpPr/>
          <p:nvPr/>
        </p:nvSpPr>
        <p:spPr>
          <a:xfrm>
            <a:off x="6597650" y="614045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#22</a:t>
            </a:r>
          </a:p>
        </p:txBody>
      </p:sp>
      <p:pic>
        <p:nvPicPr>
          <p:cNvPr id="49" name="Collage 23" descr="m23.jpg"/>
          <p:cNvPicPr>
            <a:picLocks noChangeAspect="1"/>
          </p:cNvPicPr>
          <p:nvPr/>
        </p:nvPicPr>
        <p:blipFill>
          <a:blip r:embed="rId25">
            <a:alphaModFix amt="40000"/>
          </a:blip>
          <a:srcRect l="685" t="0" r="685" b="0"/>
          <a:stretch>
            <a:fillRect/>
          </a:stretch>
        </p:blipFill>
        <p:spPr>
          <a:xfrm rot="21456000">
            <a:off x="8001000" y="534670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50" name="Collage tag"/>
          <p:cNvSpPr/>
          <p:nvPr/>
        </p:nvSpPr>
        <p:spPr>
          <a:xfrm>
            <a:off x="7962900" y="615950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#23</a:t>
            </a:r>
          </a:p>
        </p:txBody>
      </p:sp>
      <p:pic>
        <p:nvPicPr>
          <p:cNvPr id="51" name="Collage 24" descr="m24.jpg"/>
          <p:cNvPicPr>
            <a:picLocks noChangeAspect="1"/>
          </p:cNvPicPr>
          <p:nvPr/>
        </p:nvPicPr>
        <p:blipFill>
          <a:blip r:embed="rId26">
            <a:alphaModFix amt="40000"/>
          </a:blip>
          <a:srcRect l="685" t="0" r="685" b="0"/>
          <a:stretch>
            <a:fillRect/>
          </a:stretch>
        </p:blipFill>
        <p:spPr>
          <a:xfrm rot="21504000">
            <a:off x="9366250" y="519430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52" name="Collage tag"/>
          <p:cNvSpPr/>
          <p:nvPr/>
        </p:nvSpPr>
        <p:spPr>
          <a:xfrm>
            <a:off x="9328150" y="600710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#24</a:t>
            </a:r>
          </a:p>
        </p:txBody>
      </p:sp>
      <p:pic>
        <p:nvPicPr>
          <p:cNvPr id="53" name="Collage 25" descr="m25.jpg"/>
          <p:cNvPicPr>
            <a:picLocks noChangeAspect="1"/>
          </p:cNvPicPr>
          <p:nvPr/>
        </p:nvPicPr>
        <p:blipFill>
          <a:blip r:embed="rId27">
            <a:alphaModFix amt="40000"/>
          </a:blip>
          <a:srcRect l="685" t="0" r="685" b="0"/>
          <a:stretch>
            <a:fillRect/>
          </a:stretch>
        </p:blipFill>
        <p:spPr>
          <a:xfrm rot="21552000">
            <a:off x="10731500" y="5213350"/>
            <a:ext cx="1257300" cy="927100"/>
          </a:xfrm>
          <a:prstGeom prst="rect">
            <a:avLst/>
          </a:prstGeom>
          <a:ln w="38100">
            <a:solidFill>
              <a:srgbClr val="FBF8F1"/>
            </a:solidFill>
            <a:round/>
          </a:ln>
          <a:effectLst>
            <a:outerShdw blurRad="0" dist="63500" dir="3187806" algn="tl" rotWithShape="0">
              <a:srgbClr val="0B0610">
                <a:alpha val="85000"/>
              </a:srgbClr>
            </a:outerShdw>
          </a:effectLst>
        </p:spPr>
      </p:pic>
      <p:sp>
        <p:nvSpPr>
          <p:cNvPr id="54" name="Collage tag"/>
          <p:cNvSpPr/>
          <p:nvPr/>
        </p:nvSpPr>
        <p:spPr>
          <a:xfrm>
            <a:off x="10693400" y="6026150"/>
            <a:ext cx="393700" cy="190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375"/>
              </a:lnSpc>
            </a:pPr>
            <a:r>
              <a:rPr sz="11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#25</a:t>
            </a:r>
          </a:p>
        </p:txBody>
      </p:sp>
      <p:sp>
        <p:nvSpPr>
          <p:cNvPr id="55" name="Sample size 25"/>
          <p:cNvSpPr txBox="1"/>
          <p:nvPr/>
        </p:nvSpPr>
        <p:spPr>
          <a:xfrm>
            <a:off x="508000" y="730250"/>
            <a:ext cx="4826000" cy="406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2680"/>
              </a:lnSpc>
            </a:pPr>
            <a:r>
              <a:rPr sz="38000" b="0" spc="-1140">
                <a:solidFill>
                  <a:srgbClr val="0B0610"/>
                </a:solidFill>
                <a:latin typeface="Archivo Display"/>
                <a:ea typeface="Archivo Display"/>
                <a:cs typeface="Archivo Display"/>
              </a:rPr>
              <a:t>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5000" y="4953000"/>
            <a:ext cx="6481167" cy="4819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CHECKOUT CASHIERS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000" y="5473700"/>
            <a:ext cx="5490283" cy="238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25"/>
              </a:lnSpc>
            </a:pPr>
            <a:r>
              <a:rPr sz="1500" b="0" spc="210">
                <a:solidFill>
                  <a:srgbClr val="0B0610"/>
                </a:solidFill>
                <a:latin typeface="Archivo Label"/>
                <a:ea typeface="Archivo Label"/>
                <a:cs typeface="Archivo Label"/>
              </a:rPr>
              <a:t>MULTIPLE IMTIAZ BRANCHES · KARACHI</a:t>
            </a:r>
          </a:p>
        </p:txBody>
      </p:sp>
      <p:sp>
        <p:nvSpPr>
          <p:cNvPr id="58" name="Sticker"/>
          <p:cNvSpPr/>
          <p:nvPr/>
        </p:nvSpPr>
        <p:spPr>
          <a:xfrm rot="21420000">
            <a:off x="5715000" y="1270000"/>
            <a:ext cx="4207673" cy="507682"/>
          </a:xfrm>
          <a:prstGeom prst="rect">
            <a:avLst/>
          </a:prstGeom>
          <a:solidFill>
            <a:srgbClr val="0B0610"/>
          </a:solidFill>
          <a:ln w="31750">
            <a:solidFill>
              <a:srgbClr val="0B0610"/>
            </a:solidFill>
            <a:round/>
          </a:ln>
          <a:effectLst>
            <a:outerShdw blurRad="0" dist="80822" dir="2700000" algn="tl" rotWithShape="0">
              <a:srgbClr val="0B061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100" tIns="25400" rIns="165100" bIns="25400">
            <a:noAutofit/>
          </a:bodyPr>
          <a:lstStyle/>
          <a:p>
            <a:pPr algn="l">
              <a:lnSpc>
                <a:spcPts val="1897"/>
              </a:lnSpc>
            </a:pPr>
            <a:r>
              <a:rPr sz="1650" b="0" spc="66">
                <a:solidFill>
                  <a:srgbClr val="F4ECDD"/>
                </a:solidFill>
                <a:latin typeface="Archivo Label"/>
                <a:ea typeface="Archivo Label"/>
                <a:cs typeface="Archivo Label"/>
              </a:rPr>
              <a:t>INTERVIEWER-ADMINISTERED</a:t>
            </a:r>
          </a:p>
        </p:txBody>
      </p:sp>
      <p:sp>
        <p:nvSpPr>
          <p:cNvPr id="59" name="Sticker"/>
          <p:cNvSpPr/>
          <p:nvPr/>
        </p:nvSpPr>
        <p:spPr>
          <a:xfrm rot="120000">
            <a:off x="5905500" y="2222500"/>
            <a:ext cx="5388955" cy="507682"/>
          </a:xfrm>
          <a:prstGeom prst="rect">
            <a:avLst/>
          </a:prstGeom>
          <a:solidFill>
            <a:srgbClr val="FF2E88"/>
          </a:solidFill>
          <a:ln w="31750">
            <a:solidFill>
              <a:srgbClr val="0B0610"/>
            </a:solidFill>
            <a:round/>
          </a:ln>
          <a:effectLst>
            <a:outerShdw blurRad="0" dist="80822" dir="2700000" algn="tl" rotWithShape="0">
              <a:srgbClr val="0B061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100" tIns="25400" rIns="165100" bIns="25400">
            <a:noAutofit/>
          </a:bodyPr>
          <a:lstStyle/>
          <a:p>
            <a:pPr algn="l">
              <a:lnSpc>
                <a:spcPts val="1897"/>
              </a:lnSpc>
            </a:pPr>
            <a:r>
              <a:rPr sz="1650" b="0" spc="66">
                <a:solidFill>
                  <a:srgbClr val="0B0610"/>
                </a:solidFill>
                <a:latin typeface="Archivo Label"/>
                <a:ea typeface="Archivo Label"/>
                <a:cs typeface="Archivo Label"/>
              </a:rPr>
              <a:t>QUESTIONS READ ALOUD &amp; EXPLAINED</a:t>
            </a:r>
          </a:p>
        </p:txBody>
      </p:sp>
      <p:sp>
        <p:nvSpPr>
          <p:cNvPr id="60" name="Sticker"/>
          <p:cNvSpPr/>
          <p:nvPr/>
        </p:nvSpPr>
        <p:spPr>
          <a:xfrm rot="21480000">
            <a:off x="5778500" y="3175000"/>
            <a:ext cx="3928027" cy="507682"/>
          </a:xfrm>
          <a:prstGeom prst="rect">
            <a:avLst/>
          </a:prstGeom>
          <a:solidFill>
            <a:srgbClr val="FBF8F1"/>
          </a:solidFill>
          <a:ln w="31750">
            <a:solidFill>
              <a:srgbClr val="0B0610"/>
            </a:solidFill>
            <a:round/>
          </a:ln>
          <a:effectLst>
            <a:outerShdw blurRad="0" dist="80822" dir="2700000" algn="tl" rotWithShape="0">
              <a:srgbClr val="0B061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100" tIns="25400" rIns="165100" bIns="25400">
            <a:noAutofit/>
          </a:bodyPr>
          <a:lstStyle/>
          <a:p>
            <a:pPr algn="l">
              <a:lnSpc>
                <a:spcPts val="1897"/>
              </a:lnSpc>
            </a:pPr>
            <a:r>
              <a:rPr sz="1650" b="0" spc="66">
                <a:solidFill>
                  <a:srgbClr val="0B0610"/>
                </a:solidFill>
                <a:latin typeface="Archivo Label"/>
                <a:ea typeface="Archivo Label"/>
                <a:cs typeface="Archivo Label"/>
              </a:rPr>
              <a:t>VOLUNTARY PARTICIPATION</a:t>
            </a:r>
          </a:p>
        </p:txBody>
      </p:sp>
      <p:sp>
        <p:nvSpPr>
          <p:cNvPr id="61" name="Sticker"/>
          <p:cNvSpPr/>
          <p:nvPr/>
        </p:nvSpPr>
        <p:spPr>
          <a:xfrm rot="90000">
            <a:off x="5588000" y="4127500"/>
            <a:ext cx="5726490" cy="507682"/>
          </a:xfrm>
          <a:prstGeom prst="rect">
            <a:avLst/>
          </a:prstGeom>
          <a:solidFill>
            <a:srgbClr val="F4ECDD"/>
          </a:solidFill>
          <a:ln w="31750">
            <a:solidFill>
              <a:srgbClr val="0B0610"/>
            </a:solidFill>
            <a:round/>
          </a:ln>
          <a:effectLst>
            <a:outerShdw blurRad="0" dist="80822" dir="2700000" algn="tl" rotWithShape="0">
              <a:srgbClr val="0B061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100" tIns="25400" rIns="165100" bIns="25400">
            <a:noAutofit/>
          </a:bodyPr>
          <a:lstStyle/>
          <a:p>
            <a:pPr algn="l">
              <a:lnSpc>
                <a:spcPts val="1897"/>
              </a:lnSpc>
            </a:pPr>
            <a:r>
              <a:rPr sz="1650" b="0" spc="66">
                <a:solidFill>
                  <a:srgbClr val="0B0610"/>
                </a:solidFill>
                <a:latin typeface="Archivo Label"/>
                <a:ea typeface="Archivo Label"/>
                <a:cs typeface="Archivo Label"/>
              </a:rPr>
              <a:t>NO NAMES · NO IDs · NO PHONE NUMBERS</a:t>
            </a:r>
          </a:p>
        </p:txBody>
      </p:sp>
      <p:sp>
        <p:nvSpPr>
          <p:cNvPr id="62" name="Sticker"/>
          <p:cNvSpPr/>
          <p:nvPr/>
        </p:nvSpPr>
        <p:spPr>
          <a:xfrm rot="21450000">
            <a:off x="6032500" y="5143500"/>
            <a:ext cx="4865981" cy="507682"/>
          </a:xfrm>
          <a:prstGeom prst="rect">
            <a:avLst/>
          </a:prstGeom>
          <a:solidFill>
            <a:srgbClr val="3D6BFF"/>
          </a:solidFill>
          <a:ln w="31750">
            <a:solidFill>
              <a:srgbClr val="0B0610"/>
            </a:solidFill>
            <a:round/>
          </a:ln>
          <a:effectLst>
            <a:outerShdw blurRad="0" dist="80822" dir="2700000" algn="tl" rotWithShape="0">
              <a:srgbClr val="0B061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5100" tIns="25400" rIns="165100" bIns="25400">
            <a:noAutofit/>
          </a:bodyPr>
          <a:lstStyle/>
          <a:p>
            <a:pPr algn="l">
              <a:lnSpc>
                <a:spcPts val="1897"/>
              </a:lnSpc>
            </a:pPr>
            <a:r>
              <a:rPr sz="1650" b="0" spc="66">
                <a:solidFill>
                  <a:srgbClr val="FBF8F1"/>
                </a:solidFill>
                <a:latin typeface="Archivo Label"/>
                <a:ea typeface="Archivo Label"/>
                <a:cs typeface="Archivo Label"/>
              </a:rPr>
              <a:t>SMALL CROSS-SECTIONAL SAMPLE</a:t>
            </a:r>
          </a:p>
        </p:txBody>
      </p:sp>
      <p:sp>
        <p:nvSpPr>
          <p:cNvPr id="63" name="Marker note"/>
          <p:cNvSpPr txBox="1"/>
          <p:nvPr/>
        </p:nvSpPr>
        <p:spPr>
          <a:xfrm rot="21360000">
            <a:off x="8636000" y="6064250"/>
            <a:ext cx="3302000" cy="444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842"/>
              </a:lnSpc>
            </a:pPr>
            <a:r>
              <a:rPr sz="2900" b="0">
                <a:solidFill>
                  <a:srgbClr val="0B0610"/>
                </a:solidFill>
                <a:latin typeface="Caveat Brush"/>
                <a:ea typeface="Caveat Brush"/>
                <a:cs typeface="Caveat Brush"/>
              </a:rPr>
              <a:t>every one read aloud </a:t>
            </a:r>
            <a:r>
              <a:rPr sz="2300" b="0">
                <a:solidFill>
                  <a:srgbClr val="0B0610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D1243"/>
            </a:gs>
            <a:gs pos="52000">
              <a:srgbClr val="1C0A29"/>
            </a:gs>
            <a:gs pos="100000">
              <a:srgbClr val="0B0610"/>
            </a:gs>
          </a:gsLst>
          <a:path path="circle">
            <a:fillToRect l="50000" t="38000" r="50000" b="62000"/>
          </a:path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 A07 (bag rail, duotone)" descr="a07_pl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d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0610">
                  <a:alpha val="15000"/>
                </a:srgbClr>
              </a:gs>
              <a:gs pos="45000">
                <a:srgbClr val="0B0610">
                  <a:alpha val="55000"/>
                </a:srgbClr>
              </a:gs>
              <a:gs pos="100000">
                <a:srgbClr val="0B0610">
                  <a:alpha val="88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Texture: film grain" descr="grain.png"/>
          <p:cNvPicPr>
            <a:picLocks noChangeAspect="1" noSel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II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INVESTIGATE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500" y="698500"/>
            <a:ext cx="8479433" cy="673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784"/>
              </a:lnSpc>
            </a:pPr>
            <a:r>
              <a:rPr sz="5200" b="0">
                <a:solidFill>
                  <a:srgbClr val="F4ECDD"/>
                </a:solidFill>
                <a:effectLst>
                  <a:outerShdw blurRad="0" dist="50800" dir="5400000" algn="tl" rotWithShape="0">
                    <a:srgbClr val="000000">
                      <a:alpha val="40000"/>
                    </a:srgbClr>
                  </a:outerShdw>
                </a:effectLst>
                <a:latin typeface="Archivo Condensed"/>
                <a:ea typeface="Archivo Condensed"/>
                <a:cs typeface="Archivo Condensed"/>
              </a:rPr>
              <a:t>FIVE JOB CHARACTERISTICS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1409700"/>
            <a:ext cx="5318077" cy="2228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sz="1300" b="0">
                <a:solidFill>
                  <a:srgbClr val="D1CABE"/>
                </a:solidFill>
                <a:latin typeface="JetBrains Mono"/>
                <a:ea typeface="JetBrains Mono"/>
                <a:cs typeface="JetBrains Mono"/>
              </a:rPr>
              <a:t>Job Characteristics Model · Hackman &amp; Oldham (1976)</a:t>
            </a:r>
          </a:p>
        </p:txBody>
      </p:sp>
      <p:sp>
        <p:nvSpPr>
          <p:cNvPr id="8" name="!!objSV hook"/>
          <p:cNvSpPr/>
          <p:nvPr/>
        </p:nvSpPr>
        <p:spPr>
          <a:xfrm>
            <a:off x="1574800" y="2279650"/>
            <a:ext cx="25400" cy="508000"/>
          </a:xfrm>
          <a:prstGeom prst="rect">
            <a:avLst/>
          </a:prstGeom>
          <a:solidFill>
            <a:srgbClr val="F4ECDD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!!objSV" descr="obj_s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" y="2834019"/>
            <a:ext cx="1714500" cy="1189963"/>
          </a:xfrm>
          <a:prstGeom prst="rect">
            <a:avLst/>
          </a:prstGeom>
        </p:spPr>
      </p:pic>
      <p:sp>
        <p:nvSpPr>
          <p:cNvPr id="10" name="!!objTI hook"/>
          <p:cNvSpPr/>
          <p:nvPr/>
        </p:nvSpPr>
        <p:spPr>
          <a:xfrm>
            <a:off x="3797300" y="2279650"/>
            <a:ext cx="25400" cy="508000"/>
          </a:xfrm>
          <a:prstGeom prst="rect">
            <a:avLst/>
          </a:prstGeom>
          <a:solidFill>
            <a:srgbClr val="F4ECDD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!!objTI" descr="obj_t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2750" y="2907534"/>
            <a:ext cx="1714500" cy="1042932"/>
          </a:xfrm>
          <a:prstGeom prst="rect">
            <a:avLst/>
          </a:prstGeom>
        </p:spPr>
      </p:pic>
      <p:sp>
        <p:nvSpPr>
          <p:cNvPr id="12" name="!!objTS hook"/>
          <p:cNvSpPr/>
          <p:nvPr/>
        </p:nvSpPr>
        <p:spPr>
          <a:xfrm>
            <a:off x="6083300" y="2279650"/>
            <a:ext cx="25400" cy="508000"/>
          </a:xfrm>
          <a:prstGeom prst="rect">
            <a:avLst/>
          </a:prstGeom>
          <a:solidFill>
            <a:srgbClr val="F4ECDD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!!objTS" descr="obj_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2858" y="2571750"/>
            <a:ext cx="1386283" cy="1714500"/>
          </a:xfrm>
          <a:prstGeom prst="rect">
            <a:avLst/>
          </a:prstGeom>
        </p:spPr>
      </p:pic>
      <p:sp>
        <p:nvSpPr>
          <p:cNvPr id="14" name="!!objAU hook"/>
          <p:cNvSpPr/>
          <p:nvPr/>
        </p:nvSpPr>
        <p:spPr>
          <a:xfrm>
            <a:off x="8369300" y="2279650"/>
            <a:ext cx="25400" cy="508000"/>
          </a:xfrm>
          <a:prstGeom prst="rect">
            <a:avLst/>
          </a:prstGeom>
          <a:solidFill>
            <a:srgbClr val="F4ECDD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!!objAU" descr="obj_a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0" y="2800573"/>
            <a:ext cx="1714500" cy="1256854"/>
          </a:xfrm>
          <a:prstGeom prst="rect">
            <a:avLst/>
          </a:prstGeom>
        </p:spPr>
      </p:pic>
      <p:sp>
        <p:nvSpPr>
          <p:cNvPr id="16" name="!!objFB hook"/>
          <p:cNvSpPr/>
          <p:nvPr/>
        </p:nvSpPr>
        <p:spPr>
          <a:xfrm>
            <a:off x="10591800" y="2279650"/>
            <a:ext cx="25400" cy="508000"/>
          </a:xfrm>
          <a:prstGeom prst="rect">
            <a:avLst/>
          </a:prstGeom>
          <a:solidFill>
            <a:srgbClr val="F4ECDD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!!objFB" descr="obj_f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47250" y="2828709"/>
            <a:ext cx="1714500" cy="1200582"/>
          </a:xfrm>
          <a:prstGeom prst="rect">
            <a:avLst/>
          </a:prstGeom>
        </p:spPr>
      </p:pic>
      <p:sp>
        <p:nvSpPr>
          <p:cNvPr id="18" name="Label SV"/>
          <p:cNvSpPr txBox="1"/>
          <p:nvPr/>
        </p:nvSpPr>
        <p:spPr>
          <a:xfrm>
            <a:off x="476250" y="4476750"/>
            <a:ext cx="22225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  <a:p>
            <a:pPr algn="ctr">
              <a:lnSpc>
                <a:spcPts val="1900"/>
              </a:lnSpc>
            </a:pPr>
            <a:r>
              <a:rPr sz="17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SKILL</a:t>
            </a:r>
          </a:p>
          <a:p>
            <a:pPr algn="ctr">
              <a:lnSpc>
                <a:spcPts val="1900"/>
              </a:lnSpc>
            </a:pPr>
            <a:r>
              <a:rPr sz="17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VARIETY</a:t>
            </a:r>
          </a:p>
        </p:txBody>
      </p:sp>
      <p:sp>
        <p:nvSpPr>
          <p:cNvPr id="19" name="Label TI"/>
          <p:cNvSpPr txBox="1"/>
          <p:nvPr/>
        </p:nvSpPr>
        <p:spPr>
          <a:xfrm>
            <a:off x="2698750" y="4476750"/>
            <a:ext cx="22225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  <a:p>
            <a:pPr algn="ctr">
              <a:lnSpc>
                <a:spcPts val="1900"/>
              </a:lnSpc>
            </a:pPr>
            <a:r>
              <a:rPr sz="17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TASK</a:t>
            </a:r>
          </a:p>
          <a:p>
            <a:pPr algn="ctr">
              <a:lnSpc>
                <a:spcPts val="1900"/>
              </a:lnSpc>
            </a:pPr>
            <a:r>
              <a:rPr sz="17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IDENTITY</a:t>
            </a:r>
          </a:p>
        </p:txBody>
      </p:sp>
      <p:sp>
        <p:nvSpPr>
          <p:cNvPr id="20" name="Label TS"/>
          <p:cNvSpPr txBox="1"/>
          <p:nvPr/>
        </p:nvSpPr>
        <p:spPr>
          <a:xfrm>
            <a:off x="4984750" y="4476750"/>
            <a:ext cx="22225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  <a:p>
            <a:pPr algn="ctr">
              <a:lnSpc>
                <a:spcPts val="1900"/>
              </a:lnSpc>
            </a:pPr>
            <a:r>
              <a:rPr sz="17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TASK</a:t>
            </a:r>
          </a:p>
          <a:p>
            <a:pPr algn="ctr">
              <a:lnSpc>
                <a:spcPts val="1900"/>
              </a:lnSpc>
            </a:pPr>
            <a:r>
              <a:rPr sz="17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SIGNIFICANCE</a:t>
            </a:r>
          </a:p>
        </p:txBody>
      </p:sp>
      <p:sp>
        <p:nvSpPr>
          <p:cNvPr id="21" name="Label AU"/>
          <p:cNvSpPr txBox="1"/>
          <p:nvPr/>
        </p:nvSpPr>
        <p:spPr>
          <a:xfrm>
            <a:off x="7270750" y="4476750"/>
            <a:ext cx="22225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  <a:p>
            <a:pPr algn="ctr">
              <a:lnSpc>
                <a:spcPts val="1900"/>
              </a:lnSpc>
            </a:pPr>
            <a:r>
              <a:rPr sz="17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AUTONOMY</a:t>
            </a:r>
          </a:p>
        </p:txBody>
      </p:sp>
      <p:sp>
        <p:nvSpPr>
          <p:cNvPr id="22" name="Label FB"/>
          <p:cNvSpPr txBox="1"/>
          <p:nvPr/>
        </p:nvSpPr>
        <p:spPr>
          <a:xfrm>
            <a:off x="9493250" y="4476750"/>
            <a:ext cx="222250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  <a:p>
            <a:pPr algn="ctr">
              <a:lnSpc>
                <a:spcPts val="1900"/>
              </a:lnSpc>
            </a:pPr>
            <a:r>
              <a:rPr sz="17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FEEDBACK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30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 A09 (stamp)" descr="a09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hoto d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610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Kraft note"/>
          <p:cNvSpPr/>
          <p:nvPr/>
        </p:nvSpPr>
        <p:spPr>
          <a:xfrm rot="21420000">
            <a:off x="3556000" y="1587500"/>
            <a:ext cx="5207000" cy="2667000"/>
          </a:xfrm>
          <a:prstGeom prst="rect">
            <a:avLst/>
          </a:prstGeom>
          <a:solidFill>
            <a:srgbClr val="B88A55"/>
          </a:solidFill>
          <a:ln>
            <a:noFill/>
          </a:ln>
          <a:effectLst>
            <a:outerShdw blurRad="0" dist="109249" dir="3267739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Assumption (handwritten)"/>
          <p:cNvSpPr txBox="1"/>
          <p:nvPr/>
        </p:nvSpPr>
        <p:spPr>
          <a:xfrm rot="21420000">
            <a:off x="3810000" y="1809750"/>
            <a:ext cx="4826000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sz="1300" b="1" spc="182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THE EASY ASSUMPTION</a:t>
            </a:r>
          </a:p>
          <a:p>
            <a:pPr algn="l">
              <a:lnSpc>
                <a:spcPts val="5600"/>
              </a:lnSpc>
              <a:spcBef>
                <a:spcPts val="1200"/>
              </a:spcBef>
            </a:pPr>
            <a:r>
              <a:rPr sz="5900" b="0">
                <a:solidFill>
                  <a:srgbClr val="0B0610"/>
                </a:solidFill>
                <a:latin typeface="Caveat Brush"/>
                <a:ea typeface="Caveat Brush"/>
                <a:cs typeface="Caveat Brush"/>
              </a:rPr>
              <a:t>repetitive </a:t>
            </a:r>
            <a:r>
              <a:rPr sz="4500" b="0">
                <a:solidFill>
                  <a:srgbClr val="0B0610"/>
                </a:solidFill>
                <a:latin typeface="Arial"/>
                <a:ea typeface="Arial"/>
                <a:cs typeface="Arial"/>
              </a:rPr>
              <a:t>→</a:t>
            </a:r>
          </a:p>
          <a:p>
            <a:pPr algn="l">
              <a:lnSpc>
                <a:spcPts val="5600"/>
              </a:lnSpc>
            </a:pPr>
            <a:r>
              <a:rPr sz="5900" b="0">
                <a:solidFill>
                  <a:srgbClr val="0B0610"/>
                </a:solidFill>
                <a:latin typeface="Caveat Brush"/>
                <a:ea typeface="Caveat Brush"/>
                <a:cs typeface="Caveat Brush"/>
              </a:rPr>
              <a:t>    job rotation!</a:t>
            </a:r>
          </a:p>
        </p:txBody>
      </p:sp>
      <p:sp>
        <p:nvSpPr>
          <p:cNvPr id="6" name="Tape"/>
          <p:cNvSpPr/>
          <p:nvPr/>
        </p:nvSpPr>
        <p:spPr>
          <a:xfrm rot="20880000">
            <a:off x="3810000" y="1447800"/>
            <a:ext cx="1079500" cy="292100"/>
          </a:xfrm>
          <a:prstGeom prst="rect">
            <a:avLst/>
          </a:prstGeom>
          <a:solidFill>
            <a:srgbClr val="F0E4C8">
              <a:alpha val="85000"/>
            </a:srgbClr>
          </a:solidFill>
          <a:ln>
            <a:noFill/>
          </a:ln>
          <a:effectLst>
            <a:outerShdw blurRad="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ape"/>
          <p:cNvSpPr/>
          <p:nvPr/>
        </p:nvSpPr>
        <p:spPr>
          <a:xfrm rot="540000">
            <a:off x="7810500" y="1524000"/>
            <a:ext cx="1079500" cy="292100"/>
          </a:xfrm>
          <a:prstGeom prst="rect">
            <a:avLst/>
          </a:prstGeom>
          <a:solidFill>
            <a:srgbClr val="F0E4C8">
              <a:alpha val="85000"/>
            </a:srgbClr>
          </a:solidFill>
          <a:ln>
            <a:noFill/>
          </a:ln>
          <a:effectLst>
            <a:outerShdw blurRad="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ike"/>
          <p:cNvSpPr/>
          <p:nvPr/>
        </p:nvSpPr>
        <p:spPr>
          <a:xfrm>
            <a:off x="3810000" y="2603500"/>
            <a:ext cx="4699000" cy="698500"/>
          </a:xfrm>
          <a:custGeom>
            <a:avLst/>
            <a:gdLst/>
            <a:ahLst/>
            <a:cxnLst/>
            <a:rect l="l" t="t" r="r" b="b"/>
            <a:pathLst>
              <a:path w="4699000" h="698500">
                <a:moveTo>
                  <a:pt x="0" y="698500"/>
                </a:moveTo>
                <a:lnTo>
                  <a:pt x="584922" y="594683"/>
                </a:lnTo>
                <a:lnTo>
                  <a:pt x="1175223" y="527058"/>
                </a:lnTo>
                <a:lnTo>
                  <a:pt x="1765614" y="460032"/>
                </a:lnTo>
                <a:lnTo>
                  <a:pt x="2352104" y="366769"/>
                </a:lnTo>
                <a:lnTo>
                  <a:pt x="2935787" y="254619"/>
                </a:lnTo>
                <a:lnTo>
                  <a:pt x="3527657" y="197547"/>
                </a:lnTo>
                <a:lnTo>
                  <a:pt x="4112903" y="95907"/>
                </a:lnTo>
                <a:lnTo>
                  <a:pt x="4699000" y="0"/>
                </a:lnTo>
              </a:path>
            </a:pathLst>
          </a:custGeom>
          <a:noFill/>
          <a:ln w="10160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mp"/>
          <p:cNvSpPr/>
          <p:nvPr/>
        </p:nvSpPr>
        <p:spPr>
          <a:xfrm rot="21180000">
            <a:off x="3810000" y="4064000"/>
            <a:ext cx="6772315" cy="774700"/>
          </a:xfrm>
          <a:prstGeom prst="roundRect">
            <a:avLst>
              <a:gd name="adj" fmla="val 13114"/>
            </a:avLst>
          </a:prstGeom>
          <a:noFill/>
          <a:ln w="63500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0800" rIns="190500" bIns="38100">
            <a:noAutofit/>
          </a:bodyPr>
          <a:lstStyle/>
          <a:p>
            <a:pPr algn="ctr">
              <a:lnSpc>
                <a:spcPts val="4200"/>
              </a:lnSpc>
            </a:pPr>
            <a:r>
              <a:rPr sz="4200" b="0" spc="84">
                <a:solidFill>
                  <a:srgbClr val="FF2E88"/>
                </a:solidFill>
                <a:latin typeface="Archivo Condensed"/>
                <a:ea typeface="Archivo Condensed"/>
                <a:cs typeface="Archivo Condensed"/>
              </a:rPr>
              <a:t>THEORY BEFORE PROBLEM</a:t>
            </a:r>
          </a:p>
        </p:txBody>
      </p:sp>
      <p:sp>
        <p:nvSpPr>
          <p:cNvPr id="10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II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INVESTIGATE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D1243"/>
            </a:gs>
            <a:gs pos="52000">
              <a:srgbClr val="1C0A29"/>
            </a:gs>
            <a:gs pos="100000">
              <a:srgbClr val="0B0610"/>
            </a:gs>
          </a:gsLst>
          <a:path path="circle">
            <a:fillToRect l="50000" t="38000" r="50000" b="62000"/>
          </a:path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Texture: film grain" descr="grain.png"/>
          <p:cNvPicPr>
            <a:picLocks noChangeAspect="1" noSel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II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INVESTIGATE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79500"/>
            <a:ext cx="10285690" cy="14325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105"/>
              </a:lnSpc>
            </a:pPr>
            <a:r>
              <a:rPr sz="11750" b="0">
                <a:solidFill>
                  <a:srgbClr val="F4ECDD"/>
                </a:solidFill>
                <a:latin typeface="Archivo Display"/>
                <a:ea typeface="Archivo Display"/>
                <a:cs typeface="Archivo Display"/>
              </a:rPr>
              <a:t>DIAGNOSE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42129" y="3810000"/>
            <a:ext cx="11572129" cy="14325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0105"/>
              </a:lnSpc>
            </a:pPr>
            <a:r>
              <a:rPr sz="11750" b="0">
                <a:solidFill>
                  <a:srgbClr val="FF2E88"/>
                </a:solidFill>
                <a:latin typeface="Archivo Display"/>
                <a:ea typeface="Archivo Display"/>
                <a:cs typeface="Archivo Display"/>
              </a:rPr>
              <a:t>REDESIGN SECOND.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D1243"/>
            </a:gs>
            <a:gs pos="52000">
              <a:srgbClr val="1C0A29"/>
            </a:gs>
            <a:gs pos="100000">
              <a:srgbClr val="0B0610"/>
            </a:gs>
          </a:gsLst>
          <a:path path="circle">
            <a:fillToRect l="50000" t="38000" r="50000" b="62000"/>
          </a:path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Texture: film grain" descr="grain.png"/>
          <p:cNvPicPr>
            <a:picLocks noChangeAspect="1" noSel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III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REVEAL</a:t>
            </a:r>
          </a:p>
        </p:txBody>
      </p:sp>
      <p:pic>
        <p:nvPicPr>
          <p:cNvPr id="4" name="Photo frame a08" descr="a08.jpg"/>
          <p:cNvPicPr>
            <a:picLocks noChangeAspect="1"/>
          </p:cNvPicPr>
          <p:nvPr/>
        </p:nvPicPr>
        <p:blipFill>
          <a:blip r:embed="rId3"/>
          <a:srcRect t="2222" b="2222"/>
          <a:stretch>
            <a:fillRect/>
          </a:stretch>
        </p:blipFill>
        <p:spPr>
          <a:xfrm rot="21450000">
            <a:off x="635000" y="762000"/>
            <a:ext cx="5080000" cy="2730500"/>
          </a:xfrm>
          <a:prstGeom prst="rect">
            <a:avLst/>
          </a:prstGeom>
          <a:ln w="101600">
            <a:solidFill>
              <a:srgbClr val="FBF8F1"/>
            </a:solidFill>
            <a:round/>
          </a:ln>
          <a:effectLst>
            <a:outerShdw blurRad="0" dist="144802" dir="3127500" algn="tl" rotWithShape="0">
              <a:srgbClr val="000000">
                <a:alpha val="55000"/>
              </a:srgbClr>
            </a:outerShdw>
          </a:effectLst>
        </p:spPr>
      </p:pic>
      <p:pic>
        <p:nvPicPr>
          <p:cNvPr id="5" name="Photo frame a06" descr="a06.jpg"/>
          <p:cNvPicPr>
            <a:picLocks noChangeAspect="1"/>
          </p:cNvPicPr>
          <p:nvPr/>
        </p:nvPicPr>
        <p:blipFill>
          <a:blip r:embed="rId4"/>
          <a:srcRect t="1556" b="2889"/>
          <a:stretch>
            <a:fillRect/>
          </a:stretch>
        </p:blipFill>
        <p:spPr>
          <a:xfrm rot="120000">
            <a:off x="6413500" y="666750"/>
            <a:ext cx="5080000" cy="2730500"/>
          </a:xfrm>
          <a:prstGeom prst="rect">
            <a:avLst/>
          </a:prstGeom>
          <a:ln w="101600">
            <a:solidFill>
              <a:srgbClr val="FBF8F1"/>
            </a:solidFill>
            <a:round/>
          </a:ln>
          <a:effectLst>
            <a:outerShdw blurRad="0" dist="144802" dir="3127500" algn="tl" rotWithShape="0">
              <a:srgbClr val="000000">
                <a:alpha val="55000"/>
              </a:srgbClr>
            </a:outerShdw>
          </a:effectLst>
        </p:spPr>
      </p:pic>
      <p:sp>
        <p:nvSpPr>
          <p:cNvPr id="6" name="Lower third"/>
          <p:cNvSpPr/>
          <p:nvPr/>
        </p:nvSpPr>
        <p:spPr>
          <a:xfrm>
            <a:off x="609600" y="609600"/>
            <a:ext cx="3376275" cy="243840"/>
          </a:xfrm>
          <a:prstGeom prst="rect">
            <a:avLst/>
          </a:prstGeom>
          <a:solidFill>
            <a:srgbClr val="0B0610"/>
          </a:solidFill>
          <a:ln>
            <a:noFill/>
          </a:ln>
          <a:effectLst>
            <a:outerShdw blurRad="0" dist="53881" dir="2700000" algn="tl" rotWithShape="0">
              <a:srgbClr val="0B061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tIns="12700" rIns="63500" bIns="12700">
            <a:noAutofit/>
          </a:bodyPr>
          <a:lstStyle/>
          <a:p>
            <a:pPr algn="l">
              <a:lnSpc>
                <a:spcPts val="1375"/>
              </a:lnSpc>
            </a:pPr>
            <a:r>
              <a:rPr sz="1100" b="1" spc="154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MONEY · ACCURACY · THE CUSTOMER</a:t>
            </a:r>
          </a:p>
        </p:txBody>
      </p:sp>
      <p:sp>
        <p:nvSpPr>
          <p:cNvPr id="7" name="Lower third"/>
          <p:cNvSpPr/>
          <p:nvPr/>
        </p:nvSpPr>
        <p:spPr>
          <a:xfrm>
            <a:off x="609600" y="891540"/>
            <a:ext cx="2393355" cy="335280"/>
          </a:xfrm>
          <a:prstGeom prst="rect">
            <a:avLst/>
          </a:prstGeom>
          <a:solidFill>
            <a:srgbClr val="FFD23F"/>
          </a:solidFill>
          <a:ln>
            <a:noFill/>
          </a:ln>
          <a:effectLst>
            <a:outerShdw blurRad="0" dist="53881" dir="2700000" algn="tl" rotWithShape="0">
              <a:srgbClr val="0B061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tIns="12700" rIns="63500" bIns="12700">
            <a:noAutofit/>
          </a:bodyPr>
          <a:lstStyle/>
          <a:p>
            <a:pPr algn="l">
              <a:lnSpc>
                <a:spcPts val="2125"/>
              </a:lnSpc>
            </a:pPr>
            <a:r>
              <a:rPr sz="17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Task Significance</a:t>
            </a:r>
          </a:p>
        </p:txBody>
      </p:sp>
      <p:sp>
        <p:nvSpPr>
          <p:cNvPr id="8" name="Lower third"/>
          <p:cNvSpPr/>
          <p:nvPr/>
        </p:nvSpPr>
        <p:spPr>
          <a:xfrm>
            <a:off x="6540500" y="508000"/>
            <a:ext cx="1618512" cy="243840"/>
          </a:xfrm>
          <a:prstGeom prst="rect">
            <a:avLst/>
          </a:prstGeom>
          <a:solidFill>
            <a:srgbClr val="0B0610"/>
          </a:solidFill>
          <a:ln>
            <a:noFill/>
          </a:ln>
          <a:effectLst>
            <a:outerShdw blurRad="0" dist="53881" dir="2700000" algn="tl" rotWithShape="0">
              <a:srgbClr val="0B061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tIns="12700" rIns="63500" bIns="12700">
            <a:noAutofit/>
          </a:bodyPr>
          <a:lstStyle/>
          <a:p>
            <a:pPr algn="l">
              <a:lnSpc>
                <a:spcPts val="1375"/>
              </a:lnSpc>
            </a:pPr>
            <a:r>
              <a:rPr sz="1100" b="1" spc="154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START → FINISH</a:t>
            </a:r>
          </a:p>
        </p:txBody>
      </p:sp>
      <p:sp>
        <p:nvSpPr>
          <p:cNvPr id="9" name="Lower third"/>
          <p:cNvSpPr/>
          <p:nvPr/>
        </p:nvSpPr>
        <p:spPr>
          <a:xfrm>
            <a:off x="6540500" y="789940"/>
            <a:ext cx="1875036" cy="335280"/>
          </a:xfrm>
          <a:prstGeom prst="rect">
            <a:avLst/>
          </a:prstGeom>
          <a:solidFill>
            <a:srgbClr val="FFD23F"/>
          </a:solidFill>
          <a:ln>
            <a:noFill/>
          </a:ln>
          <a:effectLst>
            <a:outerShdw blurRad="0" dist="53881" dir="2700000" algn="tl" rotWithShape="0">
              <a:srgbClr val="0B061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tIns="12700" rIns="63500" bIns="12700">
            <a:noAutofit/>
          </a:bodyPr>
          <a:lstStyle/>
          <a:p>
            <a:pPr algn="l">
              <a:lnSpc>
                <a:spcPts val="2125"/>
              </a:lnSpc>
            </a:pPr>
            <a:r>
              <a:rPr sz="17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Task Identity</a:t>
            </a:r>
          </a:p>
        </p:txBody>
      </p:sp>
      <p:sp>
        <p:nvSpPr>
          <p:cNvPr id="10" name="Task Significance 4.09"/>
          <p:cNvSpPr txBox="1"/>
          <p:nvPr/>
        </p:nvSpPr>
        <p:spPr>
          <a:xfrm>
            <a:off x="825500" y="2032000"/>
            <a:ext cx="4445000" cy="177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900"/>
              </a:lnSpc>
            </a:pPr>
            <a:r>
              <a:rPr sz="15000" b="0">
                <a:solidFill>
                  <a:srgbClr val="F4ECDD"/>
                </a:solidFill>
                <a:effectLst>
                  <a:outerShdw blurRad="0" dist="76200" dir="5400000" algn="tl" rotWithShape="0">
                    <a:srgbClr val="000000">
                      <a:alpha val="55000"/>
                    </a:srgbClr>
                  </a:outerShdw>
                </a:effectLst>
                <a:latin typeface="Archivo Display"/>
                <a:ea typeface="Archivo Display"/>
                <a:cs typeface="Archivo Display"/>
              </a:rPr>
              <a:t>4.09</a:t>
            </a:r>
            <a:r>
              <a:rPr sz="2700" b="0">
                <a:solidFill>
                  <a:srgbClr val="D1CABE"/>
                </a:solidFill>
                <a:effectLst>
                  <a:outerShdw blurRad="0" dist="76200" dir="5400000" algn="tl" rotWithShape="0">
                    <a:srgbClr val="000000">
                      <a:alpha val="55000"/>
                    </a:srgbClr>
                  </a:outerShdw>
                </a:effectLst>
                <a:latin typeface="Archivo Expanded"/>
                <a:ea typeface="Archivo Expanded"/>
                <a:cs typeface="Archivo Expanded"/>
              </a:rPr>
              <a:t> / 5</a:t>
            </a:r>
          </a:p>
        </p:txBody>
      </p:sp>
      <p:sp>
        <p:nvSpPr>
          <p:cNvPr id="11" name="Task Identity 4.04"/>
          <p:cNvSpPr txBox="1"/>
          <p:nvPr/>
        </p:nvSpPr>
        <p:spPr>
          <a:xfrm>
            <a:off x="6667500" y="2032000"/>
            <a:ext cx="4445000" cy="177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900"/>
              </a:lnSpc>
            </a:pPr>
            <a:r>
              <a:rPr sz="15000" b="0">
                <a:solidFill>
                  <a:srgbClr val="F4ECDD"/>
                </a:solidFill>
                <a:effectLst>
                  <a:outerShdw blurRad="0" dist="76200" dir="5400000" algn="tl" rotWithShape="0">
                    <a:srgbClr val="000000">
                      <a:alpha val="55000"/>
                    </a:srgbClr>
                  </a:outerShdw>
                </a:effectLst>
                <a:latin typeface="Archivo Display"/>
                <a:ea typeface="Archivo Display"/>
                <a:cs typeface="Archivo Display"/>
              </a:rPr>
              <a:t>4.04</a:t>
            </a:r>
            <a:r>
              <a:rPr sz="2700" b="0">
                <a:solidFill>
                  <a:srgbClr val="D1CABE"/>
                </a:solidFill>
                <a:effectLst>
                  <a:outerShdw blurRad="0" dist="76200" dir="5400000" algn="tl" rotWithShape="0">
                    <a:srgbClr val="000000">
                      <a:alpha val="55000"/>
                    </a:srgbClr>
                  </a:outerShdw>
                </a:effectLst>
                <a:latin typeface="Archivo Expanded"/>
                <a:ea typeface="Archivo Expanded"/>
                <a:cs typeface="Archivo Expanded"/>
              </a:rPr>
              <a:t> / 5</a:t>
            </a:r>
          </a:p>
        </p:txBody>
      </p:sp>
      <p:sp>
        <p:nvSpPr>
          <p:cNvPr id="12" name="Transaction strip"/>
          <p:cNvSpPr/>
          <p:nvPr/>
        </p:nvSpPr>
        <p:spPr>
          <a:xfrm>
            <a:off x="952500" y="4064000"/>
            <a:ext cx="10287000" cy="749300"/>
          </a:xfrm>
          <a:prstGeom prst="rect">
            <a:avLst/>
          </a:prstGeom>
          <a:solidFill>
            <a:srgbClr val="F7F1E3"/>
          </a:solidFill>
          <a:ln>
            <a:noFill/>
          </a:ln>
          <a:effectLst>
            <a:outerShdw blurRad="0" dist="109249" dir="3267739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tep Customer Arrives"/>
          <p:cNvSpPr txBox="1"/>
          <p:nvPr/>
        </p:nvSpPr>
        <p:spPr>
          <a:xfrm>
            <a:off x="952500" y="4064000"/>
            <a:ext cx="2571750" cy="749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250"/>
              </a:lnSpc>
            </a:pPr>
            <a:r>
              <a:rPr sz="18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CUSTOMER ARRIVES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323" y="4292600"/>
            <a:ext cx="209855" cy="259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70"/>
              </a:lnSpc>
            </a:pPr>
            <a:r>
              <a:rPr sz="1700" b="0">
                <a:solidFill>
                  <a:srgbClr val="0B061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Divider"/>
          <p:cNvSpPr/>
          <p:nvPr/>
        </p:nvSpPr>
        <p:spPr>
          <a:xfrm>
            <a:off x="3524250" y="4127500"/>
            <a:ext cx="635" cy="622300"/>
          </a:xfrm>
          <a:prstGeom prst="rect">
            <a:avLst/>
          </a:prstGeom>
          <a:noFill/>
          <a:ln w="25400">
            <a:solidFill>
              <a:srgbClr val="0B0610">
                <a:alpha val="35000"/>
              </a:srgbClr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ep Scan"/>
          <p:cNvSpPr txBox="1"/>
          <p:nvPr/>
        </p:nvSpPr>
        <p:spPr>
          <a:xfrm>
            <a:off x="3524250" y="4064000"/>
            <a:ext cx="2571750" cy="749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250"/>
              </a:lnSpc>
            </a:pPr>
            <a:r>
              <a:rPr sz="18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SCAN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1073" y="4292600"/>
            <a:ext cx="209855" cy="259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70"/>
              </a:lnSpc>
            </a:pPr>
            <a:r>
              <a:rPr sz="1700" b="0">
                <a:solidFill>
                  <a:srgbClr val="0B061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Divider"/>
          <p:cNvSpPr/>
          <p:nvPr/>
        </p:nvSpPr>
        <p:spPr>
          <a:xfrm>
            <a:off x="6096000" y="4127500"/>
            <a:ext cx="635" cy="622300"/>
          </a:xfrm>
          <a:prstGeom prst="rect">
            <a:avLst/>
          </a:prstGeom>
          <a:noFill/>
          <a:ln w="25400">
            <a:solidFill>
              <a:srgbClr val="0B0610">
                <a:alpha val="35000"/>
              </a:srgbClr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Step Payment"/>
          <p:cNvSpPr txBox="1"/>
          <p:nvPr/>
        </p:nvSpPr>
        <p:spPr>
          <a:xfrm>
            <a:off x="6096000" y="4064000"/>
            <a:ext cx="2571750" cy="749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250"/>
              </a:lnSpc>
            </a:pPr>
            <a:r>
              <a:rPr sz="18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PAYMENT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2823" y="4292600"/>
            <a:ext cx="209855" cy="259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70"/>
              </a:lnSpc>
            </a:pPr>
            <a:r>
              <a:rPr sz="1700" b="0">
                <a:solidFill>
                  <a:srgbClr val="0B061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Divider"/>
          <p:cNvSpPr/>
          <p:nvPr/>
        </p:nvSpPr>
        <p:spPr>
          <a:xfrm>
            <a:off x="8667750" y="4127500"/>
            <a:ext cx="635" cy="622300"/>
          </a:xfrm>
          <a:prstGeom prst="rect">
            <a:avLst/>
          </a:prstGeom>
          <a:noFill/>
          <a:ln w="25400">
            <a:solidFill>
              <a:srgbClr val="0B0610">
                <a:alpha val="35000"/>
              </a:srgbClr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ep Complete"/>
          <p:cNvSpPr txBox="1"/>
          <p:nvPr/>
        </p:nvSpPr>
        <p:spPr>
          <a:xfrm>
            <a:off x="8667750" y="4064000"/>
            <a:ext cx="2571750" cy="749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250"/>
              </a:lnSpc>
            </a:pPr>
            <a:r>
              <a:rPr sz="18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COMPLETE</a:t>
            </a:r>
            <a:r>
              <a:rPr sz="1800" b="1">
                <a:solidFill>
                  <a:srgbClr val="3D6BFF"/>
                </a:solidFill>
                <a:latin typeface="Segoe UI Symbol"/>
                <a:ea typeface="Segoe UI Symbol"/>
                <a:cs typeface="Segoe UI Symbol"/>
              </a:rPr>
              <a:t>  ✓</a:t>
            </a:r>
          </a:p>
        </p:txBody>
      </p:sp>
      <p:sp>
        <p:nvSpPr>
          <p:cNvPr id="23" name="Marker ring"/>
          <p:cNvSpPr/>
          <p:nvPr/>
        </p:nvSpPr>
        <p:spPr>
          <a:xfrm>
            <a:off x="8778771" y="3997416"/>
            <a:ext cx="2550982" cy="898027"/>
          </a:xfrm>
          <a:custGeom>
            <a:avLst/>
            <a:gdLst/>
            <a:ahLst/>
            <a:cxnLst/>
            <a:rect l="l" t="t" r="r" b="b"/>
            <a:pathLst>
              <a:path w="2550982" h="898027">
                <a:moveTo>
                  <a:pt x="2405697" y="277192"/>
                </a:moveTo>
                <a:lnTo>
                  <a:pt x="2481546" y="387838"/>
                </a:lnTo>
                <a:lnTo>
                  <a:pt x="2550982" y="503968"/>
                </a:lnTo>
                <a:lnTo>
                  <a:pt x="2395839" y="609681"/>
                </a:lnTo>
                <a:lnTo>
                  <a:pt x="2260249" y="713704"/>
                </a:lnTo>
                <a:lnTo>
                  <a:pt x="2027724" y="795114"/>
                </a:lnTo>
                <a:lnTo>
                  <a:pt x="1740572" y="850193"/>
                </a:lnTo>
                <a:lnTo>
                  <a:pt x="1433231" y="898027"/>
                </a:lnTo>
                <a:lnTo>
                  <a:pt x="1101545" y="877742"/>
                </a:lnTo>
                <a:lnTo>
                  <a:pt x="788292" y="849565"/>
                </a:lnTo>
                <a:lnTo>
                  <a:pt x="471008" y="810286"/>
                </a:lnTo>
                <a:lnTo>
                  <a:pt x="228244" y="727316"/>
                </a:lnTo>
                <a:lnTo>
                  <a:pt x="91108" y="619700"/>
                </a:lnTo>
                <a:lnTo>
                  <a:pt x="0" y="508641"/>
                </a:lnTo>
                <a:lnTo>
                  <a:pt x="27062" y="394225"/>
                </a:lnTo>
                <a:lnTo>
                  <a:pt x="62584" y="278382"/>
                </a:lnTo>
                <a:lnTo>
                  <a:pt x="266213" y="186227"/>
                </a:lnTo>
                <a:lnTo>
                  <a:pt x="476179" y="98007"/>
                </a:lnTo>
                <a:lnTo>
                  <a:pt x="772390" y="48704"/>
                </a:lnTo>
                <a:lnTo>
                  <a:pt x="1077953" y="4002"/>
                </a:lnTo>
                <a:lnTo>
                  <a:pt x="1413098" y="0"/>
                </a:lnTo>
                <a:lnTo>
                  <a:pt x="1734728" y="33040"/>
                </a:lnTo>
                <a:lnTo>
                  <a:pt x="2016874" y="94410"/>
                </a:lnTo>
                <a:lnTo>
                  <a:pt x="2279714" y="167988"/>
                </a:lnTo>
                <a:lnTo>
                  <a:pt x="2393727" y="278964"/>
                </a:lnTo>
                <a:lnTo>
                  <a:pt x="2492628" y="387298"/>
                </a:lnTo>
                <a:lnTo>
                  <a:pt x="2505278" y="501981"/>
                </a:lnTo>
              </a:path>
            </a:pathLst>
          </a:custGeom>
          <a:noFill/>
          <a:ln w="444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uler"/>
          <p:cNvSpPr/>
          <p:nvPr/>
        </p:nvSpPr>
        <p:spPr>
          <a:xfrm>
            <a:off x="1016000" y="5588000"/>
            <a:ext cx="10160000" cy="38100"/>
          </a:xfrm>
          <a:prstGeom prst="rect">
            <a:avLst/>
          </a:prstGeom>
          <a:solidFill>
            <a:srgbClr val="F4ECDD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ick"/>
          <p:cNvSpPr/>
          <p:nvPr/>
        </p:nvSpPr>
        <p:spPr>
          <a:xfrm>
            <a:off x="996950" y="5511800"/>
            <a:ext cx="38100" cy="190500"/>
          </a:xfrm>
          <a:prstGeom prst="rect">
            <a:avLst/>
          </a:prstGeom>
          <a:solidFill>
            <a:srgbClr val="F4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8464" y="5746750"/>
            <a:ext cx="19507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75"/>
              </a:lnSpc>
            </a:pPr>
            <a:r>
              <a:rPr sz="15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1</a:t>
            </a:r>
          </a:p>
        </p:txBody>
      </p:sp>
      <p:sp>
        <p:nvSpPr>
          <p:cNvPr id="27" name="Tick"/>
          <p:cNvSpPr/>
          <p:nvPr/>
        </p:nvSpPr>
        <p:spPr>
          <a:xfrm>
            <a:off x="3536950" y="5511800"/>
            <a:ext cx="38100" cy="190500"/>
          </a:xfrm>
          <a:prstGeom prst="rect">
            <a:avLst/>
          </a:prstGeom>
          <a:solidFill>
            <a:srgbClr val="F4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58464" y="5746750"/>
            <a:ext cx="19507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75"/>
              </a:lnSpc>
            </a:pPr>
            <a:r>
              <a:rPr sz="15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2</a:t>
            </a:r>
          </a:p>
        </p:txBody>
      </p:sp>
      <p:sp>
        <p:nvSpPr>
          <p:cNvPr id="29" name="Tick"/>
          <p:cNvSpPr/>
          <p:nvPr/>
        </p:nvSpPr>
        <p:spPr>
          <a:xfrm>
            <a:off x="6076950" y="5511800"/>
            <a:ext cx="38100" cy="190500"/>
          </a:xfrm>
          <a:prstGeom prst="rect">
            <a:avLst/>
          </a:prstGeom>
          <a:solidFill>
            <a:srgbClr val="F4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998464" y="5746750"/>
            <a:ext cx="19507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75"/>
              </a:lnSpc>
            </a:pPr>
            <a:r>
              <a:rPr sz="15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3</a:t>
            </a:r>
          </a:p>
        </p:txBody>
      </p:sp>
      <p:sp>
        <p:nvSpPr>
          <p:cNvPr id="31" name="Tick"/>
          <p:cNvSpPr/>
          <p:nvPr/>
        </p:nvSpPr>
        <p:spPr>
          <a:xfrm>
            <a:off x="8616950" y="5511800"/>
            <a:ext cx="38100" cy="190500"/>
          </a:xfrm>
          <a:prstGeom prst="rect">
            <a:avLst/>
          </a:prstGeom>
          <a:solidFill>
            <a:srgbClr val="F4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538464" y="5746750"/>
            <a:ext cx="19507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75"/>
              </a:lnSpc>
            </a:pPr>
            <a:r>
              <a:rPr sz="15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4</a:t>
            </a:r>
          </a:p>
        </p:txBody>
      </p:sp>
      <p:sp>
        <p:nvSpPr>
          <p:cNvPr id="33" name="Tick"/>
          <p:cNvSpPr/>
          <p:nvPr/>
        </p:nvSpPr>
        <p:spPr>
          <a:xfrm>
            <a:off x="11156950" y="5511800"/>
            <a:ext cx="38100" cy="190500"/>
          </a:xfrm>
          <a:prstGeom prst="rect">
            <a:avLst/>
          </a:prstGeom>
          <a:solidFill>
            <a:srgbClr val="F4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1078464" y="5746750"/>
            <a:ext cx="19507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75"/>
              </a:lnSpc>
            </a:pPr>
            <a:r>
              <a:rPr sz="15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500" y="6032500"/>
            <a:ext cx="2058876" cy="2057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0">
                <a:solidFill>
                  <a:srgbClr val="AEA7A0"/>
                </a:solidFill>
                <a:latin typeface="JetBrains Mono"/>
                <a:ea typeface="JetBrains Mono"/>
                <a:cs typeface="JetBrains Mono"/>
              </a:rPr>
              <a:t>1 = strongly disagree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6040" y="6032500"/>
            <a:ext cx="1773460" cy="2057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500"/>
              </a:lnSpc>
            </a:pPr>
            <a:r>
              <a:rPr sz="1200" b="0">
                <a:solidFill>
                  <a:srgbClr val="AEA7A0"/>
                </a:solidFill>
                <a:latin typeface="JetBrains Mono"/>
                <a:ea typeface="JetBrains Mono"/>
                <a:cs typeface="JetBrains Mono"/>
              </a:rPr>
              <a:t>5 = strongly agree</a:t>
            </a:r>
          </a:p>
        </p:txBody>
      </p:sp>
      <p:sp>
        <p:nvSpPr>
          <p:cNvPr id="37" name="Marker TS"/>
          <p:cNvSpPr/>
          <p:nvPr/>
        </p:nvSpPr>
        <p:spPr>
          <a:xfrm>
            <a:off x="8839200" y="5016500"/>
            <a:ext cx="50800" cy="571500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Marker dot TS"/>
          <p:cNvSpPr/>
          <p:nvPr/>
        </p:nvSpPr>
        <p:spPr>
          <a:xfrm>
            <a:off x="8763000" y="4927600"/>
            <a:ext cx="203200" cy="203200"/>
          </a:xfrm>
          <a:prstGeom prst="ellipse">
            <a:avLst/>
          </a:prstGeom>
          <a:solidFill>
            <a:srgbClr val="3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055100" y="4851400"/>
            <a:ext cx="847606" cy="2400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400" b="1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TS 4.09</a:t>
            </a:r>
          </a:p>
        </p:txBody>
      </p:sp>
      <p:sp>
        <p:nvSpPr>
          <p:cNvPr id="40" name="Marker TI"/>
          <p:cNvSpPr/>
          <p:nvPr/>
        </p:nvSpPr>
        <p:spPr>
          <a:xfrm>
            <a:off x="8712200" y="5270500"/>
            <a:ext cx="50800" cy="317500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Marker dot TI"/>
          <p:cNvSpPr/>
          <p:nvPr/>
        </p:nvSpPr>
        <p:spPr>
          <a:xfrm>
            <a:off x="8636000" y="5181600"/>
            <a:ext cx="203200" cy="203200"/>
          </a:xfrm>
          <a:prstGeom prst="ellipse">
            <a:avLst/>
          </a:prstGeom>
          <a:solidFill>
            <a:srgbClr val="3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699494" y="5105400"/>
            <a:ext cx="847606" cy="2400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50"/>
              </a:lnSpc>
            </a:pPr>
            <a:r>
              <a:rPr sz="1400" b="1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TI 4.04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D1243"/>
            </a:gs>
            <a:gs pos="52000">
              <a:srgbClr val="1C0A29"/>
            </a:gs>
            <a:gs pos="100000">
              <a:srgbClr val="0B0610"/>
            </a:gs>
          </a:gsLst>
          <a:path path="circle">
            <a:fillToRect l="50000" t="38000" r="50000" b="62000"/>
          </a:path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Texture: film grain" descr="grain.png"/>
          <p:cNvPicPr>
            <a:picLocks noChangeAspect="1" noSel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III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REVEAL</a:t>
            </a:r>
          </a:p>
        </p:txBody>
      </p:sp>
      <p:pic>
        <p:nvPicPr>
          <p:cNvPr id="4" name="Photo frame a08" descr="a08.jpg"/>
          <p:cNvPicPr>
            <a:picLocks noChangeAspect="1"/>
          </p:cNvPicPr>
          <p:nvPr/>
        </p:nvPicPr>
        <p:blipFill>
          <a:blip r:embed="rId3"/>
          <a:srcRect t="2222" b="2222"/>
          <a:stretch>
            <a:fillRect/>
          </a:stretch>
        </p:blipFill>
        <p:spPr>
          <a:xfrm rot="21450000">
            <a:off x="635000" y="762000"/>
            <a:ext cx="5080000" cy="2730500"/>
          </a:xfrm>
          <a:prstGeom prst="rect">
            <a:avLst/>
          </a:prstGeom>
          <a:ln w="101600">
            <a:solidFill>
              <a:srgbClr val="FBF8F1"/>
            </a:solidFill>
            <a:round/>
          </a:ln>
          <a:effectLst>
            <a:outerShdw blurRad="0" dist="144802" dir="3127500" algn="tl" rotWithShape="0">
              <a:srgbClr val="000000">
                <a:alpha val="55000"/>
              </a:srgbClr>
            </a:outerShdw>
          </a:effectLst>
        </p:spPr>
      </p:pic>
      <p:pic>
        <p:nvPicPr>
          <p:cNvPr id="5" name="Photo frame a06" descr="a06.jpg"/>
          <p:cNvPicPr>
            <a:picLocks noChangeAspect="1"/>
          </p:cNvPicPr>
          <p:nvPr/>
        </p:nvPicPr>
        <p:blipFill>
          <a:blip r:embed="rId4"/>
          <a:srcRect t="1556" b="2889"/>
          <a:stretch>
            <a:fillRect/>
          </a:stretch>
        </p:blipFill>
        <p:spPr>
          <a:xfrm rot="120000">
            <a:off x="6413500" y="666750"/>
            <a:ext cx="5080000" cy="2730500"/>
          </a:xfrm>
          <a:prstGeom prst="rect">
            <a:avLst/>
          </a:prstGeom>
          <a:ln w="101600">
            <a:solidFill>
              <a:srgbClr val="FBF8F1"/>
            </a:solidFill>
            <a:round/>
          </a:ln>
          <a:effectLst>
            <a:outerShdw blurRad="0" dist="144802" dir="3127500" algn="tl" rotWithShape="0">
              <a:srgbClr val="000000">
                <a:alpha val="55000"/>
              </a:srgbClr>
            </a:outerShdw>
          </a:effectLst>
        </p:spPr>
      </p:pic>
      <p:sp>
        <p:nvSpPr>
          <p:cNvPr id="6" name="Lower third"/>
          <p:cNvSpPr/>
          <p:nvPr/>
        </p:nvSpPr>
        <p:spPr>
          <a:xfrm>
            <a:off x="609600" y="609600"/>
            <a:ext cx="3376275" cy="243840"/>
          </a:xfrm>
          <a:prstGeom prst="rect">
            <a:avLst/>
          </a:prstGeom>
          <a:solidFill>
            <a:srgbClr val="0B0610"/>
          </a:solidFill>
          <a:ln>
            <a:noFill/>
          </a:ln>
          <a:effectLst>
            <a:outerShdw blurRad="0" dist="53881" dir="2700000" algn="tl" rotWithShape="0">
              <a:srgbClr val="0B061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tIns="12700" rIns="63500" bIns="12700">
            <a:noAutofit/>
          </a:bodyPr>
          <a:lstStyle/>
          <a:p>
            <a:pPr algn="l">
              <a:lnSpc>
                <a:spcPts val="1375"/>
              </a:lnSpc>
            </a:pPr>
            <a:r>
              <a:rPr sz="1100" b="1" spc="154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MONEY · ACCURACY · THE CUSTOMER</a:t>
            </a:r>
          </a:p>
        </p:txBody>
      </p:sp>
      <p:sp>
        <p:nvSpPr>
          <p:cNvPr id="7" name="Lower third"/>
          <p:cNvSpPr/>
          <p:nvPr/>
        </p:nvSpPr>
        <p:spPr>
          <a:xfrm>
            <a:off x="609600" y="891540"/>
            <a:ext cx="2393355" cy="335280"/>
          </a:xfrm>
          <a:prstGeom prst="rect">
            <a:avLst/>
          </a:prstGeom>
          <a:solidFill>
            <a:srgbClr val="FFD23F"/>
          </a:solidFill>
          <a:ln>
            <a:noFill/>
          </a:ln>
          <a:effectLst>
            <a:outerShdw blurRad="0" dist="53881" dir="2700000" algn="tl" rotWithShape="0">
              <a:srgbClr val="0B061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tIns="12700" rIns="63500" bIns="12700">
            <a:noAutofit/>
          </a:bodyPr>
          <a:lstStyle/>
          <a:p>
            <a:pPr algn="l">
              <a:lnSpc>
                <a:spcPts val="2125"/>
              </a:lnSpc>
            </a:pPr>
            <a:r>
              <a:rPr sz="17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Task Significance</a:t>
            </a:r>
          </a:p>
        </p:txBody>
      </p:sp>
      <p:sp>
        <p:nvSpPr>
          <p:cNvPr id="8" name="Lower third"/>
          <p:cNvSpPr/>
          <p:nvPr/>
        </p:nvSpPr>
        <p:spPr>
          <a:xfrm>
            <a:off x="6540500" y="508000"/>
            <a:ext cx="1618512" cy="243840"/>
          </a:xfrm>
          <a:prstGeom prst="rect">
            <a:avLst/>
          </a:prstGeom>
          <a:solidFill>
            <a:srgbClr val="0B0610"/>
          </a:solidFill>
          <a:ln>
            <a:noFill/>
          </a:ln>
          <a:effectLst>
            <a:outerShdw blurRad="0" dist="53881" dir="2700000" algn="tl" rotWithShape="0">
              <a:srgbClr val="0B061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tIns="12700" rIns="63500" bIns="12700">
            <a:noAutofit/>
          </a:bodyPr>
          <a:lstStyle/>
          <a:p>
            <a:pPr algn="l">
              <a:lnSpc>
                <a:spcPts val="1375"/>
              </a:lnSpc>
            </a:pPr>
            <a:r>
              <a:rPr sz="1100" b="1" spc="154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START → FINISH</a:t>
            </a:r>
          </a:p>
        </p:txBody>
      </p:sp>
      <p:sp>
        <p:nvSpPr>
          <p:cNvPr id="9" name="Lower third"/>
          <p:cNvSpPr/>
          <p:nvPr/>
        </p:nvSpPr>
        <p:spPr>
          <a:xfrm>
            <a:off x="6540500" y="789940"/>
            <a:ext cx="1875036" cy="335280"/>
          </a:xfrm>
          <a:prstGeom prst="rect">
            <a:avLst/>
          </a:prstGeom>
          <a:solidFill>
            <a:srgbClr val="FFD23F"/>
          </a:solidFill>
          <a:ln>
            <a:noFill/>
          </a:ln>
          <a:effectLst>
            <a:outerShdw blurRad="0" dist="53881" dir="2700000" algn="tl" rotWithShape="0">
              <a:srgbClr val="0B061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tIns="12700" rIns="63500" bIns="12700">
            <a:noAutofit/>
          </a:bodyPr>
          <a:lstStyle/>
          <a:p>
            <a:pPr algn="l">
              <a:lnSpc>
                <a:spcPts val="2125"/>
              </a:lnSpc>
            </a:pPr>
            <a:r>
              <a:rPr sz="17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Task Identity</a:t>
            </a:r>
          </a:p>
        </p:txBody>
      </p:sp>
      <p:sp>
        <p:nvSpPr>
          <p:cNvPr id="10" name="Task Significance 4.09"/>
          <p:cNvSpPr txBox="1"/>
          <p:nvPr/>
        </p:nvSpPr>
        <p:spPr>
          <a:xfrm>
            <a:off x="825500" y="2032000"/>
            <a:ext cx="4445000" cy="177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900"/>
              </a:lnSpc>
            </a:pPr>
            <a:r>
              <a:rPr sz="15000" b="0">
                <a:solidFill>
                  <a:srgbClr val="F4ECDD"/>
                </a:solidFill>
                <a:effectLst>
                  <a:outerShdw blurRad="0" dist="76200" dir="5400000" algn="tl" rotWithShape="0">
                    <a:srgbClr val="000000">
                      <a:alpha val="55000"/>
                    </a:srgbClr>
                  </a:outerShdw>
                </a:effectLst>
                <a:latin typeface="Archivo Display"/>
                <a:ea typeface="Archivo Display"/>
                <a:cs typeface="Archivo Display"/>
              </a:rPr>
              <a:t>4.09</a:t>
            </a:r>
            <a:r>
              <a:rPr sz="2700" b="0">
                <a:solidFill>
                  <a:srgbClr val="D1CABE"/>
                </a:solidFill>
                <a:effectLst>
                  <a:outerShdw blurRad="0" dist="76200" dir="5400000" algn="tl" rotWithShape="0">
                    <a:srgbClr val="000000">
                      <a:alpha val="55000"/>
                    </a:srgbClr>
                  </a:outerShdw>
                </a:effectLst>
                <a:latin typeface="Archivo Expanded"/>
                <a:ea typeface="Archivo Expanded"/>
                <a:cs typeface="Archivo Expanded"/>
              </a:rPr>
              <a:t> / 5</a:t>
            </a:r>
          </a:p>
        </p:txBody>
      </p:sp>
      <p:sp>
        <p:nvSpPr>
          <p:cNvPr id="11" name="Task Identity 4.04"/>
          <p:cNvSpPr txBox="1"/>
          <p:nvPr/>
        </p:nvSpPr>
        <p:spPr>
          <a:xfrm>
            <a:off x="6667500" y="2032000"/>
            <a:ext cx="4445000" cy="177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900"/>
              </a:lnSpc>
            </a:pPr>
            <a:r>
              <a:rPr sz="15000" b="0">
                <a:solidFill>
                  <a:srgbClr val="F4ECDD"/>
                </a:solidFill>
                <a:effectLst>
                  <a:outerShdw blurRad="0" dist="76200" dir="5400000" algn="tl" rotWithShape="0">
                    <a:srgbClr val="000000">
                      <a:alpha val="55000"/>
                    </a:srgbClr>
                  </a:outerShdw>
                </a:effectLst>
                <a:latin typeface="Archivo Display"/>
                <a:ea typeface="Archivo Display"/>
                <a:cs typeface="Archivo Display"/>
              </a:rPr>
              <a:t>4.04</a:t>
            </a:r>
            <a:r>
              <a:rPr sz="2700" b="0">
                <a:solidFill>
                  <a:srgbClr val="D1CABE"/>
                </a:solidFill>
                <a:effectLst>
                  <a:outerShdw blurRad="0" dist="76200" dir="5400000" algn="tl" rotWithShape="0">
                    <a:srgbClr val="000000">
                      <a:alpha val="55000"/>
                    </a:srgbClr>
                  </a:outerShdw>
                </a:effectLst>
                <a:latin typeface="Archivo Expanded"/>
                <a:ea typeface="Archivo Expanded"/>
                <a:cs typeface="Archivo Expanded"/>
              </a:rPr>
              <a:t> / 5</a:t>
            </a:r>
          </a:p>
        </p:txBody>
      </p:sp>
      <p:sp>
        <p:nvSpPr>
          <p:cNvPr id="12" name="Transaction strip"/>
          <p:cNvSpPr/>
          <p:nvPr/>
        </p:nvSpPr>
        <p:spPr>
          <a:xfrm>
            <a:off x="952500" y="4064000"/>
            <a:ext cx="10287000" cy="749300"/>
          </a:xfrm>
          <a:prstGeom prst="rect">
            <a:avLst/>
          </a:prstGeom>
          <a:solidFill>
            <a:srgbClr val="F7F1E3"/>
          </a:solidFill>
          <a:ln>
            <a:noFill/>
          </a:ln>
          <a:effectLst>
            <a:outerShdw blurRad="0" dist="109249" dir="3267739" algn="tl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tep Customer Arrives"/>
          <p:cNvSpPr txBox="1"/>
          <p:nvPr/>
        </p:nvSpPr>
        <p:spPr>
          <a:xfrm>
            <a:off x="952500" y="4064000"/>
            <a:ext cx="2571750" cy="749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250"/>
              </a:lnSpc>
            </a:pPr>
            <a:r>
              <a:rPr sz="18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CUSTOMER ARRIVES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323" y="4292600"/>
            <a:ext cx="209855" cy="259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70"/>
              </a:lnSpc>
            </a:pPr>
            <a:r>
              <a:rPr sz="1700" b="0">
                <a:solidFill>
                  <a:srgbClr val="0B061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Divider"/>
          <p:cNvSpPr/>
          <p:nvPr/>
        </p:nvSpPr>
        <p:spPr>
          <a:xfrm>
            <a:off x="3524250" y="4127500"/>
            <a:ext cx="635" cy="622300"/>
          </a:xfrm>
          <a:prstGeom prst="rect">
            <a:avLst/>
          </a:prstGeom>
          <a:noFill/>
          <a:ln w="25400">
            <a:solidFill>
              <a:srgbClr val="0B0610">
                <a:alpha val="35000"/>
              </a:srgbClr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ep Scan"/>
          <p:cNvSpPr txBox="1"/>
          <p:nvPr/>
        </p:nvSpPr>
        <p:spPr>
          <a:xfrm>
            <a:off x="3524250" y="4064000"/>
            <a:ext cx="2571750" cy="749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250"/>
              </a:lnSpc>
            </a:pPr>
            <a:r>
              <a:rPr sz="18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SCAN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1073" y="4292600"/>
            <a:ext cx="209855" cy="259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70"/>
              </a:lnSpc>
            </a:pPr>
            <a:r>
              <a:rPr sz="1700" b="0">
                <a:solidFill>
                  <a:srgbClr val="0B061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Divider"/>
          <p:cNvSpPr/>
          <p:nvPr/>
        </p:nvSpPr>
        <p:spPr>
          <a:xfrm>
            <a:off x="6096000" y="4127500"/>
            <a:ext cx="635" cy="622300"/>
          </a:xfrm>
          <a:prstGeom prst="rect">
            <a:avLst/>
          </a:prstGeom>
          <a:noFill/>
          <a:ln w="25400">
            <a:solidFill>
              <a:srgbClr val="0B0610">
                <a:alpha val="35000"/>
              </a:srgbClr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Step Payment"/>
          <p:cNvSpPr txBox="1"/>
          <p:nvPr/>
        </p:nvSpPr>
        <p:spPr>
          <a:xfrm>
            <a:off x="6096000" y="4064000"/>
            <a:ext cx="2571750" cy="749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250"/>
              </a:lnSpc>
            </a:pPr>
            <a:r>
              <a:rPr sz="18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PAYMENT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2823" y="4292600"/>
            <a:ext cx="209855" cy="2590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70"/>
              </a:lnSpc>
            </a:pPr>
            <a:r>
              <a:rPr sz="1700" b="0">
                <a:solidFill>
                  <a:srgbClr val="0B061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Divider"/>
          <p:cNvSpPr/>
          <p:nvPr/>
        </p:nvSpPr>
        <p:spPr>
          <a:xfrm>
            <a:off x="8667750" y="4127500"/>
            <a:ext cx="635" cy="622300"/>
          </a:xfrm>
          <a:prstGeom prst="rect">
            <a:avLst/>
          </a:prstGeom>
          <a:noFill/>
          <a:ln w="25400">
            <a:solidFill>
              <a:srgbClr val="0B0610">
                <a:alpha val="35000"/>
              </a:srgbClr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ep Complete"/>
          <p:cNvSpPr txBox="1"/>
          <p:nvPr/>
        </p:nvSpPr>
        <p:spPr>
          <a:xfrm>
            <a:off x="8667750" y="4064000"/>
            <a:ext cx="2571750" cy="749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250"/>
              </a:lnSpc>
            </a:pPr>
            <a:r>
              <a:rPr sz="18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COMPLETE</a:t>
            </a:r>
            <a:r>
              <a:rPr sz="1800" b="1">
                <a:solidFill>
                  <a:srgbClr val="3D6BFF"/>
                </a:solidFill>
                <a:latin typeface="Segoe UI Symbol"/>
                <a:ea typeface="Segoe UI Symbol"/>
                <a:cs typeface="Segoe UI Symbol"/>
              </a:rPr>
              <a:t>  ✓</a:t>
            </a:r>
          </a:p>
        </p:txBody>
      </p:sp>
      <p:sp>
        <p:nvSpPr>
          <p:cNvPr id="23" name="Marker ring"/>
          <p:cNvSpPr/>
          <p:nvPr/>
        </p:nvSpPr>
        <p:spPr>
          <a:xfrm>
            <a:off x="8778771" y="3997416"/>
            <a:ext cx="2550982" cy="898027"/>
          </a:xfrm>
          <a:custGeom>
            <a:avLst/>
            <a:gdLst/>
            <a:ahLst/>
            <a:cxnLst/>
            <a:rect l="l" t="t" r="r" b="b"/>
            <a:pathLst>
              <a:path w="2550982" h="898027">
                <a:moveTo>
                  <a:pt x="2405697" y="277192"/>
                </a:moveTo>
                <a:lnTo>
                  <a:pt x="2481546" y="387838"/>
                </a:lnTo>
                <a:lnTo>
                  <a:pt x="2550982" y="503968"/>
                </a:lnTo>
                <a:lnTo>
                  <a:pt x="2395839" y="609681"/>
                </a:lnTo>
                <a:lnTo>
                  <a:pt x="2260249" y="713704"/>
                </a:lnTo>
                <a:lnTo>
                  <a:pt x="2027724" y="795114"/>
                </a:lnTo>
                <a:lnTo>
                  <a:pt x="1740572" y="850193"/>
                </a:lnTo>
                <a:lnTo>
                  <a:pt x="1433231" y="898027"/>
                </a:lnTo>
                <a:lnTo>
                  <a:pt x="1101545" y="877742"/>
                </a:lnTo>
                <a:lnTo>
                  <a:pt x="788292" y="849565"/>
                </a:lnTo>
                <a:lnTo>
                  <a:pt x="471008" y="810286"/>
                </a:lnTo>
                <a:lnTo>
                  <a:pt x="228244" y="727316"/>
                </a:lnTo>
                <a:lnTo>
                  <a:pt x="91108" y="619700"/>
                </a:lnTo>
                <a:lnTo>
                  <a:pt x="0" y="508641"/>
                </a:lnTo>
                <a:lnTo>
                  <a:pt x="27062" y="394225"/>
                </a:lnTo>
                <a:lnTo>
                  <a:pt x="62584" y="278382"/>
                </a:lnTo>
                <a:lnTo>
                  <a:pt x="266213" y="186227"/>
                </a:lnTo>
                <a:lnTo>
                  <a:pt x="476179" y="98007"/>
                </a:lnTo>
                <a:lnTo>
                  <a:pt x="772390" y="48704"/>
                </a:lnTo>
                <a:lnTo>
                  <a:pt x="1077953" y="4002"/>
                </a:lnTo>
                <a:lnTo>
                  <a:pt x="1413098" y="0"/>
                </a:lnTo>
                <a:lnTo>
                  <a:pt x="1734728" y="33040"/>
                </a:lnTo>
                <a:lnTo>
                  <a:pt x="2016874" y="94410"/>
                </a:lnTo>
                <a:lnTo>
                  <a:pt x="2279714" y="167988"/>
                </a:lnTo>
                <a:lnTo>
                  <a:pt x="2393727" y="278964"/>
                </a:lnTo>
                <a:lnTo>
                  <a:pt x="2492628" y="387298"/>
                </a:lnTo>
                <a:lnTo>
                  <a:pt x="2505278" y="501981"/>
                </a:lnTo>
              </a:path>
            </a:pathLst>
          </a:custGeom>
          <a:noFill/>
          <a:ln w="444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uler"/>
          <p:cNvSpPr/>
          <p:nvPr/>
        </p:nvSpPr>
        <p:spPr>
          <a:xfrm>
            <a:off x="1016000" y="5588000"/>
            <a:ext cx="10160000" cy="38100"/>
          </a:xfrm>
          <a:prstGeom prst="rect">
            <a:avLst/>
          </a:prstGeom>
          <a:solidFill>
            <a:srgbClr val="F4ECDD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ick"/>
          <p:cNvSpPr/>
          <p:nvPr/>
        </p:nvSpPr>
        <p:spPr>
          <a:xfrm>
            <a:off x="996950" y="5511800"/>
            <a:ext cx="38100" cy="190500"/>
          </a:xfrm>
          <a:prstGeom prst="rect">
            <a:avLst/>
          </a:prstGeom>
          <a:solidFill>
            <a:srgbClr val="F4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8464" y="5746750"/>
            <a:ext cx="19507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75"/>
              </a:lnSpc>
            </a:pPr>
            <a:r>
              <a:rPr sz="15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1</a:t>
            </a:r>
          </a:p>
        </p:txBody>
      </p:sp>
      <p:sp>
        <p:nvSpPr>
          <p:cNvPr id="27" name="Tick"/>
          <p:cNvSpPr/>
          <p:nvPr/>
        </p:nvSpPr>
        <p:spPr>
          <a:xfrm>
            <a:off x="3536950" y="5511800"/>
            <a:ext cx="38100" cy="190500"/>
          </a:xfrm>
          <a:prstGeom prst="rect">
            <a:avLst/>
          </a:prstGeom>
          <a:solidFill>
            <a:srgbClr val="F4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58464" y="5746750"/>
            <a:ext cx="19507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75"/>
              </a:lnSpc>
            </a:pPr>
            <a:r>
              <a:rPr sz="15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2</a:t>
            </a:r>
          </a:p>
        </p:txBody>
      </p:sp>
      <p:sp>
        <p:nvSpPr>
          <p:cNvPr id="29" name="Tick"/>
          <p:cNvSpPr/>
          <p:nvPr/>
        </p:nvSpPr>
        <p:spPr>
          <a:xfrm>
            <a:off x="6076950" y="5511800"/>
            <a:ext cx="38100" cy="190500"/>
          </a:xfrm>
          <a:prstGeom prst="rect">
            <a:avLst/>
          </a:prstGeom>
          <a:solidFill>
            <a:srgbClr val="F4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998464" y="5746750"/>
            <a:ext cx="19507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75"/>
              </a:lnSpc>
            </a:pPr>
            <a:r>
              <a:rPr sz="15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3</a:t>
            </a:r>
          </a:p>
        </p:txBody>
      </p:sp>
      <p:sp>
        <p:nvSpPr>
          <p:cNvPr id="31" name="Tick"/>
          <p:cNvSpPr/>
          <p:nvPr/>
        </p:nvSpPr>
        <p:spPr>
          <a:xfrm>
            <a:off x="8616950" y="5511800"/>
            <a:ext cx="38100" cy="190500"/>
          </a:xfrm>
          <a:prstGeom prst="rect">
            <a:avLst/>
          </a:prstGeom>
          <a:solidFill>
            <a:srgbClr val="F4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538464" y="5746750"/>
            <a:ext cx="19507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75"/>
              </a:lnSpc>
            </a:pPr>
            <a:r>
              <a:rPr sz="15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4</a:t>
            </a:r>
          </a:p>
        </p:txBody>
      </p:sp>
      <p:sp>
        <p:nvSpPr>
          <p:cNvPr id="33" name="Tick"/>
          <p:cNvSpPr/>
          <p:nvPr/>
        </p:nvSpPr>
        <p:spPr>
          <a:xfrm>
            <a:off x="11156950" y="5511800"/>
            <a:ext cx="38100" cy="190500"/>
          </a:xfrm>
          <a:prstGeom prst="rect">
            <a:avLst/>
          </a:prstGeom>
          <a:solidFill>
            <a:srgbClr val="F4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1078464" y="5746750"/>
            <a:ext cx="19507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75"/>
              </a:lnSpc>
            </a:pPr>
            <a:r>
              <a:rPr sz="15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500" y="6032500"/>
            <a:ext cx="2058876" cy="2057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0">
                <a:solidFill>
                  <a:srgbClr val="AEA7A0"/>
                </a:solidFill>
                <a:latin typeface="JetBrains Mono"/>
                <a:ea typeface="JetBrains Mono"/>
                <a:cs typeface="JetBrains Mono"/>
              </a:rPr>
              <a:t>1 = strongly disagree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6040" y="6032500"/>
            <a:ext cx="1773460" cy="2057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500"/>
              </a:lnSpc>
            </a:pPr>
            <a:r>
              <a:rPr sz="1200" b="0">
                <a:solidFill>
                  <a:srgbClr val="AEA7A0"/>
                </a:solidFill>
                <a:latin typeface="JetBrains Mono"/>
                <a:ea typeface="JetBrains Mono"/>
                <a:cs typeface="JetBrains Mono"/>
              </a:rPr>
              <a:t>5 = strongly agree</a:t>
            </a:r>
          </a:p>
        </p:txBody>
      </p:sp>
      <p:sp>
        <p:nvSpPr>
          <p:cNvPr id="37" name="Marker TS"/>
          <p:cNvSpPr/>
          <p:nvPr/>
        </p:nvSpPr>
        <p:spPr>
          <a:xfrm>
            <a:off x="8839200" y="5016500"/>
            <a:ext cx="50800" cy="571500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Marker dot TS"/>
          <p:cNvSpPr/>
          <p:nvPr/>
        </p:nvSpPr>
        <p:spPr>
          <a:xfrm>
            <a:off x="8763000" y="4927600"/>
            <a:ext cx="203200" cy="203200"/>
          </a:xfrm>
          <a:prstGeom prst="ellipse">
            <a:avLst/>
          </a:prstGeom>
          <a:solidFill>
            <a:srgbClr val="3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055100" y="4851400"/>
            <a:ext cx="847606" cy="2400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400" b="1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TS 4.09</a:t>
            </a:r>
          </a:p>
        </p:txBody>
      </p:sp>
      <p:sp>
        <p:nvSpPr>
          <p:cNvPr id="40" name="Marker TI"/>
          <p:cNvSpPr/>
          <p:nvPr/>
        </p:nvSpPr>
        <p:spPr>
          <a:xfrm>
            <a:off x="8712200" y="5270500"/>
            <a:ext cx="50800" cy="317500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Marker dot TI"/>
          <p:cNvSpPr/>
          <p:nvPr/>
        </p:nvSpPr>
        <p:spPr>
          <a:xfrm>
            <a:off x="8636000" y="5181600"/>
            <a:ext cx="203200" cy="203200"/>
          </a:xfrm>
          <a:prstGeom prst="ellipse">
            <a:avLst/>
          </a:prstGeom>
          <a:solidFill>
            <a:srgbClr val="3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699494" y="5105400"/>
            <a:ext cx="847606" cy="2400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50"/>
              </a:lnSpc>
            </a:pPr>
            <a:r>
              <a:rPr sz="1400" b="1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TI 4.04</a:t>
            </a:r>
          </a:p>
        </p:txBody>
      </p:sp>
      <p:sp>
        <p:nvSpPr>
          <p:cNvPr id="43" name="Freeze 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610">
              <a:alpha val="8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Statement"/>
          <p:cNvSpPr txBox="1"/>
          <p:nvPr/>
        </p:nvSpPr>
        <p:spPr>
          <a:xfrm>
            <a:off x="0" y="1905000"/>
            <a:ext cx="121920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0750"/>
              </a:lnSpc>
            </a:pPr>
            <a:r>
              <a:rPr sz="12500" b="0">
                <a:solidFill>
                  <a:srgbClr val="F4ECDD"/>
                </a:solidFill>
                <a:latin typeface="Archivo Display"/>
                <a:ea typeface="Archivo Display"/>
                <a:cs typeface="Archivo Display"/>
              </a:rPr>
              <a:t>MEANING</a:t>
            </a:r>
          </a:p>
          <a:p>
            <a:pPr algn="ctr">
              <a:lnSpc>
                <a:spcPts val="10750"/>
              </a:lnSpc>
            </a:pPr>
            <a:r>
              <a:rPr sz="12500" b="0">
                <a:solidFill>
                  <a:srgbClr val="FFD23F"/>
                </a:solidFill>
                <a:latin typeface="Archivo Display"/>
                <a:ea typeface="Archivo Display"/>
                <a:cs typeface="Archivo Display"/>
              </a:rPr>
              <a:t>ISN'T THE PROBLEM.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D1243"/>
            </a:gs>
            <a:gs pos="52000">
              <a:srgbClr val="1C0A29"/>
            </a:gs>
            <a:gs pos="100000">
              <a:srgbClr val="0B0610"/>
            </a:gs>
          </a:gsLst>
          <a:path path="circle">
            <a:fillToRect l="50000" t="38000" r="50000" b="62000"/>
          </a:path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 A03 (lanes, night)" descr="a03_night.jpg"/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exture: film grain" descr="grain.png"/>
          <p:cNvPicPr>
            <a:picLocks noChangeAspect="1" noSel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III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825500"/>
            <a:ext cx="9696728" cy="4381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0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THE PROBLEM IS SOMEWHERE ELSE.</a:t>
            </a:r>
          </a:p>
        </p:txBody>
      </p:sp>
      <p:sp>
        <p:nvSpPr>
          <p:cNvPr id="6" name="Torn sticker Feedback"/>
          <p:cNvSpPr/>
          <p:nvPr/>
        </p:nvSpPr>
        <p:spPr>
          <a:xfrm rot="21420000">
            <a:off x="952500" y="1714662"/>
            <a:ext cx="3556000" cy="2222338"/>
          </a:xfrm>
          <a:custGeom>
            <a:avLst/>
            <a:gdLst/>
            <a:ahLst/>
            <a:cxnLst/>
            <a:rect l="l" t="t" r="r" b="b"/>
            <a:pathLst>
              <a:path w="3556000" h="2222338">
                <a:moveTo>
                  <a:pt x="0" y="12864"/>
                </a:moveTo>
                <a:lnTo>
                  <a:pt x="88900" y="9618"/>
                </a:lnTo>
                <a:lnTo>
                  <a:pt x="177800" y="10421"/>
                </a:lnTo>
                <a:lnTo>
                  <a:pt x="266700" y="23586"/>
                </a:lnTo>
                <a:lnTo>
                  <a:pt x="355600" y="20100"/>
                </a:lnTo>
                <a:lnTo>
                  <a:pt x="444500" y="17106"/>
                </a:lnTo>
                <a:lnTo>
                  <a:pt x="533400" y="20934"/>
                </a:lnTo>
                <a:lnTo>
                  <a:pt x="622300" y="46737"/>
                </a:lnTo>
                <a:lnTo>
                  <a:pt x="711200" y="10015"/>
                </a:lnTo>
                <a:lnTo>
                  <a:pt x="800100" y="41881"/>
                </a:lnTo>
                <a:lnTo>
                  <a:pt x="889000" y="17172"/>
                </a:lnTo>
                <a:lnTo>
                  <a:pt x="977900" y="6165"/>
                </a:lnTo>
                <a:lnTo>
                  <a:pt x="1066800" y="6661"/>
                </a:lnTo>
                <a:lnTo>
                  <a:pt x="1155700" y="46419"/>
                </a:lnTo>
                <a:lnTo>
                  <a:pt x="1244600" y="42596"/>
                </a:lnTo>
                <a:lnTo>
                  <a:pt x="1333500" y="15987"/>
                </a:lnTo>
                <a:lnTo>
                  <a:pt x="1422400" y="49123"/>
                </a:lnTo>
                <a:lnTo>
                  <a:pt x="1511300" y="33489"/>
                </a:lnTo>
                <a:lnTo>
                  <a:pt x="1600200" y="34738"/>
                </a:lnTo>
                <a:lnTo>
                  <a:pt x="1689100" y="14084"/>
                </a:lnTo>
                <a:lnTo>
                  <a:pt x="1778000" y="1848"/>
                </a:lnTo>
                <a:lnTo>
                  <a:pt x="1866900" y="19100"/>
                </a:lnTo>
                <a:lnTo>
                  <a:pt x="1955800" y="25185"/>
                </a:lnTo>
                <a:lnTo>
                  <a:pt x="2044700" y="40007"/>
                </a:lnTo>
                <a:lnTo>
                  <a:pt x="2133600" y="25322"/>
                </a:lnTo>
                <a:lnTo>
                  <a:pt x="2222500" y="28827"/>
                </a:lnTo>
                <a:lnTo>
                  <a:pt x="2311400" y="30211"/>
                </a:lnTo>
                <a:lnTo>
                  <a:pt x="2400300" y="38286"/>
                </a:lnTo>
                <a:lnTo>
                  <a:pt x="2489200" y="24375"/>
                </a:lnTo>
                <a:lnTo>
                  <a:pt x="2578100" y="5020"/>
                </a:lnTo>
                <a:lnTo>
                  <a:pt x="2667000" y="36257"/>
                </a:lnTo>
                <a:lnTo>
                  <a:pt x="2755900" y="14758"/>
                </a:lnTo>
                <a:lnTo>
                  <a:pt x="2844800" y="31863"/>
                </a:lnTo>
                <a:lnTo>
                  <a:pt x="2933700" y="5764"/>
                </a:lnTo>
                <a:lnTo>
                  <a:pt x="3022600" y="17764"/>
                </a:lnTo>
                <a:lnTo>
                  <a:pt x="3111500" y="0"/>
                </a:lnTo>
                <a:lnTo>
                  <a:pt x="3200400" y="31714"/>
                </a:lnTo>
                <a:lnTo>
                  <a:pt x="3289300" y="23007"/>
                </a:lnTo>
                <a:lnTo>
                  <a:pt x="3378200" y="44856"/>
                </a:lnTo>
                <a:lnTo>
                  <a:pt x="3467100" y="34069"/>
                </a:lnTo>
                <a:lnTo>
                  <a:pt x="3556000" y="32256"/>
                </a:lnTo>
                <a:lnTo>
                  <a:pt x="3490493" y="55400"/>
                </a:lnTo>
                <a:lnTo>
                  <a:pt x="3526416" y="110963"/>
                </a:lnTo>
                <a:lnTo>
                  <a:pt x="3513016" y="166526"/>
                </a:lnTo>
                <a:lnTo>
                  <a:pt x="3490728" y="222088"/>
                </a:lnTo>
                <a:lnTo>
                  <a:pt x="3543564" y="277650"/>
                </a:lnTo>
                <a:lnTo>
                  <a:pt x="3519132" y="333213"/>
                </a:lnTo>
                <a:lnTo>
                  <a:pt x="3554905" y="388776"/>
                </a:lnTo>
                <a:lnTo>
                  <a:pt x="3509108" y="444338"/>
                </a:lnTo>
                <a:lnTo>
                  <a:pt x="3474618" y="499900"/>
                </a:lnTo>
                <a:lnTo>
                  <a:pt x="3540890" y="555463"/>
                </a:lnTo>
                <a:lnTo>
                  <a:pt x="3537590" y="611026"/>
                </a:lnTo>
                <a:lnTo>
                  <a:pt x="3474082" y="666588"/>
                </a:lnTo>
                <a:lnTo>
                  <a:pt x="3482298" y="722150"/>
                </a:lnTo>
                <a:lnTo>
                  <a:pt x="3497422" y="777713"/>
                </a:lnTo>
                <a:lnTo>
                  <a:pt x="3534766" y="833276"/>
                </a:lnTo>
                <a:lnTo>
                  <a:pt x="3497345" y="888838"/>
                </a:lnTo>
                <a:lnTo>
                  <a:pt x="3527200" y="944400"/>
                </a:lnTo>
                <a:lnTo>
                  <a:pt x="3517112" y="999963"/>
                </a:lnTo>
                <a:lnTo>
                  <a:pt x="3553085" y="1055526"/>
                </a:lnTo>
                <a:lnTo>
                  <a:pt x="3492021" y="1111088"/>
                </a:lnTo>
                <a:lnTo>
                  <a:pt x="3506351" y="1166650"/>
                </a:lnTo>
                <a:lnTo>
                  <a:pt x="3544175" y="1222213"/>
                </a:lnTo>
                <a:lnTo>
                  <a:pt x="3494740" y="1277776"/>
                </a:lnTo>
                <a:lnTo>
                  <a:pt x="3531564" y="1333338"/>
                </a:lnTo>
                <a:lnTo>
                  <a:pt x="3547611" y="1388900"/>
                </a:lnTo>
                <a:lnTo>
                  <a:pt x="3509479" y="1444463"/>
                </a:lnTo>
                <a:lnTo>
                  <a:pt x="3503328" y="1500026"/>
                </a:lnTo>
                <a:lnTo>
                  <a:pt x="3516141" y="1555588"/>
                </a:lnTo>
                <a:lnTo>
                  <a:pt x="3537238" y="1611150"/>
                </a:lnTo>
                <a:lnTo>
                  <a:pt x="3474957" y="1666713"/>
                </a:lnTo>
                <a:lnTo>
                  <a:pt x="3496875" y="1722276"/>
                </a:lnTo>
                <a:lnTo>
                  <a:pt x="3494691" y="1777838"/>
                </a:lnTo>
                <a:lnTo>
                  <a:pt x="3532810" y="1833400"/>
                </a:lnTo>
                <a:lnTo>
                  <a:pt x="3552902" y="1888963"/>
                </a:lnTo>
                <a:lnTo>
                  <a:pt x="3486869" y="1944526"/>
                </a:lnTo>
                <a:lnTo>
                  <a:pt x="3494506" y="2000088"/>
                </a:lnTo>
                <a:lnTo>
                  <a:pt x="3534643" y="2055650"/>
                </a:lnTo>
                <a:lnTo>
                  <a:pt x="3550817" y="2111213"/>
                </a:lnTo>
                <a:lnTo>
                  <a:pt x="3529830" y="2166776"/>
                </a:lnTo>
                <a:lnTo>
                  <a:pt x="3481068" y="2222338"/>
                </a:lnTo>
                <a:lnTo>
                  <a:pt x="3467100" y="2213907"/>
                </a:lnTo>
                <a:lnTo>
                  <a:pt x="3378200" y="2219395"/>
                </a:lnTo>
                <a:lnTo>
                  <a:pt x="3289300" y="2188660"/>
                </a:lnTo>
                <a:lnTo>
                  <a:pt x="3200400" y="2210781"/>
                </a:lnTo>
                <a:lnTo>
                  <a:pt x="3111500" y="2201661"/>
                </a:lnTo>
                <a:lnTo>
                  <a:pt x="3022600" y="2214012"/>
                </a:lnTo>
                <a:lnTo>
                  <a:pt x="2933700" y="2218617"/>
                </a:lnTo>
                <a:lnTo>
                  <a:pt x="2844800" y="2173742"/>
                </a:lnTo>
                <a:lnTo>
                  <a:pt x="2755900" y="2180037"/>
                </a:lnTo>
                <a:lnTo>
                  <a:pt x="2667000" y="2201976"/>
                </a:lnTo>
                <a:lnTo>
                  <a:pt x="2578100" y="2178486"/>
                </a:lnTo>
                <a:lnTo>
                  <a:pt x="2489200" y="2174620"/>
                </a:lnTo>
                <a:lnTo>
                  <a:pt x="2400300" y="2204154"/>
                </a:lnTo>
                <a:lnTo>
                  <a:pt x="2311400" y="2198963"/>
                </a:lnTo>
                <a:lnTo>
                  <a:pt x="2222500" y="2171659"/>
                </a:lnTo>
                <a:lnTo>
                  <a:pt x="2133600" y="2208698"/>
                </a:lnTo>
                <a:lnTo>
                  <a:pt x="2044700" y="2196680"/>
                </a:lnTo>
                <a:lnTo>
                  <a:pt x="1955800" y="2201974"/>
                </a:lnTo>
                <a:lnTo>
                  <a:pt x="1866900" y="2171307"/>
                </a:lnTo>
                <a:lnTo>
                  <a:pt x="1778000" y="2202412"/>
                </a:lnTo>
                <a:lnTo>
                  <a:pt x="1689100" y="2188866"/>
                </a:lnTo>
                <a:lnTo>
                  <a:pt x="1600200" y="2210821"/>
                </a:lnTo>
                <a:lnTo>
                  <a:pt x="1511300" y="2221492"/>
                </a:lnTo>
                <a:lnTo>
                  <a:pt x="1422400" y="2169216"/>
                </a:lnTo>
                <a:lnTo>
                  <a:pt x="1333500" y="2201499"/>
                </a:lnTo>
                <a:lnTo>
                  <a:pt x="1244600" y="2182281"/>
                </a:lnTo>
                <a:lnTo>
                  <a:pt x="1155700" y="2216098"/>
                </a:lnTo>
                <a:lnTo>
                  <a:pt x="1066800" y="2184331"/>
                </a:lnTo>
                <a:lnTo>
                  <a:pt x="977900" y="2198300"/>
                </a:lnTo>
                <a:lnTo>
                  <a:pt x="889000" y="2206087"/>
                </a:lnTo>
                <a:lnTo>
                  <a:pt x="800100" y="2188183"/>
                </a:lnTo>
                <a:lnTo>
                  <a:pt x="711200" y="2194204"/>
                </a:lnTo>
                <a:lnTo>
                  <a:pt x="622300" y="2210965"/>
                </a:lnTo>
                <a:lnTo>
                  <a:pt x="533400" y="2218523"/>
                </a:lnTo>
                <a:lnTo>
                  <a:pt x="444500" y="2215485"/>
                </a:lnTo>
                <a:lnTo>
                  <a:pt x="355600" y="2196600"/>
                </a:lnTo>
                <a:lnTo>
                  <a:pt x="266700" y="2188282"/>
                </a:lnTo>
                <a:lnTo>
                  <a:pt x="177800" y="2209567"/>
                </a:lnTo>
                <a:lnTo>
                  <a:pt x="88900" y="2207950"/>
                </a:lnTo>
                <a:lnTo>
                  <a:pt x="0" y="2193723"/>
                </a:lnTo>
                <a:lnTo>
                  <a:pt x="75361" y="2166776"/>
                </a:lnTo>
                <a:lnTo>
                  <a:pt x="15473" y="2111213"/>
                </a:lnTo>
                <a:lnTo>
                  <a:pt x="30662" y="2055650"/>
                </a:lnTo>
                <a:lnTo>
                  <a:pt x="12912" y="2000088"/>
                </a:lnTo>
                <a:lnTo>
                  <a:pt x="55148" y="1944526"/>
                </a:lnTo>
                <a:lnTo>
                  <a:pt x="25616" y="1888963"/>
                </a:lnTo>
                <a:lnTo>
                  <a:pt x="64277" y="1833400"/>
                </a:lnTo>
                <a:lnTo>
                  <a:pt x="24787" y="1777838"/>
                </a:lnTo>
                <a:lnTo>
                  <a:pt x="30807" y="1722276"/>
                </a:lnTo>
                <a:lnTo>
                  <a:pt x="30342" y="1666713"/>
                </a:lnTo>
                <a:lnTo>
                  <a:pt x="6943" y="1611150"/>
                </a:lnTo>
                <a:lnTo>
                  <a:pt x="66626" y="1555588"/>
                </a:lnTo>
                <a:lnTo>
                  <a:pt x="52952" y="1500026"/>
                </a:lnTo>
                <a:lnTo>
                  <a:pt x="29835" y="1444463"/>
                </a:lnTo>
                <a:lnTo>
                  <a:pt x="20065" y="1388900"/>
                </a:lnTo>
                <a:lnTo>
                  <a:pt x="20633" y="1333338"/>
                </a:lnTo>
                <a:lnTo>
                  <a:pt x="40968" y="1277776"/>
                </a:lnTo>
                <a:lnTo>
                  <a:pt x="25676" y="1222213"/>
                </a:lnTo>
                <a:lnTo>
                  <a:pt x="33656" y="1166650"/>
                </a:lnTo>
                <a:lnTo>
                  <a:pt x="3102" y="1111088"/>
                </a:lnTo>
                <a:lnTo>
                  <a:pt x="44923" y="1055526"/>
                </a:lnTo>
                <a:lnTo>
                  <a:pt x="41283" y="999963"/>
                </a:lnTo>
                <a:lnTo>
                  <a:pt x="52122" y="944400"/>
                </a:lnTo>
                <a:lnTo>
                  <a:pt x="80538" y="888838"/>
                </a:lnTo>
                <a:lnTo>
                  <a:pt x="72843" y="833276"/>
                </a:lnTo>
                <a:lnTo>
                  <a:pt x="82104" y="777713"/>
                </a:lnTo>
                <a:lnTo>
                  <a:pt x="60763" y="722150"/>
                </a:lnTo>
                <a:lnTo>
                  <a:pt x="43529" y="666588"/>
                </a:lnTo>
                <a:lnTo>
                  <a:pt x="28753" y="611026"/>
                </a:lnTo>
                <a:lnTo>
                  <a:pt x="42213" y="555463"/>
                </a:lnTo>
                <a:lnTo>
                  <a:pt x="46360" y="499900"/>
                </a:lnTo>
                <a:lnTo>
                  <a:pt x="23802" y="444338"/>
                </a:lnTo>
                <a:lnTo>
                  <a:pt x="72183" y="388776"/>
                </a:lnTo>
                <a:lnTo>
                  <a:pt x="12040" y="333213"/>
                </a:lnTo>
                <a:lnTo>
                  <a:pt x="69192" y="277650"/>
                </a:lnTo>
                <a:lnTo>
                  <a:pt x="30242" y="222088"/>
                </a:lnTo>
                <a:lnTo>
                  <a:pt x="24310" y="166526"/>
                </a:lnTo>
                <a:lnTo>
                  <a:pt x="12448" y="110963"/>
                </a:lnTo>
                <a:lnTo>
                  <a:pt x="3756" y="55400"/>
                </a:lnTo>
                <a:close/>
              </a:path>
            </a:pathLst>
          </a:custGeom>
          <a:solidFill>
            <a:srgbClr val="FF7A1A"/>
          </a:solidFill>
          <a:ln>
            <a:noFill/>
          </a:ln>
          <a:effectLst>
            <a:outerShdw blurRad="0" dist="117088" dir="2963922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eedback 3.40"/>
          <p:cNvSpPr txBox="1"/>
          <p:nvPr/>
        </p:nvSpPr>
        <p:spPr>
          <a:xfrm rot="21420000">
            <a:off x="1231900" y="1993900"/>
            <a:ext cx="3175000" cy="190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sz="200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FEEDBACK</a:t>
            </a:r>
          </a:p>
          <a:p>
            <a:pPr algn="l">
              <a:lnSpc>
                <a:spcPts val="11610"/>
              </a:lnSpc>
              <a:spcBef>
                <a:spcPts val="200"/>
              </a:spcBef>
            </a:pPr>
            <a:r>
              <a:rPr sz="13500" b="0">
                <a:solidFill>
                  <a:srgbClr val="0B0610"/>
                </a:solidFill>
                <a:latin typeface="Archivo Display"/>
                <a:ea typeface="Archivo Display"/>
                <a:cs typeface="Archivo Display"/>
              </a:rPr>
              <a:t>3.40</a:t>
            </a:r>
          </a:p>
        </p:txBody>
      </p:sp>
      <p:sp>
        <p:nvSpPr>
          <p:cNvPr id="8" name="Torn sticker Autonomy"/>
          <p:cNvSpPr/>
          <p:nvPr/>
        </p:nvSpPr>
        <p:spPr>
          <a:xfrm rot="150000">
            <a:off x="5207000" y="2986097"/>
            <a:ext cx="3556000" cy="2220903"/>
          </a:xfrm>
          <a:custGeom>
            <a:avLst/>
            <a:gdLst/>
            <a:ahLst/>
            <a:cxnLst/>
            <a:rect l="l" t="t" r="r" b="b"/>
            <a:pathLst>
              <a:path w="3556000" h="2220903">
                <a:moveTo>
                  <a:pt x="0" y="11450"/>
                </a:moveTo>
                <a:lnTo>
                  <a:pt x="88900" y="13021"/>
                </a:lnTo>
                <a:lnTo>
                  <a:pt x="177800" y="45508"/>
                </a:lnTo>
                <a:lnTo>
                  <a:pt x="266700" y="24125"/>
                </a:lnTo>
                <a:lnTo>
                  <a:pt x="355600" y="875"/>
                </a:lnTo>
                <a:lnTo>
                  <a:pt x="444500" y="2214"/>
                </a:lnTo>
                <a:lnTo>
                  <a:pt x="533400" y="42491"/>
                </a:lnTo>
                <a:lnTo>
                  <a:pt x="622300" y="40830"/>
                </a:lnTo>
                <a:lnTo>
                  <a:pt x="711200" y="35715"/>
                </a:lnTo>
                <a:lnTo>
                  <a:pt x="800100" y="43511"/>
                </a:lnTo>
                <a:lnTo>
                  <a:pt x="889000" y="39938"/>
                </a:lnTo>
                <a:lnTo>
                  <a:pt x="977900" y="41258"/>
                </a:lnTo>
                <a:lnTo>
                  <a:pt x="1066800" y="3992"/>
                </a:lnTo>
                <a:lnTo>
                  <a:pt x="1155700" y="42414"/>
                </a:lnTo>
                <a:lnTo>
                  <a:pt x="1244600" y="0"/>
                </a:lnTo>
                <a:lnTo>
                  <a:pt x="1333500" y="39413"/>
                </a:lnTo>
                <a:lnTo>
                  <a:pt x="1422400" y="2517"/>
                </a:lnTo>
                <a:lnTo>
                  <a:pt x="1511300" y="32865"/>
                </a:lnTo>
                <a:lnTo>
                  <a:pt x="1600200" y="49229"/>
                </a:lnTo>
                <a:lnTo>
                  <a:pt x="1689100" y="6610"/>
                </a:lnTo>
                <a:lnTo>
                  <a:pt x="1778000" y="37276"/>
                </a:lnTo>
                <a:lnTo>
                  <a:pt x="1866900" y="47686"/>
                </a:lnTo>
                <a:lnTo>
                  <a:pt x="1955800" y="6160"/>
                </a:lnTo>
                <a:lnTo>
                  <a:pt x="2044700" y="42397"/>
                </a:lnTo>
                <a:lnTo>
                  <a:pt x="2133600" y="30149"/>
                </a:lnTo>
                <a:lnTo>
                  <a:pt x="2222500" y="50958"/>
                </a:lnTo>
                <a:lnTo>
                  <a:pt x="2311400" y="7404"/>
                </a:lnTo>
                <a:lnTo>
                  <a:pt x="2400300" y="24427"/>
                </a:lnTo>
                <a:lnTo>
                  <a:pt x="2489200" y="12797"/>
                </a:lnTo>
                <a:lnTo>
                  <a:pt x="2578100" y="36512"/>
                </a:lnTo>
                <a:lnTo>
                  <a:pt x="2667000" y="12825"/>
                </a:lnTo>
                <a:lnTo>
                  <a:pt x="2755900" y="21598"/>
                </a:lnTo>
                <a:lnTo>
                  <a:pt x="2844800" y="28471"/>
                </a:lnTo>
                <a:lnTo>
                  <a:pt x="2933700" y="36674"/>
                </a:lnTo>
                <a:lnTo>
                  <a:pt x="3022600" y="37525"/>
                </a:lnTo>
                <a:lnTo>
                  <a:pt x="3111500" y="47784"/>
                </a:lnTo>
                <a:lnTo>
                  <a:pt x="3200400" y="22629"/>
                </a:lnTo>
                <a:lnTo>
                  <a:pt x="3289300" y="12078"/>
                </a:lnTo>
                <a:lnTo>
                  <a:pt x="3378200" y="38004"/>
                </a:lnTo>
                <a:lnTo>
                  <a:pt x="3467100" y="40449"/>
                </a:lnTo>
                <a:lnTo>
                  <a:pt x="3556000" y="16552"/>
                </a:lnTo>
                <a:lnTo>
                  <a:pt x="3499913" y="53965"/>
                </a:lnTo>
                <a:lnTo>
                  <a:pt x="3478658" y="109528"/>
                </a:lnTo>
                <a:lnTo>
                  <a:pt x="3550861" y="165091"/>
                </a:lnTo>
                <a:lnTo>
                  <a:pt x="3524530" y="220653"/>
                </a:lnTo>
                <a:lnTo>
                  <a:pt x="3543640" y="276215"/>
                </a:lnTo>
                <a:lnTo>
                  <a:pt x="3485252" y="331778"/>
                </a:lnTo>
                <a:lnTo>
                  <a:pt x="3491584" y="387341"/>
                </a:lnTo>
                <a:lnTo>
                  <a:pt x="3483687" y="442903"/>
                </a:lnTo>
                <a:lnTo>
                  <a:pt x="3529743" y="498465"/>
                </a:lnTo>
                <a:lnTo>
                  <a:pt x="3524477" y="554028"/>
                </a:lnTo>
                <a:lnTo>
                  <a:pt x="3549553" y="609591"/>
                </a:lnTo>
                <a:lnTo>
                  <a:pt x="3555121" y="665153"/>
                </a:lnTo>
                <a:lnTo>
                  <a:pt x="3500934" y="720715"/>
                </a:lnTo>
                <a:lnTo>
                  <a:pt x="3515110" y="776278"/>
                </a:lnTo>
                <a:lnTo>
                  <a:pt x="3499677" y="831841"/>
                </a:lnTo>
                <a:lnTo>
                  <a:pt x="3500317" y="887403"/>
                </a:lnTo>
                <a:lnTo>
                  <a:pt x="3479021" y="942965"/>
                </a:lnTo>
                <a:lnTo>
                  <a:pt x="3491039" y="998528"/>
                </a:lnTo>
                <a:lnTo>
                  <a:pt x="3498025" y="1054091"/>
                </a:lnTo>
                <a:lnTo>
                  <a:pt x="3522148" y="1109653"/>
                </a:lnTo>
                <a:lnTo>
                  <a:pt x="3544014" y="1165215"/>
                </a:lnTo>
                <a:lnTo>
                  <a:pt x="3544213" y="1220778"/>
                </a:lnTo>
                <a:lnTo>
                  <a:pt x="3481482" y="1276341"/>
                </a:lnTo>
                <a:lnTo>
                  <a:pt x="3503861" y="1331903"/>
                </a:lnTo>
                <a:lnTo>
                  <a:pt x="3491433" y="1387465"/>
                </a:lnTo>
                <a:lnTo>
                  <a:pt x="3532804" y="1443028"/>
                </a:lnTo>
                <a:lnTo>
                  <a:pt x="3483757" y="1498591"/>
                </a:lnTo>
                <a:lnTo>
                  <a:pt x="3535473" y="1554153"/>
                </a:lnTo>
                <a:lnTo>
                  <a:pt x="3479989" y="1609715"/>
                </a:lnTo>
                <a:lnTo>
                  <a:pt x="3502718" y="1665278"/>
                </a:lnTo>
                <a:lnTo>
                  <a:pt x="3538261" y="1720841"/>
                </a:lnTo>
                <a:lnTo>
                  <a:pt x="3549966" y="1776403"/>
                </a:lnTo>
                <a:lnTo>
                  <a:pt x="3476028" y="1831965"/>
                </a:lnTo>
                <a:lnTo>
                  <a:pt x="3530274" y="1887528"/>
                </a:lnTo>
                <a:lnTo>
                  <a:pt x="3523901" y="1943091"/>
                </a:lnTo>
                <a:lnTo>
                  <a:pt x="3540144" y="1998653"/>
                </a:lnTo>
                <a:lnTo>
                  <a:pt x="3547000" y="2054215"/>
                </a:lnTo>
                <a:lnTo>
                  <a:pt x="3550140" y="2109778"/>
                </a:lnTo>
                <a:lnTo>
                  <a:pt x="3544511" y="2165341"/>
                </a:lnTo>
                <a:lnTo>
                  <a:pt x="3501372" y="2220903"/>
                </a:lnTo>
                <a:lnTo>
                  <a:pt x="3467100" y="2208258"/>
                </a:lnTo>
                <a:lnTo>
                  <a:pt x="3378200" y="2211249"/>
                </a:lnTo>
                <a:lnTo>
                  <a:pt x="3289300" y="2207016"/>
                </a:lnTo>
                <a:lnTo>
                  <a:pt x="3200400" y="2188557"/>
                </a:lnTo>
                <a:lnTo>
                  <a:pt x="3111500" y="2203362"/>
                </a:lnTo>
                <a:lnTo>
                  <a:pt x="3022600" y="2172013"/>
                </a:lnTo>
                <a:lnTo>
                  <a:pt x="2933700" y="2177888"/>
                </a:lnTo>
                <a:lnTo>
                  <a:pt x="2844800" y="2193285"/>
                </a:lnTo>
                <a:lnTo>
                  <a:pt x="2755900" y="2195887"/>
                </a:lnTo>
                <a:lnTo>
                  <a:pt x="2667000" y="2169948"/>
                </a:lnTo>
                <a:lnTo>
                  <a:pt x="2578100" y="2174701"/>
                </a:lnTo>
                <a:lnTo>
                  <a:pt x="2489200" y="2169285"/>
                </a:lnTo>
                <a:lnTo>
                  <a:pt x="2400300" y="2213630"/>
                </a:lnTo>
                <a:lnTo>
                  <a:pt x="2311400" y="2167965"/>
                </a:lnTo>
                <a:lnTo>
                  <a:pt x="2222500" y="2173080"/>
                </a:lnTo>
                <a:lnTo>
                  <a:pt x="2133600" y="2200347"/>
                </a:lnTo>
                <a:lnTo>
                  <a:pt x="2044700" y="2217295"/>
                </a:lnTo>
                <a:lnTo>
                  <a:pt x="1955800" y="2208700"/>
                </a:lnTo>
                <a:lnTo>
                  <a:pt x="1866900" y="2171320"/>
                </a:lnTo>
                <a:lnTo>
                  <a:pt x="1778000" y="2180886"/>
                </a:lnTo>
                <a:lnTo>
                  <a:pt x="1689100" y="2213180"/>
                </a:lnTo>
                <a:lnTo>
                  <a:pt x="1600200" y="2187478"/>
                </a:lnTo>
                <a:lnTo>
                  <a:pt x="1511300" y="2207617"/>
                </a:lnTo>
                <a:lnTo>
                  <a:pt x="1422400" y="2174889"/>
                </a:lnTo>
                <a:lnTo>
                  <a:pt x="1333500" y="2220573"/>
                </a:lnTo>
                <a:lnTo>
                  <a:pt x="1244600" y="2216967"/>
                </a:lnTo>
                <a:lnTo>
                  <a:pt x="1155700" y="2201590"/>
                </a:lnTo>
                <a:lnTo>
                  <a:pt x="1066800" y="2170980"/>
                </a:lnTo>
                <a:lnTo>
                  <a:pt x="977900" y="2203058"/>
                </a:lnTo>
                <a:lnTo>
                  <a:pt x="889000" y="2175840"/>
                </a:lnTo>
                <a:lnTo>
                  <a:pt x="800100" y="2202683"/>
                </a:lnTo>
                <a:lnTo>
                  <a:pt x="711200" y="2192904"/>
                </a:lnTo>
                <a:lnTo>
                  <a:pt x="622300" y="2219584"/>
                </a:lnTo>
                <a:lnTo>
                  <a:pt x="533400" y="2220842"/>
                </a:lnTo>
                <a:lnTo>
                  <a:pt x="444500" y="2174497"/>
                </a:lnTo>
                <a:lnTo>
                  <a:pt x="355600" y="2217846"/>
                </a:lnTo>
                <a:lnTo>
                  <a:pt x="266700" y="2184395"/>
                </a:lnTo>
                <a:lnTo>
                  <a:pt x="177800" y="2187831"/>
                </a:lnTo>
                <a:lnTo>
                  <a:pt x="88900" y="2190996"/>
                </a:lnTo>
                <a:lnTo>
                  <a:pt x="0" y="2195129"/>
                </a:lnTo>
                <a:lnTo>
                  <a:pt x="14616" y="2165341"/>
                </a:lnTo>
                <a:lnTo>
                  <a:pt x="84781" y="2109778"/>
                </a:lnTo>
                <a:lnTo>
                  <a:pt x="32944" y="2054215"/>
                </a:lnTo>
                <a:lnTo>
                  <a:pt x="68990" y="1998653"/>
                </a:lnTo>
                <a:lnTo>
                  <a:pt x="10140" y="1943091"/>
                </a:lnTo>
                <a:lnTo>
                  <a:pt x="15963" y="1887528"/>
                </a:lnTo>
                <a:lnTo>
                  <a:pt x="24743" y="1831965"/>
                </a:lnTo>
                <a:lnTo>
                  <a:pt x="44964" y="1776403"/>
                </a:lnTo>
                <a:lnTo>
                  <a:pt x="55923" y="1720841"/>
                </a:lnTo>
                <a:lnTo>
                  <a:pt x="51258" y="1665278"/>
                </a:lnTo>
                <a:lnTo>
                  <a:pt x="26738" y="1609715"/>
                </a:lnTo>
                <a:lnTo>
                  <a:pt x="18668" y="1554153"/>
                </a:lnTo>
                <a:lnTo>
                  <a:pt x="65498" y="1498591"/>
                </a:lnTo>
                <a:lnTo>
                  <a:pt x="35795" y="1443028"/>
                </a:lnTo>
                <a:lnTo>
                  <a:pt x="69133" y="1387465"/>
                </a:lnTo>
                <a:lnTo>
                  <a:pt x="70711" y="1331903"/>
                </a:lnTo>
                <a:lnTo>
                  <a:pt x="1163" y="1276341"/>
                </a:lnTo>
                <a:lnTo>
                  <a:pt x="8399" y="1220778"/>
                </a:lnTo>
                <a:lnTo>
                  <a:pt x="49688" y="1165215"/>
                </a:lnTo>
                <a:lnTo>
                  <a:pt x="33270" y="1109653"/>
                </a:lnTo>
                <a:lnTo>
                  <a:pt x="45898" y="1054091"/>
                </a:lnTo>
                <a:lnTo>
                  <a:pt x="22948" y="998528"/>
                </a:lnTo>
                <a:lnTo>
                  <a:pt x="1027" y="942965"/>
                </a:lnTo>
                <a:lnTo>
                  <a:pt x="18083" y="887403"/>
                </a:lnTo>
                <a:lnTo>
                  <a:pt x="50287" y="831841"/>
                </a:lnTo>
                <a:lnTo>
                  <a:pt x="60496" y="776278"/>
                </a:lnTo>
                <a:lnTo>
                  <a:pt x="44328" y="720715"/>
                </a:lnTo>
                <a:lnTo>
                  <a:pt x="67741" y="665153"/>
                </a:lnTo>
                <a:lnTo>
                  <a:pt x="85315" y="609591"/>
                </a:lnTo>
                <a:lnTo>
                  <a:pt x="22813" y="554028"/>
                </a:lnTo>
                <a:lnTo>
                  <a:pt x="78721" y="498465"/>
                </a:lnTo>
                <a:lnTo>
                  <a:pt x="83768" y="442903"/>
                </a:lnTo>
                <a:lnTo>
                  <a:pt x="27474" y="387341"/>
                </a:lnTo>
                <a:lnTo>
                  <a:pt x="75399" y="331778"/>
                </a:lnTo>
                <a:lnTo>
                  <a:pt x="45188" y="276215"/>
                </a:lnTo>
                <a:lnTo>
                  <a:pt x="11483" y="220653"/>
                </a:lnTo>
                <a:lnTo>
                  <a:pt x="49718" y="165091"/>
                </a:lnTo>
                <a:lnTo>
                  <a:pt x="7777" y="109528"/>
                </a:lnTo>
                <a:lnTo>
                  <a:pt x="3507" y="53965"/>
                </a:lnTo>
                <a:close/>
              </a:path>
            </a:pathLst>
          </a:custGeom>
          <a:solidFill>
            <a:srgbClr val="FF7A1A"/>
          </a:solidFill>
          <a:ln>
            <a:noFill/>
          </a:ln>
          <a:effectLst>
            <a:outerShdw blurRad="0" dist="117088" dir="2963922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utonomy 2.84"/>
          <p:cNvSpPr txBox="1"/>
          <p:nvPr/>
        </p:nvSpPr>
        <p:spPr>
          <a:xfrm rot="150000">
            <a:off x="5486400" y="3263900"/>
            <a:ext cx="3175000" cy="190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sz="200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AUTONOMY</a:t>
            </a:r>
          </a:p>
          <a:p>
            <a:pPr algn="l">
              <a:lnSpc>
                <a:spcPts val="11610"/>
              </a:lnSpc>
              <a:spcBef>
                <a:spcPts val="200"/>
              </a:spcBef>
            </a:pPr>
            <a:r>
              <a:rPr sz="13500" b="0">
                <a:solidFill>
                  <a:srgbClr val="0B0610"/>
                </a:solidFill>
                <a:latin typeface="Archivo Display"/>
                <a:ea typeface="Archivo Display"/>
                <a:cs typeface="Archivo Display"/>
              </a:rPr>
              <a:t>2.84</a:t>
            </a:r>
          </a:p>
        </p:txBody>
      </p:sp>
      <p:sp>
        <p:nvSpPr>
          <p:cNvPr id="10" name="!!wallL"/>
          <p:cNvSpPr/>
          <p:nvPr/>
        </p:nvSpPr>
        <p:spPr>
          <a:xfrm>
            <a:off x="-4318000" y="0"/>
            <a:ext cx="4191000" cy="6858000"/>
          </a:xfrm>
          <a:prstGeom prst="rect">
            <a:avLst/>
          </a:prstGeom>
          <a:solidFill>
            <a:srgbClr val="FF2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!!wallR"/>
          <p:cNvSpPr/>
          <p:nvPr/>
        </p:nvSpPr>
        <p:spPr>
          <a:xfrm>
            <a:off x="12319000" y="0"/>
            <a:ext cx="4191000" cy="6858000"/>
          </a:xfrm>
          <a:prstGeom prst="rect">
            <a:avLst/>
          </a:prstGeom>
          <a:solidFill>
            <a:srgbClr val="FF2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8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cashier A04" descr="a04_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762000"/>
            <a:ext cx="8763000" cy="6093655"/>
          </a:xfrm>
          <a:prstGeom prst="rect">
            <a:avLst/>
          </a:prstGeom>
        </p:spPr>
      </p:pic>
      <p:sp>
        <p:nvSpPr>
          <p:cNvPr id="3" name="!!wallL"/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FF2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wallR"/>
          <p:cNvSpPr/>
          <p:nvPr/>
        </p:nvSpPr>
        <p:spPr>
          <a:xfrm>
            <a:off x="8001000" y="0"/>
            <a:ext cx="4191000" cy="6858000"/>
          </a:xfrm>
          <a:prstGeom prst="rect">
            <a:avLst/>
          </a:prstGeom>
          <a:solidFill>
            <a:srgbClr val="FF2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Skill Variety 2.55"/>
          <p:cNvSpPr txBox="1"/>
          <p:nvPr/>
        </p:nvSpPr>
        <p:spPr>
          <a:xfrm>
            <a:off x="-1281087" y="3556000"/>
            <a:ext cx="5281587" cy="26822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8920"/>
              </a:lnSpc>
            </a:pPr>
            <a:r>
              <a:rPr sz="22000" b="0" spc="-660">
                <a:solidFill>
                  <a:srgbClr val="0B0610"/>
                </a:solidFill>
                <a:latin typeface="Archivo Display"/>
                <a:ea typeface="Archivo Display"/>
                <a:cs typeface="Archivo Display"/>
              </a:rPr>
              <a:t>2.55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8468" y="5905500"/>
            <a:ext cx="958532" cy="2400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750"/>
              </a:lnSpc>
            </a:pPr>
            <a:r>
              <a:rPr sz="14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OUT OF 5</a:t>
            </a:r>
          </a:p>
        </p:txBody>
      </p:sp>
      <p:sp>
        <p:nvSpPr>
          <p:cNvPr id="7" name="Dimension name"/>
          <p:cNvSpPr txBox="1"/>
          <p:nvPr/>
        </p:nvSpPr>
        <p:spPr>
          <a:xfrm>
            <a:off x="8280400" y="762000"/>
            <a:ext cx="3556000" cy="1079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780"/>
              </a:lnSpc>
            </a:pPr>
            <a:r>
              <a:rPr sz="360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SKILL</a:t>
            </a:r>
          </a:p>
          <a:p>
            <a:pPr algn="l">
              <a:lnSpc>
                <a:spcPts val="3780"/>
              </a:lnSpc>
            </a:pPr>
            <a:r>
              <a:rPr sz="360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VARIETY</a:t>
            </a:r>
          </a:p>
        </p:txBody>
      </p:sp>
      <p:sp>
        <p:nvSpPr>
          <p:cNvPr id="8" name="Marker note"/>
          <p:cNvSpPr txBox="1"/>
          <p:nvPr/>
        </p:nvSpPr>
        <p:spPr>
          <a:xfrm rot="21300000">
            <a:off x="8305800" y="2032000"/>
            <a:ext cx="3556000" cy="139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704"/>
              </a:lnSpc>
            </a:pPr>
            <a:r>
              <a:rPr sz="4800" b="0">
                <a:solidFill>
                  <a:srgbClr val="0B0610"/>
                </a:solidFill>
                <a:latin typeface="Caveat Brush"/>
                <a:ea typeface="Caveat Brush"/>
                <a:cs typeface="Caveat Brush"/>
              </a:rPr>
              <a:t>lowest of</a:t>
            </a:r>
          </a:p>
          <a:p>
            <a:pPr algn="l">
              <a:lnSpc>
                <a:spcPts val="4704"/>
              </a:lnSpc>
            </a:pPr>
            <a:r>
              <a:rPr sz="4800" b="0">
                <a:solidFill>
                  <a:srgbClr val="0B0610"/>
                </a:solidFill>
                <a:latin typeface="Caveat Brush"/>
                <a:ea typeface="Caveat Brush"/>
                <a:cs typeface="Caveat Brush"/>
              </a:rPr>
              <a:t>all five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4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xture: film grain" descr="grain.png"/>
          <p:cNvPicPr>
            <a:picLocks noChangeAspect="1" noSel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III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698500"/>
            <a:ext cx="5827522" cy="6217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416"/>
              </a:lnSpc>
            </a:pPr>
            <a:r>
              <a:rPr sz="4800" b="0">
                <a:solidFill>
                  <a:srgbClr val="F4ECDD"/>
                </a:solidFill>
                <a:latin typeface="Archivo Condensed"/>
                <a:ea typeface="Archivo Condensed"/>
                <a:cs typeface="Archivo Condensed"/>
              </a:rPr>
              <a:t>THE FULL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7900" y="1365250"/>
            <a:ext cx="7267380" cy="206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95"/>
              </a:lnSpc>
            </a:pPr>
            <a:r>
              <a:rPr sz="1300" b="0" spc="182">
                <a:solidFill>
                  <a:srgbClr val="BAB2AA"/>
                </a:solidFill>
                <a:latin typeface="Archivo Label"/>
                <a:ea typeface="Archivo Label"/>
                <a:cs typeface="Archivo Label"/>
              </a:rPr>
              <a:t>MEAN SCORE PER JOB CHARACTERISTIC · n = 25 · SCALE 1–5</a:t>
            </a:r>
          </a:p>
        </p:txBody>
      </p:sp>
      <p:sp>
        <p:nvSpPr>
          <p:cNvPr id="6" name="Midpoint"/>
          <p:cNvSpPr/>
          <p:nvPr/>
        </p:nvSpPr>
        <p:spPr>
          <a:xfrm>
            <a:off x="7797800" y="1714500"/>
            <a:ext cx="635" cy="3937000"/>
          </a:xfrm>
          <a:prstGeom prst="rect">
            <a:avLst/>
          </a:prstGeom>
          <a:noFill/>
          <a:ln w="25400">
            <a:solidFill>
              <a:srgbClr val="F4ECDD">
                <a:alpha val="50000"/>
              </a:srgbClr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52500" y="2032000"/>
            <a:ext cx="3574582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sz="20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TASK SIGNIFICANCE</a:t>
            </a:r>
          </a:p>
        </p:txBody>
      </p:sp>
      <p:sp>
        <p:nvSpPr>
          <p:cNvPr id="8" name="Track"/>
          <p:cNvSpPr/>
          <p:nvPr/>
        </p:nvSpPr>
        <p:spPr>
          <a:xfrm>
            <a:off x="4826000" y="2146300"/>
            <a:ext cx="5969000" cy="25400"/>
          </a:xfrm>
          <a:prstGeom prst="rect">
            <a:avLst/>
          </a:prstGeom>
          <a:solidFill>
            <a:srgbClr val="F4ECDD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Bar TS"/>
          <p:cNvSpPr/>
          <p:nvPr/>
        </p:nvSpPr>
        <p:spPr>
          <a:xfrm>
            <a:off x="7810500" y="2114550"/>
            <a:ext cx="1626553" cy="88900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Dot TS"/>
          <p:cNvSpPr/>
          <p:nvPr/>
        </p:nvSpPr>
        <p:spPr>
          <a:xfrm>
            <a:off x="9271952" y="1993900"/>
            <a:ext cx="330200" cy="330200"/>
          </a:xfrm>
          <a:prstGeom prst="ellipse">
            <a:avLst/>
          </a:prstGeom>
          <a:solidFill>
            <a:srgbClr val="3D6BFF"/>
          </a:solidFill>
          <a:ln w="31750">
            <a:solidFill>
              <a:srgbClr val="07040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ask Significance 4.09"/>
          <p:cNvSpPr txBox="1"/>
          <p:nvPr/>
        </p:nvSpPr>
        <p:spPr>
          <a:xfrm>
            <a:off x="9703752" y="1930400"/>
            <a:ext cx="816046" cy="3901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52"/>
              </a:lnSpc>
            </a:pPr>
            <a:r>
              <a:rPr sz="3200" b="0">
                <a:solidFill>
                  <a:srgbClr val="F4ECDD"/>
                </a:solidFill>
                <a:latin typeface="Archivo Display"/>
                <a:ea typeface="Archivo Display"/>
                <a:cs typeface="Archivo Display"/>
              </a:rPr>
              <a:t>4.09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2781300"/>
            <a:ext cx="2699345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sz="20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TASK IDENTITY</a:t>
            </a:r>
          </a:p>
        </p:txBody>
      </p:sp>
      <p:sp>
        <p:nvSpPr>
          <p:cNvPr id="13" name="Track"/>
          <p:cNvSpPr/>
          <p:nvPr/>
        </p:nvSpPr>
        <p:spPr>
          <a:xfrm>
            <a:off x="4826000" y="2895600"/>
            <a:ext cx="5969000" cy="25400"/>
          </a:xfrm>
          <a:prstGeom prst="rect">
            <a:avLst/>
          </a:prstGeom>
          <a:solidFill>
            <a:srgbClr val="F4ECDD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Bar TI"/>
          <p:cNvSpPr/>
          <p:nvPr/>
        </p:nvSpPr>
        <p:spPr>
          <a:xfrm>
            <a:off x="7810500" y="2863850"/>
            <a:ext cx="1551940" cy="88900"/>
          </a:xfrm>
          <a:prstGeom prst="rect">
            <a:avLst/>
          </a:prstGeom>
          <a:solidFill>
            <a:srgbClr val="3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Dot TI"/>
          <p:cNvSpPr/>
          <p:nvPr/>
        </p:nvSpPr>
        <p:spPr>
          <a:xfrm>
            <a:off x="9197340" y="2743200"/>
            <a:ext cx="330200" cy="330200"/>
          </a:xfrm>
          <a:prstGeom prst="ellipse">
            <a:avLst/>
          </a:prstGeom>
          <a:solidFill>
            <a:srgbClr val="3D6BFF"/>
          </a:solidFill>
          <a:ln w="31750">
            <a:solidFill>
              <a:srgbClr val="07040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sk Identity 4.04"/>
          <p:cNvSpPr txBox="1"/>
          <p:nvPr/>
        </p:nvSpPr>
        <p:spPr>
          <a:xfrm>
            <a:off x="9629140" y="2679700"/>
            <a:ext cx="811816" cy="3901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52"/>
              </a:lnSpc>
            </a:pPr>
            <a:r>
              <a:rPr sz="3200" b="0">
                <a:solidFill>
                  <a:srgbClr val="F4ECDD"/>
                </a:solidFill>
                <a:latin typeface="Archivo Display"/>
                <a:ea typeface="Archivo Display"/>
                <a:cs typeface="Archivo Display"/>
              </a:rPr>
              <a:t>4.04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3530600"/>
            <a:ext cx="1992408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sz="20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FEEDBACK</a:t>
            </a:r>
          </a:p>
        </p:txBody>
      </p:sp>
      <p:sp>
        <p:nvSpPr>
          <p:cNvPr id="18" name="Track"/>
          <p:cNvSpPr/>
          <p:nvPr/>
        </p:nvSpPr>
        <p:spPr>
          <a:xfrm>
            <a:off x="4826000" y="3644900"/>
            <a:ext cx="5969000" cy="25400"/>
          </a:xfrm>
          <a:prstGeom prst="rect">
            <a:avLst/>
          </a:prstGeom>
          <a:solidFill>
            <a:srgbClr val="F4ECDD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Bar FB"/>
          <p:cNvSpPr/>
          <p:nvPr/>
        </p:nvSpPr>
        <p:spPr>
          <a:xfrm>
            <a:off x="7810500" y="3613150"/>
            <a:ext cx="596900" cy="8890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Dot FB"/>
          <p:cNvSpPr/>
          <p:nvPr/>
        </p:nvSpPr>
        <p:spPr>
          <a:xfrm>
            <a:off x="8242300" y="3492500"/>
            <a:ext cx="330200" cy="330200"/>
          </a:xfrm>
          <a:prstGeom prst="ellipse">
            <a:avLst/>
          </a:prstGeom>
          <a:solidFill>
            <a:srgbClr val="FF7A1A"/>
          </a:solidFill>
          <a:ln w="31750">
            <a:solidFill>
              <a:srgbClr val="07040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eedback 3.40"/>
          <p:cNvSpPr txBox="1"/>
          <p:nvPr/>
        </p:nvSpPr>
        <p:spPr>
          <a:xfrm>
            <a:off x="8674100" y="3429000"/>
            <a:ext cx="813880" cy="3901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752"/>
              </a:lnSpc>
            </a:pPr>
            <a:r>
              <a:rPr sz="3200" b="0">
                <a:solidFill>
                  <a:srgbClr val="F4ECDD"/>
                </a:solidFill>
                <a:latin typeface="Archivo Display"/>
                <a:ea typeface="Archivo Display"/>
                <a:cs typeface="Archivo Display"/>
              </a:rPr>
              <a:t>3.40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" y="4279900"/>
            <a:ext cx="2157405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sz="20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AUTONOMY</a:t>
            </a:r>
          </a:p>
        </p:txBody>
      </p:sp>
      <p:sp>
        <p:nvSpPr>
          <p:cNvPr id="23" name="Track"/>
          <p:cNvSpPr/>
          <p:nvPr/>
        </p:nvSpPr>
        <p:spPr>
          <a:xfrm>
            <a:off x="4826000" y="4394200"/>
            <a:ext cx="5969000" cy="25400"/>
          </a:xfrm>
          <a:prstGeom prst="rect">
            <a:avLst/>
          </a:prstGeom>
          <a:solidFill>
            <a:srgbClr val="F4ECDD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Bar AU"/>
          <p:cNvSpPr/>
          <p:nvPr/>
        </p:nvSpPr>
        <p:spPr>
          <a:xfrm>
            <a:off x="7571740" y="4362450"/>
            <a:ext cx="238760" cy="8890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Dot AU"/>
          <p:cNvSpPr/>
          <p:nvPr/>
        </p:nvSpPr>
        <p:spPr>
          <a:xfrm>
            <a:off x="7406640" y="4241800"/>
            <a:ext cx="330200" cy="330200"/>
          </a:xfrm>
          <a:prstGeom prst="ellipse">
            <a:avLst/>
          </a:prstGeom>
          <a:solidFill>
            <a:srgbClr val="FF7A1A"/>
          </a:solidFill>
          <a:ln w="31750">
            <a:solidFill>
              <a:srgbClr val="07040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Autonomy 2.84"/>
          <p:cNvSpPr txBox="1"/>
          <p:nvPr/>
        </p:nvSpPr>
        <p:spPr>
          <a:xfrm>
            <a:off x="6501789" y="4178300"/>
            <a:ext cx="803251" cy="3901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752"/>
              </a:lnSpc>
            </a:pPr>
            <a:r>
              <a:rPr sz="3200" b="0">
                <a:solidFill>
                  <a:srgbClr val="F4ECDD"/>
                </a:solidFill>
                <a:latin typeface="Archivo Display"/>
                <a:ea typeface="Archivo Display"/>
                <a:cs typeface="Archivo Display"/>
              </a:rPr>
              <a:t>2.84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500" y="5029200"/>
            <a:ext cx="2661063" cy="292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sz="2000" b="0">
                <a:solidFill>
                  <a:srgbClr val="FF2E88"/>
                </a:solidFill>
                <a:latin typeface="Archivo Expanded"/>
                <a:ea typeface="Archivo Expanded"/>
                <a:cs typeface="Archivo Expanded"/>
              </a:rPr>
              <a:t>SKILL VARIETY</a:t>
            </a:r>
          </a:p>
        </p:txBody>
      </p:sp>
      <p:sp>
        <p:nvSpPr>
          <p:cNvPr id="28" name="Track"/>
          <p:cNvSpPr/>
          <p:nvPr/>
        </p:nvSpPr>
        <p:spPr>
          <a:xfrm>
            <a:off x="4826000" y="5143500"/>
            <a:ext cx="5969000" cy="25400"/>
          </a:xfrm>
          <a:prstGeom prst="rect">
            <a:avLst/>
          </a:prstGeom>
          <a:solidFill>
            <a:srgbClr val="F4ECDD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Bar SV"/>
          <p:cNvSpPr/>
          <p:nvPr/>
        </p:nvSpPr>
        <p:spPr>
          <a:xfrm>
            <a:off x="7138988" y="5111750"/>
            <a:ext cx="671512" cy="88900"/>
          </a:xfrm>
          <a:prstGeom prst="rect">
            <a:avLst/>
          </a:prstGeom>
          <a:solidFill>
            <a:srgbClr val="FF2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Dot SV"/>
          <p:cNvSpPr/>
          <p:nvPr/>
        </p:nvSpPr>
        <p:spPr>
          <a:xfrm>
            <a:off x="6973888" y="4991100"/>
            <a:ext cx="330200" cy="330200"/>
          </a:xfrm>
          <a:prstGeom prst="ellipse">
            <a:avLst/>
          </a:prstGeom>
          <a:solidFill>
            <a:srgbClr val="FF2E88"/>
          </a:solidFill>
          <a:ln w="31750">
            <a:solidFill>
              <a:srgbClr val="07040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kill Variety 2.55"/>
          <p:cNvSpPr txBox="1"/>
          <p:nvPr/>
        </p:nvSpPr>
        <p:spPr>
          <a:xfrm>
            <a:off x="6066044" y="4927600"/>
            <a:ext cx="806244" cy="3901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2752"/>
              </a:lnSpc>
            </a:pPr>
            <a:r>
              <a:rPr sz="3200" b="0">
                <a:solidFill>
                  <a:srgbClr val="F4ECDD"/>
                </a:solidFill>
                <a:latin typeface="Archivo Display"/>
                <a:ea typeface="Archivo Display"/>
                <a:cs typeface="Archivo Display"/>
              </a:rPr>
              <a:t>2.55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28464" y="5715000"/>
            <a:ext cx="19507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75"/>
              </a:lnSpc>
            </a:pPr>
            <a:r>
              <a:rPr sz="15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0714" y="5715000"/>
            <a:ext cx="19507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75"/>
              </a:lnSpc>
            </a:pPr>
            <a:r>
              <a:rPr sz="15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2964" y="5715000"/>
            <a:ext cx="19507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75"/>
              </a:lnSpc>
            </a:pPr>
            <a:r>
              <a:rPr sz="15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5214" y="5715000"/>
            <a:ext cx="19507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75"/>
              </a:lnSpc>
            </a:pPr>
            <a:r>
              <a:rPr sz="15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7464" y="5715000"/>
            <a:ext cx="195072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875"/>
              </a:lnSpc>
            </a:pPr>
            <a:r>
              <a:rPr sz="15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48" y="6000750"/>
            <a:ext cx="1392904" cy="2057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500"/>
              </a:lnSpc>
            </a:pPr>
            <a:r>
              <a:rPr sz="1200" b="0">
                <a:solidFill>
                  <a:srgbClr val="AEA7A0"/>
                </a:solidFill>
                <a:latin typeface="JetBrains Mono"/>
                <a:ea typeface="JetBrains Mono"/>
                <a:cs typeface="JetBrains Mono"/>
              </a:rPr>
              <a:t>scale midpoint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000750"/>
            <a:ext cx="1678321" cy="2057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0">
                <a:solidFill>
                  <a:srgbClr val="AEA7A0"/>
                </a:solidFill>
                <a:latin typeface="JetBrains Mono"/>
                <a:ea typeface="JetBrains Mono"/>
                <a:cs typeface="JetBrains Mono"/>
              </a:rPr>
              <a:t>strongly disagree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56096" y="6000750"/>
            <a:ext cx="1392904" cy="2057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ts val="1500"/>
              </a:lnSpc>
            </a:pPr>
            <a:r>
              <a:rPr sz="1200" b="0">
                <a:solidFill>
                  <a:srgbClr val="AEA7A0"/>
                </a:solidFill>
                <a:latin typeface="JetBrains Mono"/>
                <a:ea typeface="JetBrains Mono"/>
                <a:cs typeface="JetBrains Mono"/>
              </a:rPr>
              <a:t>strongly agree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D1243"/>
            </a:gs>
            <a:gs pos="52000">
              <a:srgbClr val="1C0A29"/>
            </a:gs>
            <a:gs pos="100000">
              <a:srgbClr val="0B0610"/>
            </a:gs>
          </a:gsLst>
          <a:path path="circle">
            <a:fillToRect l="50000" t="38000" r="50000" b="62000"/>
          </a:path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 A03 (store, blurred)" descr="a03_blur.jpg"/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hoto d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610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Texture: film grain" descr="grain.png"/>
          <p:cNvPicPr>
            <a:picLocks noChangeAspect="1" noSel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!!cashier A04" descr="a04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0" y="762000"/>
            <a:ext cx="8763000" cy="6093655"/>
          </a:xfrm>
          <a:prstGeom prst="rect">
            <a:avLst/>
          </a:prstGeom>
        </p:spPr>
      </p:pic>
      <p:sp>
        <p:nvSpPr>
          <p:cNvPr id="6" name="!!meaningful"/>
          <p:cNvSpPr txBox="1"/>
          <p:nvPr/>
        </p:nvSpPr>
        <p:spPr>
          <a:xfrm>
            <a:off x="0" y="2984500"/>
            <a:ext cx="12192000" cy="190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4190"/>
              </a:lnSpc>
            </a:pPr>
            <a:r>
              <a:rPr sz="16500" b="0">
                <a:solidFill>
                  <a:srgbClr val="F4ECDD"/>
                </a:solidFill>
                <a:effectLst>
                  <a:outerShdw blurRad="0" dist="88900" dir="5400000" algn="tl" rotWithShape="0">
                    <a:srgbClr val="000000">
                      <a:alpha val="55000"/>
                    </a:srgbClr>
                  </a:outerShdw>
                </a:effectLst>
                <a:latin typeface="Archivo Display"/>
                <a:ea typeface="Archivo Display"/>
                <a:cs typeface="Archivo Display"/>
              </a:rPr>
              <a:t>MEANINGFUL.</a:t>
            </a:r>
          </a:p>
        </p:txBody>
      </p:sp>
      <p:sp>
        <p:nvSpPr>
          <p:cNvPr id="7" name="!!barL"/>
          <p:cNvSpPr/>
          <p:nvPr/>
        </p:nvSpPr>
        <p:spPr>
          <a:xfrm>
            <a:off x="-4445000" y="0"/>
            <a:ext cx="4191000" cy="68580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!!hazL" descr="hazar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82600" y="0"/>
            <a:ext cx="228600" cy="6858000"/>
          </a:xfrm>
          <a:prstGeom prst="rect">
            <a:avLst/>
          </a:prstGeom>
        </p:spPr>
      </p:pic>
      <p:sp>
        <p:nvSpPr>
          <p:cNvPr id="9" name="!!barR"/>
          <p:cNvSpPr/>
          <p:nvPr/>
        </p:nvSpPr>
        <p:spPr>
          <a:xfrm>
            <a:off x="12446000" y="0"/>
            <a:ext cx="4191000" cy="68580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!!hazR" descr="hazar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46000" y="0"/>
            <a:ext cx="2286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D1243"/>
            </a:gs>
            <a:gs pos="52000">
              <a:srgbClr val="1C0A29"/>
            </a:gs>
            <a:gs pos="100000">
              <a:srgbClr val="0B0610"/>
            </a:gs>
          </a:gsLst>
          <a:path path="circle">
            <a:fillToRect l="50000" t="38000" r="50000" b="62000"/>
          </a:path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 A03 (store, blurred)" descr="a03_blur.jpg"/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hoto d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610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Texture: film grain" descr="grain.png"/>
          <p:cNvPicPr>
            <a:picLocks noChangeAspect="1" noSel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!!cashier A04" descr="a04_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0" y="762000"/>
            <a:ext cx="8763000" cy="6093655"/>
          </a:xfrm>
          <a:prstGeom prst="rect">
            <a:avLst/>
          </a:prstGeom>
        </p:spPr>
      </p:pic>
      <p:sp>
        <p:nvSpPr>
          <p:cNvPr id="6" name="!!barL"/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!!hazL" descr="hazar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2400" y="0"/>
            <a:ext cx="228600" cy="6858000"/>
          </a:xfrm>
          <a:prstGeom prst="rect">
            <a:avLst/>
          </a:prstGeom>
        </p:spPr>
      </p:pic>
      <p:sp>
        <p:nvSpPr>
          <p:cNvPr id="8" name="!!barR"/>
          <p:cNvSpPr/>
          <p:nvPr/>
        </p:nvSpPr>
        <p:spPr>
          <a:xfrm>
            <a:off x="8001000" y="0"/>
            <a:ext cx="4191000" cy="68580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!!hazR" descr="hazar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0"/>
            <a:ext cx="228600" cy="6858000"/>
          </a:xfrm>
          <a:prstGeom prst="rect">
            <a:avLst/>
          </a:prstGeom>
        </p:spPr>
      </p:pic>
      <p:sp>
        <p:nvSpPr>
          <p:cNvPr id="10" name="!!meaningful"/>
          <p:cNvSpPr txBox="1"/>
          <p:nvPr/>
        </p:nvSpPr>
        <p:spPr>
          <a:xfrm>
            <a:off x="0" y="393700"/>
            <a:ext cx="12192000" cy="698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4816"/>
              </a:lnSpc>
            </a:pPr>
            <a:r>
              <a:rPr sz="5600" b="0">
                <a:solidFill>
                  <a:srgbClr val="F4ECDD"/>
                </a:solidFill>
                <a:effectLst>
                  <a:outerShdw blurRad="0" dist="38100" dir="5400000" algn="tl" rotWithShape="0">
                    <a:srgbClr val="000000">
                      <a:alpha val="55000"/>
                    </a:srgbClr>
                  </a:outerShdw>
                </a:effectLst>
                <a:latin typeface="Archivo Display"/>
                <a:ea typeface="Archivo Display"/>
                <a:cs typeface="Archivo Display"/>
              </a:rPr>
              <a:t>MEANINGFUL.</a:t>
            </a:r>
          </a:p>
        </p:txBody>
      </p:sp>
      <p:sp>
        <p:nvSpPr>
          <p:cNvPr id="11" name="But narrow"/>
          <p:cNvSpPr txBox="1"/>
          <p:nvPr/>
        </p:nvSpPr>
        <p:spPr>
          <a:xfrm>
            <a:off x="0" y="4826000"/>
            <a:ext cx="12192000" cy="139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9890"/>
              </a:lnSpc>
            </a:pPr>
            <a:r>
              <a:rPr sz="11500" b="0">
                <a:solidFill>
                  <a:srgbClr val="FF2E88"/>
                </a:solidFill>
                <a:effectLst>
                  <a:outerShdw blurRad="0" dist="63500" dir="5400000" algn="tl" rotWithShape="0">
                    <a:srgbClr val="000000">
                      <a:alpha val="60000"/>
                    </a:srgbClr>
                  </a:outerShdw>
                </a:effectLst>
                <a:latin typeface="Archivo Display"/>
                <a:ea typeface="Archivo Display"/>
                <a:cs typeface="Archivo Display"/>
              </a:rPr>
              <a:t>BUT NARROW.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xture: film grain" descr="grain.png"/>
          <p:cNvPicPr>
            <a:picLocks noChangeAspect="1" noSel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ct tag box"/>
          <p:cNvSpPr/>
          <p:nvPr/>
        </p:nvSpPr>
        <p:spPr>
          <a:xfrm>
            <a:off x="393700" y="304800"/>
            <a:ext cx="296751" cy="203200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IV</a:t>
            </a:r>
            <a:r>
              <a:rPr sz="1200" b="0" spc="96">
                <a:solidFill>
                  <a:srgbClr val="454043"/>
                </a:solidFill>
                <a:latin typeface="JetBrains Mono"/>
                <a:ea typeface="JetBrains Mono"/>
                <a:cs typeface="JetBrains Mono"/>
              </a:rPr>
              <a:t>  GO DEEPER</a:t>
            </a:r>
          </a:p>
        </p:txBody>
      </p:sp>
      <p:pic>
        <p:nvPicPr>
          <p:cNvPr id="5" name="Authority 4.32 (paper tag)" descr="tag4.png"/>
          <p:cNvPicPr>
            <a:picLocks noChangeAspect="1"/>
          </p:cNvPicPr>
          <p:nvPr/>
        </p:nvPicPr>
        <p:blipFill>
          <a:blip r:embed="rId3"/>
          <a:srcRect t="5000"/>
          <a:stretch>
            <a:fillRect/>
          </a:stretch>
        </p:blipFill>
        <p:spPr>
          <a:xfrm>
            <a:off x="444500" y="0"/>
            <a:ext cx="2413000" cy="5961648"/>
          </a:xfrm>
          <a:prstGeom prst="rect">
            <a:avLst/>
          </a:prstGeom>
          <a:effectLst>
            <a:outerShdw blurRad="0" dist="109249" dir="3267739" algn="tl" rotWithShape="0">
              <a:srgbClr val="000000">
                <a:alpha val="28000"/>
              </a:srgbClr>
            </a:outerShdw>
          </a:effectLst>
        </p:spPr>
      </p:pic>
      <p:sp>
        <p:nvSpPr>
          <p:cNvPr id="6" name="Authority 4.32"/>
          <p:cNvSpPr txBox="1"/>
          <p:nvPr/>
        </p:nvSpPr>
        <p:spPr>
          <a:xfrm rot="21420000">
            <a:off x="317500" y="2321905"/>
            <a:ext cx="2667000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7309"/>
              </a:lnSpc>
            </a:pPr>
            <a:r>
              <a:rPr sz="8500" b="0">
                <a:solidFill>
                  <a:srgbClr val="0B0610"/>
                </a:solidFill>
                <a:latin typeface="Archivo Display"/>
                <a:ea typeface="Archivo Display"/>
                <a:cs typeface="Archivo Display"/>
              </a:rPr>
              <a:t>4.32</a:t>
            </a:r>
          </a:p>
          <a:p>
            <a:pPr algn="ctr">
              <a:lnSpc>
                <a:spcPts val="1575"/>
              </a:lnSpc>
              <a:spcBef>
                <a:spcPts val="400"/>
              </a:spcBef>
            </a:pPr>
            <a:r>
              <a:rPr sz="150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AUTHORITY</a:t>
            </a:r>
          </a:p>
          <a:p>
            <a:pPr algn="ctr">
              <a:lnSpc>
                <a:spcPts val="1500"/>
              </a:lnSpc>
              <a:spcBef>
                <a:spcPts val="400"/>
              </a:spcBef>
            </a:pPr>
            <a:r>
              <a:rPr sz="1200" b="0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routine issues,</a:t>
            </a:r>
            <a:br/>
            <a:r>
              <a:rPr sz="1200" b="0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clear guidelines</a:t>
            </a:r>
          </a:p>
        </p:txBody>
      </p:sp>
      <p:pic>
        <p:nvPicPr>
          <p:cNvPr id="7" name="Ownership 4.16 (paper tag)" descr="tag1.png"/>
          <p:cNvPicPr>
            <a:picLocks noChangeAspect="1"/>
          </p:cNvPicPr>
          <p:nvPr/>
        </p:nvPicPr>
        <p:blipFill>
          <a:blip r:embed="rId4"/>
          <a:srcRect t="9000"/>
          <a:stretch>
            <a:fillRect/>
          </a:stretch>
        </p:blipFill>
        <p:spPr>
          <a:xfrm>
            <a:off x="3048000" y="0"/>
            <a:ext cx="2286000" cy="5009740"/>
          </a:xfrm>
          <a:prstGeom prst="rect">
            <a:avLst/>
          </a:prstGeom>
          <a:effectLst>
            <a:outerShdw blurRad="0" dist="109249" dir="3267739" algn="tl" rotWithShape="0">
              <a:srgbClr val="000000">
                <a:alpha val="28000"/>
              </a:srgbClr>
            </a:outerShdw>
          </a:effectLst>
        </p:spPr>
      </p:pic>
      <p:sp>
        <p:nvSpPr>
          <p:cNvPr id="8" name="Ownership 4.16"/>
          <p:cNvSpPr txBox="1"/>
          <p:nvPr/>
        </p:nvSpPr>
        <p:spPr>
          <a:xfrm rot="21300000">
            <a:off x="2921000" y="1926823"/>
            <a:ext cx="2540000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6450"/>
              </a:lnSpc>
            </a:pPr>
            <a:r>
              <a:rPr sz="7500" b="0">
                <a:solidFill>
                  <a:srgbClr val="0B0610"/>
                </a:solidFill>
                <a:latin typeface="Archivo Display"/>
                <a:ea typeface="Archivo Display"/>
                <a:cs typeface="Archivo Display"/>
              </a:rPr>
              <a:t>4.16</a:t>
            </a:r>
          </a:p>
          <a:p>
            <a:pPr algn="ctr">
              <a:lnSpc>
                <a:spcPts val="1575"/>
              </a:lnSpc>
              <a:spcBef>
                <a:spcPts val="400"/>
              </a:spcBef>
            </a:pPr>
            <a:r>
              <a:rPr sz="150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OWNERSHIP</a:t>
            </a:r>
          </a:p>
          <a:p>
            <a:pPr algn="ctr">
              <a:lnSpc>
                <a:spcPts val="1500"/>
              </a:lnSpc>
              <a:spcBef>
                <a:spcPts val="400"/>
              </a:spcBef>
            </a:pPr>
            <a:r>
              <a:rPr sz="1200" b="0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more responsibility</a:t>
            </a:r>
          </a:p>
        </p:txBody>
      </p:sp>
      <p:pic>
        <p:nvPicPr>
          <p:cNvPr id="9" name="Feedback 4.04 (paper tag)" descr="tag3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588000" y="0"/>
            <a:ext cx="2667000" cy="4153972"/>
          </a:xfrm>
          <a:prstGeom prst="rect">
            <a:avLst/>
          </a:prstGeom>
          <a:effectLst>
            <a:outerShdw blurRad="0" dist="109249" dir="3267739" algn="tl" rotWithShape="0">
              <a:srgbClr val="000000">
                <a:alpha val="28000"/>
              </a:srgbClr>
            </a:outerShdw>
          </a:effectLst>
        </p:spPr>
      </p:pic>
      <p:sp>
        <p:nvSpPr>
          <p:cNvPr id="10" name="Feedback 4.04"/>
          <p:cNvSpPr txBox="1"/>
          <p:nvPr/>
        </p:nvSpPr>
        <p:spPr>
          <a:xfrm>
            <a:off x="5461000" y="1661589"/>
            <a:ext cx="2921000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6020"/>
              </a:lnSpc>
            </a:pPr>
            <a:r>
              <a:rPr sz="7000" b="0">
                <a:solidFill>
                  <a:srgbClr val="0B0610"/>
                </a:solidFill>
                <a:latin typeface="Archivo Display"/>
                <a:ea typeface="Archivo Display"/>
                <a:cs typeface="Archivo Display"/>
              </a:rPr>
              <a:t>4.04</a:t>
            </a:r>
          </a:p>
          <a:p>
            <a:pPr algn="ctr">
              <a:lnSpc>
                <a:spcPts val="1575"/>
              </a:lnSpc>
              <a:spcBef>
                <a:spcPts val="400"/>
              </a:spcBef>
            </a:pPr>
            <a:r>
              <a:rPr sz="150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FEEDBACK</a:t>
            </a:r>
          </a:p>
          <a:p>
            <a:pPr algn="ctr">
              <a:lnSpc>
                <a:spcPts val="1500"/>
              </a:lnSpc>
              <a:spcBef>
                <a:spcPts val="400"/>
              </a:spcBef>
            </a:pPr>
            <a:r>
              <a:rPr sz="1200" b="0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more regular</a:t>
            </a:r>
          </a:p>
        </p:txBody>
      </p:sp>
      <p:pic>
        <p:nvPicPr>
          <p:cNvPr id="11" name="Job satisfaction 2.84 (paper tag)" descr="tag2_dark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382000" y="0"/>
            <a:ext cx="2286000" cy="5209190"/>
          </a:xfrm>
          <a:prstGeom prst="rect">
            <a:avLst/>
          </a:prstGeom>
          <a:effectLst>
            <a:outerShdw blurRad="0" dist="109249" dir="3267739" algn="tl" rotWithShape="0">
              <a:srgbClr val="000000">
                <a:alpha val="28000"/>
              </a:srgbClr>
            </a:outerShdw>
          </a:effectLst>
        </p:spPr>
      </p:pic>
      <p:sp>
        <p:nvSpPr>
          <p:cNvPr id="12" name="Job satisfaction 2.84"/>
          <p:cNvSpPr txBox="1"/>
          <p:nvPr/>
        </p:nvSpPr>
        <p:spPr>
          <a:xfrm rot="420000">
            <a:off x="8255000" y="2448319"/>
            <a:ext cx="2540000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4816"/>
              </a:lnSpc>
            </a:pPr>
            <a:r>
              <a:rPr sz="5600" b="0">
                <a:solidFill>
                  <a:srgbClr val="F4ECDD"/>
                </a:solidFill>
                <a:latin typeface="Archivo Display"/>
                <a:ea typeface="Archivo Display"/>
                <a:cs typeface="Archivo Display"/>
              </a:rPr>
              <a:t>2.84</a:t>
            </a:r>
          </a:p>
          <a:p>
            <a:pPr algn="ctr">
              <a:lnSpc>
                <a:spcPts val="1155"/>
              </a:lnSpc>
              <a:spcBef>
                <a:spcPts val="400"/>
              </a:spcBef>
            </a:pPr>
            <a:r>
              <a:rPr sz="11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JOB</a:t>
            </a:r>
            <a:br/>
            <a:r>
              <a:rPr sz="11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SATISFACTION</a:t>
            </a:r>
          </a:p>
        </p:txBody>
      </p:sp>
      <p:pic>
        <p:nvPicPr>
          <p:cNvPr id="13" name="Rotation 3.28 (paper tag)" descr="tag2_gray.png"/>
          <p:cNvPicPr>
            <a:picLocks noChangeAspect="1"/>
          </p:cNvPicPr>
          <p:nvPr/>
        </p:nvPicPr>
        <p:blipFill>
          <a:blip r:embed="rId7"/>
          <a:srcRect t="5000"/>
          <a:stretch>
            <a:fillRect/>
          </a:stretch>
        </p:blipFill>
        <p:spPr>
          <a:xfrm>
            <a:off x="10414000" y="0"/>
            <a:ext cx="1270000" cy="2749295"/>
          </a:xfrm>
          <a:prstGeom prst="rect">
            <a:avLst/>
          </a:prstGeom>
          <a:effectLst>
            <a:outerShdw blurRad="0" dist="109249" dir="3267739" algn="tl" rotWithShape="0">
              <a:srgbClr val="000000">
                <a:alpha val="28000"/>
              </a:srgbClr>
            </a:outerShdw>
          </a:effectLst>
        </p:spPr>
      </p:pic>
      <p:sp>
        <p:nvSpPr>
          <p:cNvPr id="14" name="Rotation 3.28"/>
          <p:cNvSpPr txBox="1"/>
          <p:nvPr/>
        </p:nvSpPr>
        <p:spPr>
          <a:xfrm rot="420000">
            <a:off x="10287000" y="1186538"/>
            <a:ext cx="1524000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3010"/>
              </a:lnSpc>
            </a:pPr>
            <a:r>
              <a:rPr sz="3500" b="0">
                <a:solidFill>
                  <a:srgbClr val="0B0610"/>
                </a:solidFill>
                <a:latin typeface="Archivo Display"/>
                <a:ea typeface="Archivo Display"/>
                <a:cs typeface="Archivo Display"/>
              </a:rPr>
              <a:t>3.28</a:t>
            </a:r>
          </a:p>
          <a:p>
            <a:pPr algn="ctr">
              <a:lnSpc>
                <a:spcPts val="840"/>
              </a:lnSpc>
              <a:spcBef>
                <a:spcPts val="200"/>
              </a:spcBef>
            </a:pPr>
            <a:r>
              <a:rPr sz="80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ROTATION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" y="5588000"/>
            <a:ext cx="6651704" cy="4663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312"/>
              </a:lnSpc>
            </a:pPr>
            <a:r>
              <a:rPr sz="3600" b="0">
                <a:solidFill>
                  <a:srgbClr val="0B0610"/>
                </a:solidFill>
                <a:latin typeface="Archivo Condensed"/>
                <a:ea typeface="Archivo Condensed"/>
                <a:cs typeface="Archivo Condensed"/>
              </a:rPr>
              <a:t>WHAT WOULD CASHIERS VALUE?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500" y="6064250"/>
            <a:ext cx="3052493" cy="2228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sz="1300" b="0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Mean agreement · 1–5 · n = 25</a:t>
            </a:r>
          </a:p>
        </p:txBody>
      </p:sp>
      <p:sp>
        <p:nvSpPr>
          <p:cNvPr id="17" name="Tape"/>
          <p:cNvSpPr/>
          <p:nvPr/>
        </p:nvSpPr>
        <p:spPr>
          <a:xfrm rot="21420000">
            <a:off x="7493000" y="5873750"/>
            <a:ext cx="2159000" cy="292100"/>
          </a:xfrm>
          <a:prstGeom prst="rect">
            <a:avLst/>
          </a:prstGeom>
          <a:solidFill>
            <a:srgbClr val="F0E4C8">
              <a:alpha val="85000"/>
            </a:srgbClr>
          </a:solidFill>
          <a:ln>
            <a:noFill/>
          </a:ln>
          <a:effectLst>
            <a:outerShdw blurRad="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 rot="21420000">
            <a:off x="7632700" y="5835650"/>
            <a:ext cx="2031278" cy="3154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54"/>
              </a:lnSpc>
            </a:pPr>
            <a:r>
              <a:rPr sz="2300" b="0">
                <a:solidFill>
                  <a:srgbClr val="0B0610"/>
                </a:solidFill>
                <a:latin typeface="Caveat Brush"/>
                <a:ea typeface="Caveat Brush"/>
                <a:cs typeface="Caveat Brush"/>
              </a:rPr>
              <a:t>unlimited freedom</a:t>
            </a:r>
          </a:p>
        </p:txBody>
      </p:sp>
      <p:sp>
        <p:nvSpPr>
          <p:cNvPr id="19" name="Strike"/>
          <p:cNvSpPr/>
          <p:nvPr/>
        </p:nvSpPr>
        <p:spPr>
          <a:xfrm rot="21420000">
            <a:off x="7429500" y="6000750"/>
            <a:ext cx="2286000" cy="57150"/>
          </a:xfrm>
          <a:prstGeom prst="rect">
            <a:avLst/>
          </a:prstGeom>
          <a:solidFill>
            <a:srgbClr val="FF2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pe"/>
          <p:cNvSpPr/>
          <p:nvPr/>
        </p:nvSpPr>
        <p:spPr>
          <a:xfrm rot="120000">
            <a:off x="9715500" y="6286500"/>
            <a:ext cx="2095500" cy="292100"/>
          </a:xfrm>
          <a:prstGeom prst="rect">
            <a:avLst/>
          </a:prstGeom>
          <a:solidFill>
            <a:srgbClr val="F0E4C8">
              <a:alpha val="85000"/>
            </a:srgbClr>
          </a:solidFill>
          <a:ln>
            <a:noFill/>
          </a:ln>
          <a:effectLst>
            <a:outerShdw blurRad="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 rot="120000">
            <a:off x="9855200" y="6248400"/>
            <a:ext cx="2067187" cy="3154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54"/>
              </a:lnSpc>
            </a:pPr>
            <a:r>
              <a:rPr sz="2300" b="0">
                <a:solidFill>
                  <a:srgbClr val="0B0610"/>
                </a:solidFill>
                <a:latin typeface="Caveat Brush"/>
                <a:ea typeface="Caveat Brush"/>
                <a:cs typeface="Caveat Brush"/>
              </a:rPr>
              <a:t>random movement</a:t>
            </a:r>
          </a:p>
        </p:txBody>
      </p:sp>
      <p:sp>
        <p:nvSpPr>
          <p:cNvPr id="22" name="Strike"/>
          <p:cNvSpPr/>
          <p:nvPr/>
        </p:nvSpPr>
        <p:spPr>
          <a:xfrm rot="120000">
            <a:off x="9652000" y="6413500"/>
            <a:ext cx="2222500" cy="57150"/>
          </a:xfrm>
          <a:prstGeom prst="rect">
            <a:avLst/>
          </a:prstGeom>
          <a:solidFill>
            <a:srgbClr val="FF2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D1243"/>
            </a:gs>
            <a:gs pos="52000">
              <a:srgbClr val="1C0A29"/>
            </a:gs>
            <a:gs pos="100000">
              <a:srgbClr val="0B0610"/>
            </a:gs>
          </a:gsLst>
          <a:path path="circle">
            <a:fillToRect l="50000" t="38000" r="50000" b="62000"/>
          </a:path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Texture: film grain" descr="grain.png"/>
          <p:cNvPicPr>
            <a:picLocks noChangeAspect="1" noSel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 paper" descr="graph_pap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540000">
            <a:off x="698500" y="444500"/>
            <a:ext cx="6731000" cy="6032500"/>
          </a:xfrm>
          <a:prstGeom prst="rect">
            <a:avLst/>
          </a:prstGeom>
          <a:effectLst>
            <a:outerShdw blurRad="0" dist="144802" dir="3127500" algn="tl" rotWithShape="0">
              <a:srgbClr val="000000">
                <a:alpha val="50000"/>
              </a:srgbClr>
            </a:outerShdw>
          </a:effectLst>
        </p:spPr>
      </p:pic>
      <p:graphicFrame>
        <p:nvGraphicFramePr>
          <p:cNvPr id="4" name="Scatter: Skill Variety × Job Satisfaction"/>
          <p:cNvGraphicFramePr>
            <a:graphicFrameLocks noGrp="1"/>
          </p:cNvGraphicFramePr>
          <p:nvPr/>
        </p:nvGraphicFramePr>
        <p:xfrm>
          <a:off x="952500" y="603250"/>
          <a:ext cx="6286500" cy="53657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70000" y="6045200"/>
            <a:ext cx="6595388" cy="18859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375"/>
              </a:lnSpc>
            </a:pPr>
            <a:r>
              <a:rPr sz="1100" b="0">
                <a:solidFill>
                  <a:srgbClr val="3A3439"/>
                </a:solidFill>
                <a:latin typeface="JetBrains Mono"/>
                <a:ea typeface="JetBrains Mono"/>
                <a:cs typeface="JetBrains Mono"/>
              </a:rPr>
              <a:t>Each point = one cashier · dashed ring = two cashiers with identical scores</a:t>
            </a:r>
          </a:p>
        </p:txBody>
      </p:sp>
      <p:sp>
        <p:nvSpPr>
          <p:cNvPr id="6" name="Tape"/>
          <p:cNvSpPr/>
          <p:nvPr/>
        </p:nvSpPr>
        <p:spPr>
          <a:xfrm rot="19800000">
            <a:off x="444500" y="381000"/>
            <a:ext cx="1206500" cy="292100"/>
          </a:xfrm>
          <a:prstGeom prst="rect">
            <a:avLst/>
          </a:prstGeom>
          <a:solidFill>
            <a:srgbClr val="F0E4C8">
              <a:alpha val="85000"/>
            </a:srgbClr>
          </a:solidFill>
          <a:ln>
            <a:noFill/>
          </a:ln>
          <a:effectLst>
            <a:outerShdw blurRad="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ape"/>
          <p:cNvSpPr/>
          <p:nvPr/>
        </p:nvSpPr>
        <p:spPr>
          <a:xfrm rot="1680000">
            <a:off x="6604000" y="444500"/>
            <a:ext cx="1206500" cy="292100"/>
          </a:xfrm>
          <a:prstGeom prst="rect">
            <a:avLst/>
          </a:prstGeom>
          <a:solidFill>
            <a:srgbClr val="F0E4C8">
              <a:alpha val="85000"/>
            </a:srgbClr>
          </a:solidFill>
          <a:ln>
            <a:noFill/>
          </a:ln>
          <a:effectLst>
            <a:outerShdw blurRad="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ape"/>
          <p:cNvSpPr/>
          <p:nvPr/>
        </p:nvSpPr>
        <p:spPr>
          <a:xfrm rot="1440000">
            <a:off x="571500" y="6191250"/>
            <a:ext cx="1079500" cy="292100"/>
          </a:xfrm>
          <a:prstGeom prst="rect">
            <a:avLst/>
          </a:prstGeom>
          <a:solidFill>
            <a:srgbClr val="F0E4C8">
              <a:alpha val="85000"/>
            </a:srgbClr>
          </a:solidFill>
          <a:ln>
            <a:noFill/>
          </a:ln>
          <a:effectLst>
            <a:outerShdw blurRad="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orrelation r ≈ .54"/>
          <p:cNvSpPr txBox="1"/>
          <p:nvPr/>
        </p:nvSpPr>
        <p:spPr>
          <a:xfrm>
            <a:off x="7810500" y="952500"/>
            <a:ext cx="4318000" cy="1651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750"/>
              </a:lnSpc>
            </a:pPr>
            <a:r>
              <a:rPr sz="12500" b="0">
                <a:solidFill>
                  <a:srgbClr val="F4ECDD"/>
                </a:solidFill>
                <a:latin typeface="Archivo Display"/>
                <a:ea typeface="Archivo Display"/>
                <a:cs typeface="Archivo Display"/>
              </a:rPr>
              <a:t>r </a:t>
            </a:r>
            <a:r>
              <a:rPr sz="7500" b="0">
                <a:solidFill>
                  <a:srgbClr val="F4ECDD"/>
                </a:solidFill>
                <a:latin typeface="Arial"/>
                <a:ea typeface="Arial"/>
                <a:cs typeface="Arial"/>
              </a:rPr>
              <a:t>≈</a:t>
            </a:r>
            <a:r>
              <a:rPr sz="12500" b="0">
                <a:solidFill>
                  <a:srgbClr val="F4ECDD"/>
                </a:solidFill>
                <a:latin typeface="Archivo Display"/>
                <a:ea typeface="Archivo Display"/>
                <a:cs typeface="Archivo Display"/>
              </a:rPr>
              <a:t> .54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2250" y="2540000"/>
            <a:ext cx="3827780" cy="2143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n = 25 · exploratory · cross-sectional</a:t>
            </a:r>
          </a:p>
        </p:txBody>
      </p:sp>
      <p:sp>
        <p:nvSpPr>
          <p:cNvPr id="11" name="Variables"/>
          <p:cNvSpPr txBox="1"/>
          <p:nvPr/>
        </p:nvSpPr>
        <p:spPr>
          <a:xfrm>
            <a:off x="7842250" y="2794000"/>
            <a:ext cx="43180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sz="1300" b="0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Skill Variety </a:t>
            </a:r>
            <a:r>
              <a:rPr sz="1300" b="0">
                <a:solidFill>
                  <a:srgbClr val="BAB2AA"/>
                </a:solidFill>
                <a:latin typeface="Arial"/>
                <a:ea typeface="Arial"/>
                <a:cs typeface="Arial"/>
              </a:rPr>
              <a:t>↔</a:t>
            </a:r>
            <a:r>
              <a:rPr sz="1300" b="0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Job Satisfaction</a:t>
            </a:r>
          </a:p>
        </p:txBody>
      </p:sp>
      <p:sp>
        <p:nvSpPr>
          <p:cNvPr id="12" name="Stamp"/>
          <p:cNvSpPr/>
          <p:nvPr/>
        </p:nvSpPr>
        <p:spPr>
          <a:xfrm rot="21240000">
            <a:off x="7715250" y="3810000"/>
            <a:ext cx="3575447" cy="1297940"/>
          </a:xfrm>
          <a:prstGeom prst="roundRect">
            <a:avLst>
              <a:gd name="adj" fmla="val 7827"/>
            </a:avLst>
          </a:prstGeom>
          <a:noFill/>
          <a:ln w="63500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0800" rIns="190500" bIns="38100">
            <a:noAutofit/>
          </a:bodyPr>
          <a:lstStyle/>
          <a:p>
            <a:pPr algn="ctr">
              <a:lnSpc>
                <a:spcPts val="4160"/>
              </a:lnSpc>
            </a:pPr>
            <a:r>
              <a:rPr sz="4000" b="0" spc="80">
                <a:solidFill>
                  <a:srgbClr val="FF2E88"/>
                </a:solidFill>
                <a:latin typeface="Archivo Condensed"/>
                <a:ea typeface="Archivo Condensed"/>
                <a:cs typeface="Archivo Condensed"/>
              </a:rPr>
              <a:t>ASSOCIATION</a:t>
            </a:r>
          </a:p>
          <a:p>
            <a:pPr algn="ctr">
              <a:lnSpc>
                <a:spcPts val="4160"/>
              </a:lnSpc>
            </a:pPr>
            <a:r>
              <a:rPr sz="4000" b="0" spc="80">
                <a:solidFill>
                  <a:srgbClr val="FF2E88"/>
                </a:solidFill>
                <a:latin typeface="Archivo Condensed"/>
                <a:ea typeface="Archivo Condensed"/>
                <a:cs typeface="Archivo Condensed"/>
              </a:rPr>
              <a:t>≠ CAUSATION</a:t>
            </a:r>
          </a:p>
        </p:txBody>
      </p:sp>
      <p:sp>
        <p:nvSpPr>
          <p:cNvPr id="13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IV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GO DEEPER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D1243"/>
            </a:gs>
            <a:gs pos="52000">
              <a:srgbClr val="1C0A29"/>
            </a:gs>
            <a:gs pos="100000">
              <a:srgbClr val="0B0610"/>
            </a:gs>
          </a:gsLst>
          <a:path path="circle">
            <a:fillToRect l="50000" t="38000" r="50000" b="62000"/>
          </a:path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Texture: film grain" descr="grain.png"/>
          <p:cNvPicPr>
            <a:picLocks noChangeAspect="1" noSel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IV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GO DEEPER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603250"/>
            <a:ext cx="4212979" cy="5829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140"/>
              </a:lnSpc>
            </a:pPr>
            <a:r>
              <a:rPr sz="4500" b="0">
                <a:solidFill>
                  <a:srgbClr val="F4ECDD"/>
                </a:solidFill>
                <a:latin typeface="Archivo Condensed"/>
                <a:ea typeface="Archivo Condensed"/>
                <a:cs typeface="Archivo Condensed"/>
              </a:rPr>
              <a:t>THREE SIGNALS</a:t>
            </a:r>
          </a:p>
        </p:txBody>
      </p:sp>
      <p:sp>
        <p:nvSpPr>
          <p:cNvPr id="5" name="Red string"/>
          <p:cNvSpPr/>
          <p:nvPr/>
        </p:nvSpPr>
        <p:spPr>
          <a:xfrm>
            <a:off x="2317750" y="1428750"/>
            <a:ext cx="7524750" cy="368459"/>
          </a:xfrm>
          <a:custGeom>
            <a:avLst/>
            <a:gdLst/>
            <a:ahLst/>
            <a:cxnLst/>
            <a:rect l="l" t="t" r="r" b="b"/>
            <a:pathLst>
              <a:path w="7524750" h="368459">
                <a:moveTo>
                  <a:pt x="0" y="127000"/>
                </a:moveTo>
                <a:lnTo>
                  <a:pt x="181292" y="177959"/>
                </a:lnTo>
                <a:lnTo>
                  <a:pt x="363220" y="222885"/>
                </a:lnTo>
                <a:lnTo>
                  <a:pt x="545782" y="261779"/>
                </a:lnTo>
                <a:lnTo>
                  <a:pt x="728980" y="294640"/>
                </a:lnTo>
                <a:lnTo>
                  <a:pt x="912812" y="321469"/>
                </a:lnTo>
                <a:lnTo>
                  <a:pt x="1097280" y="342265"/>
                </a:lnTo>
                <a:lnTo>
                  <a:pt x="1282382" y="357029"/>
                </a:lnTo>
                <a:lnTo>
                  <a:pt x="1468120" y="365760"/>
                </a:lnTo>
                <a:lnTo>
                  <a:pt x="1654493" y="368459"/>
                </a:lnTo>
                <a:lnTo>
                  <a:pt x="1841500" y="365125"/>
                </a:lnTo>
                <a:lnTo>
                  <a:pt x="2029142" y="355759"/>
                </a:lnTo>
                <a:lnTo>
                  <a:pt x="2217420" y="340360"/>
                </a:lnTo>
                <a:lnTo>
                  <a:pt x="2406332" y="318929"/>
                </a:lnTo>
                <a:lnTo>
                  <a:pt x="2595880" y="291465"/>
                </a:lnTo>
                <a:lnTo>
                  <a:pt x="2786062" y="257969"/>
                </a:lnTo>
                <a:lnTo>
                  <a:pt x="2976880" y="218440"/>
                </a:lnTo>
                <a:lnTo>
                  <a:pt x="3168332" y="172879"/>
                </a:lnTo>
                <a:lnTo>
                  <a:pt x="3360420" y="121285"/>
                </a:lnTo>
                <a:lnTo>
                  <a:pt x="3553142" y="63659"/>
                </a:lnTo>
                <a:lnTo>
                  <a:pt x="3746500" y="0"/>
                </a:lnTo>
                <a:lnTo>
                  <a:pt x="3933904" y="57626"/>
                </a:lnTo>
                <a:lnTo>
                  <a:pt x="4121468" y="109855"/>
                </a:lnTo>
                <a:lnTo>
                  <a:pt x="4309189" y="156686"/>
                </a:lnTo>
                <a:lnTo>
                  <a:pt x="4497070" y="198120"/>
                </a:lnTo>
                <a:lnTo>
                  <a:pt x="4685109" y="234156"/>
                </a:lnTo>
                <a:lnTo>
                  <a:pt x="4873307" y="264795"/>
                </a:lnTo>
                <a:lnTo>
                  <a:pt x="5061664" y="290036"/>
                </a:lnTo>
                <a:lnTo>
                  <a:pt x="5250180" y="309880"/>
                </a:lnTo>
                <a:lnTo>
                  <a:pt x="5438854" y="324326"/>
                </a:lnTo>
                <a:lnTo>
                  <a:pt x="5627688" y="333375"/>
                </a:lnTo>
                <a:lnTo>
                  <a:pt x="5816679" y="337026"/>
                </a:lnTo>
                <a:lnTo>
                  <a:pt x="6005830" y="335280"/>
                </a:lnTo>
                <a:lnTo>
                  <a:pt x="6195139" y="328136"/>
                </a:lnTo>
                <a:lnTo>
                  <a:pt x="6384607" y="315595"/>
                </a:lnTo>
                <a:lnTo>
                  <a:pt x="6574234" y="297656"/>
                </a:lnTo>
                <a:lnTo>
                  <a:pt x="6764020" y="274320"/>
                </a:lnTo>
                <a:lnTo>
                  <a:pt x="6953964" y="245586"/>
                </a:lnTo>
                <a:lnTo>
                  <a:pt x="7144068" y="211455"/>
                </a:lnTo>
                <a:lnTo>
                  <a:pt x="7334329" y="171926"/>
                </a:lnTo>
                <a:lnTo>
                  <a:pt x="7524750" y="127000"/>
                </a:lnTo>
              </a:path>
            </a:pathLst>
          </a:custGeom>
          <a:noFill/>
          <a:ln w="31750" cap="rnd">
            <a:solidFill>
              <a:srgbClr val="E8253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!!polaroida"/>
          <p:cNvGrpSpPr/>
          <p:nvPr/>
        </p:nvGrpSpPr>
        <p:grpSpPr>
          <a:xfrm rot="21360000">
            <a:off x="730250" y="1435100"/>
            <a:ext cx="3175000" cy="3644900"/>
            <a:chOff x="730250" y="1435100"/>
            <a:chExt cx="3175000" cy="3644900"/>
          </a:xfrm>
        </p:grpSpPr>
        <p:sp>
          <p:nvSpPr>
            <p:cNvPr id="7" name="Polaroid paper"/>
            <p:cNvSpPr/>
            <p:nvPr/>
          </p:nvSpPr>
          <p:spPr>
            <a:xfrm>
              <a:off x="730250" y="1524000"/>
              <a:ext cx="3175000" cy="3556000"/>
            </a:xfrm>
            <a:prstGeom prst="rect">
              <a:avLst/>
            </a:prstGeom>
            <a:solidFill>
              <a:srgbClr val="FBF8F1"/>
            </a:solidFill>
            <a:ln>
              <a:noFill/>
            </a:ln>
            <a:effectLst>
              <a:outerShdw blurRad="0" dist="144802" dir="3127500" algn="tl" rotWithShape="0">
                <a:srgbClr val="000000">
                  <a:alpha val="5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" name="Squeeze background"/>
            <p:cNvSpPr/>
            <p:nvPr/>
          </p:nvSpPr>
          <p:spPr>
            <a:xfrm>
              <a:off x="869950" y="1663700"/>
              <a:ext cx="2895600" cy="2286000"/>
            </a:xfrm>
            <a:prstGeom prst="rect">
              <a:avLst/>
            </a:prstGeom>
            <a:solidFill>
              <a:srgbClr val="FF2E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9" name="A04 (squeeze crop)" descr="a04_cut.png"/>
            <p:cNvPicPr>
              <a:picLocks noChangeAspect="1"/>
            </p:cNvPicPr>
            <p:nvPr/>
          </p:nvPicPr>
          <p:blipFill>
            <a:blip r:embed="rId3"/>
            <a:srcRect l="18750" r="10000" b="21356"/>
            <a:stretch>
              <a:fillRect/>
            </a:stretch>
          </p:blipFill>
          <p:spPr>
            <a:xfrm>
              <a:off x="869950" y="1727200"/>
              <a:ext cx="2895600" cy="2222500"/>
            </a:xfrm>
            <a:prstGeom prst="rect">
              <a:avLst/>
            </a:prstGeom>
          </p:spPr>
        </p:pic>
        <p:sp>
          <p:nvSpPr>
            <p:cNvPr id="10" name="Wall"/>
            <p:cNvSpPr/>
            <p:nvPr/>
          </p:nvSpPr>
          <p:spPr>
            <a:xfrm>
              <a:off x="869950" y="1663700"/>
              <a:ext cx="698500" cy="2286000"/>
            </a:xfrm>
            <a:prstGeom prst="rect">
              <a:avLst/>
            </a:prstGeom>
            <a:solidFill>
              <a:srgbClr val="FF2E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1" name="Wall"/>
            <p:cNvSpPr/>
            <p:nvPr/>
          </p:nvSpPr>
          <p:spPr>
            <a:xfrm>
              <a:off x="3067050" y="1663700"/>
              <a:ext cx="698500" cy="2286000"/>
            </a:xfrm>
            <a:prstGeom prst="rect">
              <a:avLst/>
            </a:prstGeom>
            <a:solidFill>
              <a:srgbClr val="FF2E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2" name="Caption"/>
            <p:cNvSpPr txBox="1"/>
            <p:nvPr/>
          </p:nvSpPr>
          <p:spPr>
            <a:xfrm>
              <a:off x="869950" y="4038600"/>
              <a:ext cx="2895600" cy="101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64"/>
                </a:lnSpc>
              </a:pPr>
              <a:r>
                <a:rPr sz="1100" b="0" spc="154">
                  <a:solidFill>
                    <a:srgbClr val="0B0610"/>
                  </a:solidFill>
                  <a:latin typeface="Archivo Label"/>
                  <a:ea typeface="Archivo Label"/>
                  <a:cs typeface="Archivo Label"/>
                </a:rPr>
                <a:t>LOWEST JCM SCORE</a:t>
              </a:r>
            </a:p>
            <a:p>
              <a:pPr algn="l">
                <a:lnSpc>
                  <a:spcPts val="5000"/>
                </a:lnSpc>
              </a:pPr>
              <a:r>
                <a:rPr sz="5500" b="0">
                  <a:solidFill>
                    <a:srgbClr val="0B0610"/>
                  </a:solidFill>
                  <a:latin typeface="Archivo Display"/>
                  <a:ea typeface="Archivo Display"/>
                  <a:cs typeface="Archivo Display"/>
                </a:rPr>
                <a:t>2.55</a:t>
              </a:r>
              <a:r>
                <a:rPr sz="1300" b="0">
                  <a:solidFill>
                    <a:srgbClr val="0B0610"/>
                  </a:solidFill>
                  <a:latin typeface="Archivo Expanded"/>
                  <a:ea typeface="Archivo Expanded"/>
                  <a:cs typeface="Archivo Expanded"/>
                </a:rPr>
                <a:t>  SKILL VARIETY</a:t>
              </a:r>
            </a:p>
          </p:txBody>
        </p:sp>
        <p:sp>
          <p:nvSpPr>
            <p:cNvPr id="13" name="Pin"/>
            <p:cNvSpPr/>
            <p:nvPr/>
          </p:nvSpPr>
          <p:spPr>
            <a:xfrm>
              <a:off x="2222500" y="1435100"/>
              <a:ext cx="190500" cy="190500"/>
            </a:xfrm>
            <a:prstGeom prst="ellipse">
              <a:avLst/>
            </a:prstGeom>
            <a:solidFill>
              <a:srgbClr val="C3125B"/>
            </a:solidFill>
            <a:ln>
              <a:noFill/>
            </a:ln>
            <a:effectLst>
              <a:outerShdw blurRad="0" dist="45790" dir="3378595" algn="tl" rotWithShape="0">
                <a:srgbClr val="000000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14" name="!!polaroidb"/>
          <p:cNvGrpSpPr/>
          <p:nvPr/>
        </p:nvGrpSpPr>
        <p:grpSpPr>
          <a:xfrm rot="120000">
            <a:off x="4476750" y="1339850"/>
            <a:ext cx="3175000" cy="3644900"/>
            <a:chOff x="4476750" y="1339850"/>
            <a:chExt cx="3175000" cy="3644900"/>
          </a:xfrm>
        </p:grpSpPr>
        <p:sp>
          <p:nvSpPr>
            <p:cNvPr id="15" name="Polaroid paper"/>
            <p:cNvSpPr/>
            <p:nvPr/>
          </p:nvSpPr>
          <p:spPr>
            <a:xfrm>
              <a:off x="4476750" y="1428750"/>
              <a:ext cx="3175000" cy="3556000"/>
            </a:xfrm>
            <a:prstGeom prst="rect">
              <a:avLst/>
            </a:prstGeom>
            <a:solidFill>
              <a:srgbClr val="FBF8F1"/>
            </a:solidFill>
            <a:ln>
              <a:noFill/>
            </a:ln>
            <a:effectLst>
              <a:outerShdw blurRad="0" dist="144802" dir="3127500" algn="tl" rotWithShape="0">
                <a:srgbClr val="000000">
                  <a:alpha val="5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6" name="Tag background"/>
            <p:cNvSpPr/>
            <p:nvPr/>
          </p:nvSpPr>
          <p:spPr>
            <a:xfrm>
              <a:off x="4616450" y="1568450"/>
              <a:ext cx="2895600" cy="2286000"/>
            </a:xfrm>
            <a:prstGeom prst="rect">
              <a:avLst/>
            </a:prstGeom>
            <a:solidFill>
              <a:srgbClr val="CDBFA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17" name="Paper tag" descr="tag4.png"/>
            <p:cNvPicPr>
              <a:picLocks noChangeAspect="1"/>
            </p:cNvPicPr>
            <p:nvPr/>
          </p:nvPicPr>
          <p:blipFill>
            <a:blip r:embed="rId4"/>
            <a:srcRect t="32043"/>
            <a:stretch>
              <a:fillRect/>
            </a:stretch>
          </p:blipFill>
          <p:spPr>
            <a:xfrm>
              <a:off x="4870450" y="1568450"/>
              <a:ext cx="1143000" cy="2286000"/>
            </a:xfrm>
            <a:prstGeom prst="rect">
              <a:avLst/>
            </a:prstGeom>
          </p:spPr>
        </p:pic>
        <p:sp>
          <p:nvSpPr>
            <p:cNvPr id="18" name="Marker note"/>
            <p:cNvSpPr txBox="1"/>
            <p:nvPr/>
          </p:nvSpPr>
          <p:spPr>
            <a:xfrm>
              <a:off x="6076950" y="1822450"/>
              <a:ext cx="1397000" cy="1905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900"/>
                </a:lnSpc>
              </a:pPr>
              <a:r>
                <a:rPr sz="1700" b="0">
                  <a:solidFill>
                    <a:srgbClr val="0B0610"/>
                  </a:solidFill>
                  <a:latin typeface="Caveat Brush"/>
                  <a:ea typeface="Caveat Brush"/>
                  <a:cs typeface="Caveat Brush"/>
                </a:rPr>
                <a:t>most-selected:</a:t>
              </a:r>
            </a:p>
            <a:p>
              <a:pPr algn="l">
                <a:lnSpc>
                  <a:spcPts val="1900"/>
                </a:lnSpc>
              </a:pPr>
              <a:r>
                <a:rPr sz="1700" b="0">
                  <a:solidFill>
                    <a:srgbClr val="0B0610"/>
                  </a:solidFill>
                  <a:latin typeface="Caveat Brush"/>
                  <a:ea typeface="Caveat Brush"/>
                  <a:cs typeface="Caveat Brush"/>
                </a:rPr>
                <a:t>learn new skills</a:t>
              </a:r>
            </a:p>
            <a:p>
              <a:pPr algn="l">
                <a:lnSpc>
                  <a:spcPts val="1900"/>
                </a:lnSpc>
              </a:pPr>
              <a:r>
                <a:rPr sz="1700" b="0">
                  <a:solidFill>
                    <a:srgbClr val="0B0610"/>
                  </a:solidFill>
                  <a:latin typeface="Caveat Brush"/>
                  <a:ea typeface="Caveat Brush"/>
                  <a:cs typeface="Caveat Brush"/>
                </a:rPr>
                <a:t>&amp; ownership</a:t>
              </a:r>
            </a:p>
            <a:p>
              <a:pPr algn="l">
                <a:lnSpc>
                  <a:spcPts val="1900"/>
                </a:lnSpc>
              </a:pPr>
              <a:r>
                <a:rPr sz="1700" b="0">
                  <a:solidFill>
                    <a:srgbClr val="0B0610"/>
                  </a:solidFill>
                  <a:latin typeface="Caveat Brush"/>
                  <a:ea typeface="Caveat Brush"/>
                  <a:cs typeface="Caveat Brush"/>
                </a:rPr>
                <a:t>(14 of 25 each)*</a:t>
              </a:r>
            </a:p>
          </p:txBody>
        </p:sp>
        <p:sp>
          <p:nvSpPr>
            <p:cNvPr id="19" name="Caption"/>
            <p:cNvSpPr txBox="1"/>
            <p:nvPr/>
          </p:nvSpPr>
          <p:spPr>
            <a:xfrm>
              <a:off x="4616450" y="3943350"/>
              <a:ext cx="2895600" cy="101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64"/>
                </a:lnSpc>
              </a:pPr>
              <a:r>
                <a:rPr sz="1100" b="0" spc="154">
                  <a:solidFill>
                    <a:srgbClr val="0B0610"/>
                  </a:solidFill>
                  <a:latin typeface="Archivo Label"/>
                  <a:ea typeface="Archivo Label"/>
                  <a:cs typeface="Archivo Label"/>
                </a:rPr>
                <a:t>WHAT CASHIERS VALUE</a:t>
              </a:r>
            </a:p>
            <a:p>
              <a:pPr algn="l">
                <a:lnSpc>
                  <a:spcPts val="3300"/>
                </a:lnSpc>
              </a:pPr>
              <a:r>
                <a:rPr sz="3200" b="0">
                  <a:solidFill>
                    <a:srgbClr val="0B0610"/>
                  </a:solidFill>
                  <a:latin typeface="Archivo Display"/>
                  <a:ea typeface="Archivo Display"/>
                  <a:cs typeface="Archivo Display"/>
                </a:rPr>
                <a:t>4.32</a:t>
              </a:r>
              <a:r>
                <a:rPr sz="750" b="0">
                  <a:solidFill>
                    <a:srgbClr val="0B0610"/>
                  </a:solidFill>
                  <a:latin typeface="Archivo Expanded"/>
                  <a:ea typeface="Archivo Expanded"/>
                  <a:cs typeface="Archivo Expanded"/>
                </a:rPr>
                <a:t> AUTHORITY </a:t>
              </a:r>
              <a:r>
                <a:rPr sz="2600" b="0">
                  <a:solidFill>
                    <a:srgbClr val="0B0610"/>
                  </a:solidFill>
                  <a:latin typeface="Archivo Display"/>
                  <a:ea typeface="Archivo Display"/>
                  <a:cs typeface="Archivo Display"/>
                </a:rPr>
                <a:t> 4.16</a:t>
              </a:r>
              <a:r>
                <a:rPr sz="750" b="0">
                  <a:solidFill>
                    <a:srgbClr val="0B0610"/>
                  </a:solidFill>
                  <a:latin typeface="Archivo Expanded"/>
                  <a:ea typeface="Archivo Expanded"/>
                  <a:cs typeface="Archivo Expanded"/>
                </a:rPr>
                <a:t> OWNERSHIP</a:t>
              </a:r>
            </a:p>
            <a:p>
              <a:pPr algn="l">
                <a:lnSpc>
                  <a:spcPts val="1062"/>
                </a:lnSpc>
              </a:pPr>
              <a:r>
                <a:rPr sz="850" b="0">
                  <a:solidFill>
                    <a:srgbClr val="514B4E"/>
                  </a:solidFill>
                  <a:latin typeface="JetBrains Mono"/>
                  <a:ea typeface="JetBrains Mono"/>
                  <a:cs typeface="JetBrains Mono"/>
                </a:rPr>
                <a:t>*exploratory multiple-response item</a:t>
              </a:r>
            </a:p>
          </p:txBody>
        </p:sp>
        <p:sp>
          <p:nvSpPr>
            <p:cNvPr id="20" name="Pin"/>
            <p:cNvSpPr/>
            <p:nvPr/>
          </p:nvSpPr>
          <p:spPr>
            <a:xfrm>
              <a:off x="5969000" y="1339850"/>
              <a:ext cx="190500" cy="190500"/>
            </a:xfrm>
            <a:prstGeom prst="ellipse">
              <a:avLst/>
            </a:prstGeom>
            <a:solidFill>
              <a:srgbClr val="C3125B"/>
            </a:solidFill>
            <a:ln>
              <a:noFill/>
            </a:ln>
            <a:effectLst>
              <a:outerShdw blurRad="0" dist="45790" dir="3378595" algn="tl" rotWithShape="0">
                <a:srgbClr val="000000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21" name="!!polaroidc"/>
          <p:cNvGrpSpPr/>
          <p:nvPr/>
        </p:nvGrpSpPr>
        <p:grpSpPr>
          <a:xfrm rot="240000">
            <a:off x="8223250" y="1466850"/>
            <a:ext cx="3175000" cy="3644900"/>
            <a:chOff x="8223250" y="1466850"/>
            <a:chExt cx="3175000" cy="3644900"/>
          </a:xfrm>
        </p:grpSpPr>
        <p:sp>
          <p:nvSpPr>
            <p:cNvPr id="22" name="Polaroid paper"/>
            <p:cNvSpPr/>
            <p:nvPr/>
          </p:nvSpPr>
          <p:spPr>
            <a:xfrm>
              <a:off x="8223250" y="1555750"/>
              <a:ext cx="3175000" cy="3556000"/>
            </a:xfrm>
            <a:prstGeom prst="rect">
              <a:avLst/>
            </a:prstGeom>
            <a:solidFill>
              <a:srgbClr val="FBF8F1"/>
            </a:solidFill>
            <a:ln>
              <a:noFill/>
            </a:ln>
            <a:effectLst>
              <a:outerShdw blurRad="0" dist="144802" dir="3127500" algn="tl" rotWithShape="0">
                <a:srgbClr val="000000">
                  <a:alpha val="5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23" name="Graph paper" descr="graph_paper.jpg"/>
            <p:cNvPicPr>
              <a:picLocks noChangeAspect="1"/>
            </p:cNvPicPr>
            <p:nvPr/>
          </p:nvPicPr>
          <p:blipFill>
            <a:blip r:embed="rId5"/>
            <a:srcRect r="57000" b="62000"/>
            <a:stretch>
              <a:fillRect/>
            </a:stretch>
          </p:blipFill>
          <p:spPr>
            <a:xfrm>
              <a:off x="8362950" y="1695450"/>
              <a:ext cx="2895600" cy="2286000"/>
            </a:xfrm>
            <a:prstGeom prst="rect">
              <a:avLst/>
            </a:prstGeom>
          </p:spPr>
        </p:pic>
        <p:sp>
          <p:nvSpPr>
            <p:cNvPr id="24" name="Axes"/>
            <p:cNvSpPr/>
            <p:nvPr/>
          </p:nvSpPr>
          <p:spPr>
            <a:xfrm>
              <a:off x="8616950" y="1885950"/>
              <a:ext cx="2451100" cy="1905000"/>
            </a:xfrm>
            <a:custGeom>
              <a:avLst/>
              <a:gdLst/>
              <a:ahLst/>
              <a:cxnLst/>
              <a:rect l="l" t="t" r="r" b="b"/>
              <a:pathLst>
                <a:path w="2451100" h="1905000">
                  <a:moveTo>
                    <a:pt x="0" y="0"/>
                  </a:moveTo>
                  <a:lnTo>
                    <a:pt x="0" y="1905000"/>
                  </a:lnTo>
                  <a:lnTo>
                    <a:pt x="2451100" y="1905000"/>
                  </a:lnTo>
                </a:path>
              </a:pathLst>
            </a:custGeom>
            <a:noFill/>
            <a:ln w="19050" cap="rnd">
              <a:solidFill>
                <a:srgbClr val="0B0610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Fit line"/>
            <p:cNvSpPr/>
            <p:nvPr/>
          </p:nvSpPr>
          <p:spPr>
            <a:xfrm>
              <a:off x="8616950" y="2480178"/>
              <a:ext cx="2042583" cy="810582"/>
            </a:xfrm>
            <a:custGeom>
              <a:avLst/>
              <a:gdLst/>
              <a:ahLst/>
              <a:cxnLst/>
              <a:rect l="l" t="t" r="r" b="b"/>
              <a:pathLst>
                <a:path w="2042583" h="810582">
                  <a:moveTo>
                    <a:pt x="0" y="810582"/>
                  </a:moveTo>
                  <a:lnTo>
                    <a:pt x="2042583" y="0"/>
                  </a:lnTo>
                </a:path>
              </a:pathLst>
            </a:custGeom>
            <a:noFill/>
            <a:ln w="50800" cap="rnd">
              <a:solidFill>
                <a:srgbClr val="E8253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espondent"/>
            <p:cNvSpPr/>
            <p:nvPr/>
          </p:nvSpPr>
          <p:spPr>
            <a:xfrm>
              <a:off x="8559800" y="357505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7" name="Respondent"/>
            <p:cNvSpPr/>
            <p:nvPr/>
          </p:nvSpPr>
          <p:spPr>
            <a:xfrm>
              <a:off x="8764058" y="325755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8" name="Respondent"/>
            <p:cNvSpPr/>
            <p:nvPr/>
          </p:nvSpPr>
          <p:spPr>
            <a:xfrm>
              <a:off x="8764058" y="294005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9" name="Respondent"/>
            <p:cNvSpPr/>
            <p:nvPr/>
          </p:nvSpPr>
          <p:spPr>
            <a:xfrm>
              <a:off x="8968317" y="325755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0" name="Respondent"/>
            <p:cNvSpPr/>
            <p:nvPr/>
          </p:nvSpPr>
          <p:spPr>
            <a:xfrm>
              <a:off x="8968317" y="294005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1" name="Respondent"/>
            <p:cNvSpPr/>
            <p:nvPr/>
          </p:nvSpPr>
          <p:spPr>
            <a:xfrm>
              <a:off x="8968317" y="278130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2" name="Respondent"/>
            <p:cNvSpPr/>
            <p:nvPr/>
          </p:nvSpPr>
          <p:spPr>
            <a:xfrm>
              <a:off x="8968317" y="246380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3" name="Respondent"/>
            <p:cNvSpPr/>
            <p:nvPr/>
          </p:nvSpPr>
          <p:spPr>
            <a:xfrm>
              <a:off x="9172575" y="325755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4" name="Respondent"/>
            <p:cNvSpPr/>
            <p:nvPr/>
          </p:nvSpPr>
          <p:spPr>
            <a:xfrm>
              <a:off x="9172575" y="325755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5" name="Respondent"/>
            <p:cNvSpPr/>
            <p:nvPr/>
          </p:nvSpPr>
          <p:spPr>
            <a:xfrm>
              <a:off x="9376833" y="309880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6" name="Respondent"/>
            <p:cNvSpPr/>
            <p:nvPr/>
          </p:nvSpPr>
          <p:spPr>
            <a:xfrm>
              <a:off x="9376833" y="278130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7" name="Respondent"/>
            <p:cNvSpPr/>
            <p:nvPr/>
          </p:nvSpPr>
          <p:spPr>
            <a:xfrm>
              <a:off x="9581092" y="325755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8" name="Respondent"/>
            <p:cNvSpPr/>
            <p:nvPr/>
          </p:nvSpPr>
          <p:spPr>
            <a:xfrm>
              <a:off x="9581092" y="309880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9" name="Respondent"/>
            <p:cNvSpPr/>
            <p:nvPr/>
          </p:nvSpPr>
          <p:spPr>
            <a:xfrm>
              <a:off x="9581092" y="309880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0" name="Respondent"/>
            <p:cNvSpPr/>
            <p:nvPr/>
          </p:nvSpPr>
          <p:spPr>
            <a:xfrm>
              <a:off x="9581092" y="262255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1" name="Respondent"/>
            <p:cNvSpPr/>
            <p:nvPr/>
          </p:nvSpPr>
          <p:spPr>
            <a:xfrm>
              <a:off x="9581092" y="214630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2" name="Respondent"/>
            <p:cNvSpPr/>
            <p:nvPr/>
          </p:nvSpPr>
          <p:spPr>
            <a:xfrm>
              <a:off x="9785350" y="325755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3" name="Respondent"/>
            <p:cNvSpPr/>
            <p:nvPr/>
          </p:nvSpPr>
          <p:spPr>
            <a:xfrm>
              <a:off x="9785350" y="246380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4" name="Respondent"/>
            <p:cNvSpPr/>
            <p:nvPr/>
          </p:nvSpPr>
          <p:spPr>
            <a:xfrm>
              <a:off x="9785350" y="214630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5" name="Respondent"/>
            <p:cNvSpPr/>
            <p:nvPr/>
          </p:nvSpPr>
          <p:spPr>
            <a:xfrm>
              <a:off x="9989608" y="294005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6" name="Respondent"/>
            <p:cNvSpPr/>
            <p:nvPr/>
          </p:nvSpPr>
          <p:spPr>
            <a:xfrm>
              <a:off x="9989608" y="294005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7" name="Respondent"/>
            <p:cNvSpPr/>
            <p:nvPr/>
          </p:nvSpPr>
          <p:spPr>
            <a:xfrm>
              <a:off x="10193867" y="278130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8" name="Respondent"/>
            <p:cNvSpPr/>
            <p:nvPr/>
          </p:nvSpPr>
          <p:spPr>
            <a:xfrm>
              <a:off x="10193867" y="230505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9" name="Respondent"/>
            <p:cNvSpPr/>
            <p:nvPr/>
          </p:nvSpPr>
          <p:spPr>
            <a:xfrm>
              <a:off x="10398125" y="230505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0" name="Respondent"/>
            <p:cNvSpPr/>
            <p:nvPr/>
          </p:nvSpPr>
          <p:spPr>
            <a:xfrm>
              <a:off x="10602383" y="2463800"/>
              <a:ext cx="114300" cy="114300"/>
            </a:xfrm>
            <a:prstGeom prst="ellipse">
              <a:avLst/>
            </a:prstGeom>
            <a:solidFill>
              <a:srgbClr val="FF7A1A"/>
            </a:solidFill>
            <a:ln w="19050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1" name="Caption"/>
            <p:cNvSpPr txBox="1"/>
            <p:nvPr/>
          </p:nvSpPr>
          <p:spPr>
            <a:xfrm>
              <a:off x="8362950" y="4070350"/>
              <a:ext cx="2895600" cy="1016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264"/>
                </a:lnSpc>
              </a:pPr>
              <a:r>
                <a:rPr sz="1100" b="0" spc="154">
                  <a:solidFill>
                    <a:srgbClr val="0B0610"/>
                  </a:solidFill>
                  <a:latin typeface="Archivo Label"/>
                  <a:ea typeface="Archivo Label"/>
                  <a:cs typeface="Archivo Label"/>
                </a:rPr>
                <a:t>STRONGEST OBSERVED ASSOCIATION</a:t>
              </a:r>
            </a:p>
            <a:p>
              <a:pPr algn="l">
                <a:lnSpc>
                  <a:spcPts val="4400"/>
                </a:lnSpc>
              </a:pPr>
              <a:r>
                <a:rPr sz="4800" b="0">
                  <a:solidFill>
                    <a:srgbClr val="0B0610"/>
                  </a:solidFill>
                  <a:latin typeface="Archivo Display"/>
                  <a:ea typeface="Archivo Display"/>
                  <a:cs typeface="Archivo Display"/>
                </a:rPr>
                <a:t>r </a:t>
              </a:r>
              <a:r>
                <a:rPr sz="2900" b="0">
                  <a:solidFill>
                    <a:srgbClr val="0B0610"/>
                  </a:solidFill>
                  <a:latin typeface="Arial"/>
                  <a:ea typeface="Arial"/>
                  <a:cs typeface="Arial"/>
                </a:rPr>
                <a:t>≈</a:t>
              </a:r>
              <a:r>
                <a:rPr sz="4800" b="0">
                  <a:solidFill>
                    <a:srgbClr val="0B0610"/>
                  </a:solidFill>
                  <a:latin typeface="Archivo Display"/>
                  <a:ea typeface="Archivo Display"/>
                  <a:cs typeface="Archivo Display"/>
                </a:rPr>
                <a:t> .54</a:t>
              </a:r>
            </a:p>
            <a:p>
              <a:pPr algn="l">
                <a:lnSpc>
                  <a:spcPts val="892"/>
                </a:lnSpc>
              </a:pPr>
              <a:r>
                <a:rPr sz="850" b="0">
                  <a:solidFill>
                    <a:srgbClr val="0B0610"/>
                  </a:solidFill>
                  <a:latin typeface="Archivo Expanded"/>
                  <a:ea typeface="Archivo Expanded"/>
                  <a:cs typeface="Archivo Expanded"/>
                </a:rPr>
                <a:t>SKILL VARIETY </a:t>
              </a:r>
              <a:r>
                <a:rPr sz="850" b="0">
                  <a:solidFill>
                    <a:srgbClr val="0B0610"/>
                  </a:solidFill>
                  <a:latin typeface="Arial"/>
                  <a:ea typeface="Arial"/>
                  <a:cs typeface="Arial"/>
                </a:rPr>
                <a:t>↔</a:t>
              </a:r>
              <a:r>
                <a:rPr sz="850" b="0">
                  <a:solidFill>
                    <a:srgbClr val="0B0610"/>
                  </a:solidFill>
                  <a:latin typeface="Archivo Expanded"/>
                  <a:ea typeface="Archivo Expanded"/>
                  <a:cs typeface="Archivo Expanded"/>
                </a:rPr>
                <a:t> JOB SATISFACTION</a:t>
              </a:r>
            </a:p>
          </p:txBody>
        </p:sp>
        <p:sp>
          <p:nvSpPr>
            <p:cNvPr id="52" name="Pin"/>
            <p:cNvSpPr/>
            <p:nvPr/>
          </p:nvSpPr>
          <p:spPr>
            <a:xfrm>
              <a:off x="9715500" y="1466850"/>
              <a:ext cx="190500" cy="190500"/>
            </a:xfrm>
            <a:prstGeom prst="ellipse">
              <a:avLst/>
            </a:prstGeom>
            <a:solidFill>
              <a:srgbClr val="C3125B"/>
            </a:solidFill>
            <a:ln>
              <a:noFill/>
            </a:ln>
            <a:effectLst>
              <a:outerShdw blurRad="0" dist="45790" dir="3378595" algn="tl" rotWithShape="0">
                <a:srgbClr val="000000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D1243"/>
            </a:gs>
            <a:gs pos="52000">
              <a:srgbClr val="1C0A29"/>
            </a:gs>
            <a:gs pos="100000">
              <a:srgbClr val="0B0610"/>
            </a:gs>
          </a:gsLst>
          <a:path path="circle">
            <a:fillToRect l="50000" t="38000" r="50000" b="62000"/>
          </a:path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Texture: film grain" descr="grain.png"/>
          <p:cNvPicPr>
            <a:picLocks noChangeAspect="1" noSel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IV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GO DEEPER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603250"/>
            <a:ext cx="4212979" cy="5829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140"/>
              </a:lnSpc>
            </a:pPr>
            <a:r>
              <a:rPr sz="4500" b="0">
                <a:solidFill>
                  <a:srgbClr val="F4ECDD"/>
                </a:solidFill>
                <a:latin typeface="Archivo Condensed"/>
                <a:ea typeface="Archivo Condensed"/>
                <a:cs typeface="Archivo Condensed"/>
              </a:rPr>
              <a:t>THREE SIGNALS</a:t>
            </a:r>
          </a:p>
        </p:txBody>
      </p:sp>
      <p:grpSp>
        <p:nvGrpSpPr>
          <p:cNvPr id="5" name="!!polaroida"/>
          <p:cNvGrpSpPr/>
          <p:nvPr/>
        </p:nvGrpSpPr>
        <p:grpSpPr>
          <a:xfrm rot="21000000">
            <a:off x="4191000" y="1670050"/>
            <a:ext cx="1587500" cy="1822450"/>
            <a:chOff x="4191000" y="1670050"/>
            <a:chExt cx="1587500" cy="1822450"/>
          </a:xfrm>
        </p:grpSpPr>
        <p:sp>
          <p:nvSpPr>
            <p:cNvPr id="6" name="Polaroid paper"/>
            <p:cNvSpPr/>
            <p:nvPr/>
          </p:nvSpPr>
          <p:spPr>
            <a:xfrm>
              <a:off x="4191000" y="1714500"/>
              <a:ext cx="1587500" cy="1778000"/>
            </a:xfrm>
            <a:prstGeom prst="rect">
              <a:avLst/>
            </a:prstGeom>
            <a:solidFill>
              <a:srgbClr val="FBF8F1"/>
            </a:solidFill>
            <a:ln>
              <a:noFill/>
            </a:ln>
            <a:effectLst>
              <a:outerShdw blurRad="0" dist="72401" dir="3127500" algn="tl" rotWithShape="0">
                <a:srgbClr val="000000">
                  <a:alpha val="5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" name="Squeeze background"/>
            <p:cNvSpPr/>
            <p:nvPr/>
          </p:nvSpPr>
          <p:spPr>
            <a:xfrm>
              <a:off x="4260850" y="1784350"/>
              <a:ext cx="1447800" cy="1143000"/>
            </a:xfrm>
            <a:prstGeom prst="rect">
              <a:avLst/>
            </a:prstGeom>
            <a:solidFill>
              <a:srgbClr val="FF2E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8" name="A04 (squeeze crop)" descr="a04_cut.png"/>
            <p:cNvPicPr>
              <a:picLocks noChangeAspect="1"/>
            </p:cNvPicPr>
            <p:nvPr/>
          </p:nvPicPr>
          <p:blipFill>
            <a:blip r:embed="rId3"/>
            <a:srcRect l="18750" r="10000" b="21356"/>
            <a:stretch>
              <a:fillRect/>
            </a:stretch>
          </p:blipFill>
          <p:spPr>
            <a:xfrm>
              <a:off x="4260850" y="1816100"/>
              <a:ext cx="1447800" cy="1111250"/>
            </a:xfrm>
            <a:prstGeom prst="rect">
              <a:avLst/>
            </a:prstGeom>
          </p:spPr>
        </p:pic>
        <p:sp>
          <p:nvSpPr>
            <p:cNvPr id="9" name="Wall"/>
            <p:cNvSpPr/>
            <p:nvPr/>
          </p:nvSpPr>
          <p:spPr>
            <a:xfrm>
              <a:off x="4260850" y="1784350"/>
              <a:ext cx="349250" cy="1143000"/>
            </a:xfrm>
            <a:prstGeom prst="rect">
              <a:avLst/>
            </a:prstGeom>
            <a:solidFill>
              <a:srgbClr val="FF2E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" name="Wall"/>
            <p:cNvSpPr/>
            <p:nvPr/>
          </p:nvSpPr>
          <p:spPr>
            <a:xfrm>
              <a:off x="5359400" y="1784350"/>
              <a:ext cx="349250" cy="1143000"/>
            </a:xfrm>
            <a:prstGeom prst="rect">
              <a:avLst/>
            </a:prstGeom>
            <a:solidFill>
              <a:srgbClr val="FF2E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1" name="Caption"/>
            <p:cNvSpPr txBox="1"/>
            <p:nvPr/>
          </p:nvSpPr>
          <p:spPr>
            <a:xfrm>
              <a:off x="4260850" y="2971800"/>
              <a:ext cx="1447800" cy="508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632"/>
                </a:lnSpc>
              </a:pPr>
              <a:r>
                <a:rPr sz="550" b="0" spc="77">
                  <a:solidFill>
                    <a:srgbClr val="0B0610"/>
                  </a:solidFill>
                  <a:latin typeface="Archivo Label"/>
                  <a:ea typeface="Archivo Label"/>
                  <a:cs typeface="Archivo Label"/>
                </a:rPr>
                <a:t>LOWEST JCM SCORE</a:t>
              </a:r>
            </a:p>
            <a:p>
              <a:pPr algn="l">
                <a:lnSpc>
                  <a:spcPts val="2500"/>
                </a:lnSpc>
              </a:pPr>
              <a:r>
                <a:rPr sz="2750" b="0">
                  <a:solidFill>
                    <a:srgbClr val="0B0610"/>
                  </a:solidFill>
                  <a:latin typeface="Archivo Display"/>
                  <a:ea typeface="Archivo Display"/>
                  <a:cs typeface="Archivo Display"/>
                </a:rPr>
                <a:t>2.55</a:t>
              </a:r>
              <a:r>
                <a:rPr sz="650" b="0">
                  <a:solidFill>
                    <a:srgbClr val="0B0610"/>
                  </a:solidFill>
                  <a:latin typeface="Archivo Expanded"/>
                  <a:ea typeface="Archivo Expanded"/>
                  <a:cs typeface="Archivo Expanded"/>
                </a:rPr>
                <a:t>  SKILL VARIETY</a:t>
              </a:r>
            </a:p>
          </p:txBody>
        </p:sp>
        <p:sp>
          <p:nvSpPr>
            <p:cNvPr id="12" name="Pin"/>
            <p:cNvSpPr/>
            <p:nvPr/>
          </p:nvSpPr>
          <p:spPr>
            <a:xfrm>
              <a:off x="4937125" y="1670050"/>
              <a:ext cx="95250" cy="95250"/>
            </a:xfrm>
            <a:prstGeom prst="ellipse">
              <a:avLst/>
            </a:prstGeom>
            <a:solidFill>
              <a:srgbClr val="C3125B"/>
            </a:solidFill>
            <a:ln>
              <a:noFill/>
            </a:ln>
            <a:effectLst>
              <a:outerShdw blurRad="0" dist="22895" dir="3378595" algn="tl" rotWithShape="0">
                <a:srgbClr val="000000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13" name="!!polaroidb"/>
          <p:cNvGrpSpPr/>
          <p:nvPr/>
        </p:nvGrpSpPr>
        <p:grpSpPr>
          <a:xfrm>
            <a:off x="5270500" y="1479550"/>
            <a:ext cx="1587500" cy="1822450"/>
            <a:chOff x="5270500" y="1479550"/>
            <a:chExt cx="1587500" cy="1822450"/>
          </a:xfrm>
        </p:grpSpPr>
        <p:sp>
          <p:nvSpPr>
            <p:cNvPr id="14" name="Polaroid paper"/>
            <p:cNvSpPr/>
            <p:nvPr/>
          </p:nvSpPr>
          <p:spPr>
            <a:xfrm>
              <a:off x="5270500" y="1524000"/>
              <a:ext cx="1587500" cy="1778000"/>
            </a:xfrm>
            <a:prstGeom prst="rect">
              <a:avLst/>
            </a:prstGeom>
            <a:solidFill>
              <a:srgbClr val="FBF8F1"/>
            </a:solidFill>
            <a:ln>
              <a:noFill/>
            </a:ln>
            <a:effectLst>
              <a:outerShdw blurRad="0" dist="72401" dir="3127500" algn="tl" rotWithShape="0">
                <a:srgbClr val="000000">
                  <a:alpha val="5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5" name="Tag background"/>
            <p:cNvSpPr/>
            <p:nvPr/>
          </p:nvSpPr>
          <p:spPr>
            <a:xfrm>
              <a:off x="5340350" y="1593850"/>
              <a:ext cx="1447800" cy="1143000"/>
            </a:xfrm>
            <a:prstGeom prst="rect">
              <a:avLst/>
            </a:prstGeom>
            <a:solidFill>
              <a:srgbClr val="CDBFA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16" name="Paper tag" descr="tag4.png"/>
            <p:cNvPicPr>
              <a:picLocks noChangeAspect="1"/>
            </p:cNvPicPr>
            <p:nvPr/>
          </p:nvPicPr>
          <p:blipFill>
            <a:blip r:embed="rId4"/>
            <a:srcRect t="32043"/>
            <a:stretch>
              <a:fillRect/>
            </a:stretch>
          </p:blipFill>
          <p:spPr>
            <a:xfrm>
              <a:off x="5467350" y="1593850"/>
              <a:ext cx="571500" cy="1143000"/>
            </a:xfrm>
            <a:prstGeom prst="rect">
              <a:avLst/>
            </a:prstGeom>
          </p:spPr>
        </p:pic>
        <p:sp>
          <p:nvSpPr>
            <p:cNvPr id="17" name="Marker note"/>
            <p:cNvSpPr txBox="1"/>
            <p:nvPr/>
          </p:nvSpPr>
          <p:spPr>
            <a:xfrm>
              <a:off x="6070600" y="1720850"/>
              <a:ext cx="698500" cy="952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950"/>
                </a:lnSpc>
              </a:pPr>
              <a:r>
                <a:rPr sz="850" b="0">
                  <a:solidFill>
                    <a:srgbClr val="0B0610"/>
                  </a:solidFill>
                  <a:latin typeface="Caveat Brush"/>
                  <a:ea typeface="Caveat Brush"/>
                  <a:cs typeface="Caveat Brush"/>
                </a:rPr>
                <a:t>most-selected:</a:t>
              </a:r>
            </a:p>
            <a:p>
              <a:pPr algn="l">
                <a:lnSpc>
                  <a:spcPts val="950"/>
                </a:lnSpc>
              </a:pPr>
              <a:r>
                <a:rPr sz="850" b="0">
                  <a:solidFill>
                    <a:srgbClr val="0B0610"/>
                  </a:solidFill>
                  <a:latin typeface="Caveat Brush"/>
                  <a:ea typeface="Caveat Brush"/>
                  <a:cs typeface="Caveat Brush"/>
                </a:rPr>
                <a:t>learn new skills</a:t>
              </a:r>
            </a:p>
            <a:p>
              <a:pPr algn="l">
                <a:lnSpc>
                  <a:spcPts val="950"/>
                </a:lnSpc>
              </a:pPr>
              <a:r>
                <a:rPr sz="850" b="0">
                  <a:solidFill>
                    <a:srgbClr val="0B0610"/>
                  </a:solidFill>
                  <a:latin typeface="Caveat Brush"/>
                  <a:ea typeface="Caveat Brush"/>
                  <a:cs typeface="Caveat Brush"/>
                </a:rPr>
                <a:t>&amp; ownership</a:t>
              </a:r>
            </a:p>
            <a:p>
              <a:pPr algn="l">
                <a:lnSpc>
                  <a:spcPts val="950"/>
                </a:lnSpc>
              </a:pPr>
              <a:r>
                <a:rPr sz="850" b="0">
                  <a:solidFill>
                    <a:srgbClr val="0B0610"/>
                  </a:solidFill>
                  <a:latin typeface="Caveat Brush"/>
                  <a:ea typeface="Caveat Brush"/>
                  <a:cs typeface="Caveat Brush"/>
                </a:rPr>
                <a:t>(14 of 25 each)*</a:t>
              </a:r>
            </a:p>
          </p:txBody>
        </p:sp>
        <p:sp>
          <p:nvSpPr>
            <p:cNvPr id="18" name="Caption"/>
            <p:cNvSpPr txBox="1"/>
            <p:nvPr/>
          </p:nvSpPr>
          <p:spPr>
            <a:xfrm>
              <a:off x="5340350" y="2781300"/>
              <a:ext cx="1447800" cy="508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632"/>
                </a:lnSpc>
              </a:pPr>
              <a:r>
                <a:rPr sz="550" b="0" spc="77">
                  <a:solidFill>
                    <a:srgbClr val="0B0610"/>
                  </a:solidFill>
                  <a:latin typeface="Archivo Label"/>
                  <a:ea typeface="Archivo Label"/>
                  <a:cs typeface="Archivo Label"/>
                </a:rPr>
                <a:t>WHAT CASHIERS VALUE</a:t>
              </a:r>
            </a:p>
            <a:p>
              <a:pPr algn="l">
                <a:lnSpc>
                  <a:spcPts val="1650"/>
                </a:lnSpc>
              </a:pPr>
              <a:r>
                <a:rPr sz="1600" b="0">
                  <a:solidFill>
                    <a:srgbClr val="0B0610"/>
                  </a:solidFill>
                  <a:latin typeface="Archivo Display"/>
                  <a:ea typeface="Archivo Display"/>
                  <a:cs typeface="Archivo Display"/>
                </a:rPr>
                <a:t>4.32</a:t>
              </a:r>
              <a:r>
                <a:rPr sz="375" b="0">
                  <a:solidFill>
                    <a:srgbClr val="0B0610"/>
                  </a:solidFill>
                  <a:latin typeface="Archivo Expanded"/>
                  <a:ea typeface="Archivo Expanded"/>
                  <a:cs typeface="Archivo Expanded"/>
                </a:rPr>
                <a:t> AUTHORITY </a:t>
              </a:r>
              <a:r>
                <a:rPr sz="1300" b="0">
                  <a:solidFill>
                    <a:srgbClr val="0B0610"/>
                  </a:solidFill>
                  <a:latin typeface="Archivo Display"/>
                  <a:ea typeface="Archivo Display"/>
                  <a:cs typeface="Archivo Display"/>
                </a:rPr>
                <a:t> 4.16</a:t>
              </a:r>
              <a:r>
                <a:rPr sz="375" b="0">
                  <a:solidFill>
                    <a:srgbClr val="0B0610"/>
                  </a:solidFill>
                  <a:latin typeface="Archivo Expanded"/>
                  <a:ea typeface="Archivo Expanded"/>
                  <a:cs typeface="Archivo Expanded"/>
                </a:rPr>
                <a:t> OWNERSHIP</a:t>
              </a:r>
            </a:p>
            <a:p>
              <a:pPr algn="l">
                <a:lnSpc>
                  <a:spcPts val="531"/>
                </a:lnSpc>
              </a:pPr>
              <a:r>
                <a:rPr sz="425" b="0">
                  <a:solidFill>
                    <a:srgbClr val="514B4E"/>
                  </a:solidFill>
                  <a:latin typeface="JetBrains Mono"/>
                  <a:ea typeface="JetBrains Mono"/>
                  <a:cs typeface="JetBrains Mono"/>
                </a:rPr>
                <a:t>*exploratory multiple-response item</a:t>
              </a:r>
            </a:p>
          </p:txBody>
        </p:sp>
        <p:sp>
          <p:nvSpPr>
            <p:cNvPr id="19" name="Pin"/>
            <p:cNvSpPr/>
            <p:nvPr/>
          </p:nvSpPr>
          <p:spPr>
            <a:xfrm>
              <a:off x="6016625" y="1479550"/>
              <a:ext cx="95250" cy="95250"/>
            </a:xfrm>
            <a:prstGeom prst="ellipse">
              <a:avLst/>
            </a:prstGeom>
            <a:solidFill>
              <a:srgbClr val="C3125B"/>
            </a:solidFill>
            <a:ln>
              <a:noFill/>
            </a:ln>
            <a:effectLst>
              <a:outerShdw blurRad="0" dist="22895" dir="3378595" algn="tl" rotWithShape="0">
                <a:srgbClr val="000000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20" name="!!polaroidc"/>
          <p:cNvGrpSpPr/>
          <p:nvPr/>
        </p:nvGrpSpPr>
        <p:grpSpPr>
          <a:xfrm rot="600000">
            <a:off x="6350000" y="1701800"/>
            <a:ext cx="1587500" cy="1822450"/>
            <a:chOff x="6350000" y="1701800"/>
            <a:chExt cx="1587500" cy="1822450"/>
          </a:xfrm>
        </p:grpSpPr>
        <p:sp>
          <p:nvSpPr>
            <p:cNvPr id="21" name="Polaroid paper"/>
            <p:cNvSpPr/>
            <p:nvPr/>
          </p:nvSpPr>
          <p:spPr>
            <a:xfrm>
              <a:off x="6350000" y="1746250"/>
              <a:ext cx="1587500" cy="1778000"/>
            </a:xfrm>
            <a:prstGeom prst="rect">
              <a:avLst/>
            </a:prstGeom>
            <a:solidFill>
              <a:srgbClr val="FBF8F1"/>
            </a:solidFill>
            <a:ln>
              <a:noFill/>
            </a:ln>
            <a:effectLst>
              <a:outerShdw blurRad="0" dist="72401" dir="3127500" algn="tl" rotWithShape="0">
                <a:srgbClr val="000000">
                  <a:alpha val="5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22" name="Graph paper" descr="graph_paper.jpg"/>
            <p:cNvPicPr>
              <a:picLocks noChangeAspect="1"/>
            </p:cNvPicPr>
            <p:nvPr/>
          </p:nvPicPr>
          <p:blipFill>
            <a:blip r:embed="rId5"/>
            <a:srcRect r="57000" b="62000"/>
            <a:stretch>
              <a:fillRect/>
            </a:stretch>
          </p:blipFill>
          <p:spPr>
            <a:xfrm>
              <a:off x="6419850" y="1816100"/>
              <a:ext cx="1447800" cy="1143000"/>
            </a:xfrm>
            <a:prstGeom prst="rect">
              <a:avLst/>
            </a:prstGeom>
          </p:spPr>
        </p:pic>
        <p:sp>
          <p:nvSpPr>
            <p:cNvPr id="23" name="Axes"/>
            <p:cNvSpPr/>
            <p:nvPr/>
          </p:nvSpPr>
          <p:spPr>
            <a:xfrm>
              <a:off x="6546850" y="1911350"/>
              <a:ext cx="1225550" cy="952500"/>
            </a:xfrm>
            <a:custGeom>
              <a:avLst/>
              <a:gdLst/>
              <a:ahLst/>
              <a:cxnLst/>
              <a:rect l="l" t="t" r="r" b="b"/>
              <a:pathLst>
                <a:path w="1225550" h="952500">
                  <a:moveTo>
                    <a:pt x="0" y="0"/>
                  </a:moveTo>
                  <a:lnTo>
                    <a:pt x="0" y="952500"/>
                  </a:lnTo>
                  <a:lnTo>
                    <a:pt x="1225550" y="952500"/>
                  </a:lnTo>
                </a:path>
              </a:pathLst>
            </a:custGeom>
            <a:noFill/>
            <a:ln w="9525" cap="rnd">
              <a:solidFill>
                <a:srgbClr val="0B0610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Fit line"/>
            <p:cNvSpPr/>
            <p:nvPr/>
          </p:nvSpPr>
          <p:spPr>
            <a:xfrm>
              <a:off x="6546850" y="2208464"/>
              <a:ext cx="1021292" cy="405291"/>
            </a:xfrm>
            <a:custGeom>
              <a:avLst/>
              <a:gdLst/>
              <a:ahLst/>
              <a:cxnLst/>
              <a:rect l="l" t="t" r="r" b="b"/>
              <a:pathLst>
                <a:path w="1021292" h="405291">
                  <a:moveTo>
                    <a:pt x="0" y="405291"/>
                  </a:moveTo>
                  <a:lnTo>
                    <a:pt x="1021292" y="0"/>
                  </a:lnTo>
                </a:path>
              </a:pathLst>
            </a:custGeom>
            <a:noFill/>
            <a:ln w="25400" cap="rnd">
              <a:solidFill>
                <a:srgbClr val="E8253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spondent"/>
            <p:cNvSpPr/>
            <p:nvPr/>
          </p:nvSpPr>
          <p:spPr>
            <a:xfrm>
              <a:off x="6518275" y="2755900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6" name="Respondent"/>
            <p:cNvSpPr/>
            <p:nvPr/>
          </p:nvSpPr>
          <p:spPr>
            <a:xfrm>
              <a:off x="6620404" y="2597150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7" name="Respondent"/>
            <p:cNvSpPr/>
            <p:nvPr/>
          </p:nvSpPr>
          <p:spPr>
            <a:xfrm>
              <a:off x="6620404" y="2438400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8" name="Respondent"/>
            <p:cNvSpPr/>
            <p:nvPr/>
          </p:nvSpPr>
          <p:spPr>
            <a:xfrm>
              <a:off x="6722533" y="2597150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9" name="Respondent"/>
            <p:cNvSpPr/>
            <p:nvPr/>
          </p:nvSpPr>
          <p:spPr>
            <a:xfrm>
              <a:off x="6722533" y="2438400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0" name="Respondent"/>
            <p:cNvSpPr/>
            <p:nvPr/>
          </p:nvSpPr>
          <p:spPr>
            <a:xfrm>
              <a:off x="6722533" y="2359025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1" name="Respondent"/>
            <p:cNvSpPr/>
            <p:nvPr/>
          </p:nvSpPr>
          <p:spPr>
            <a:xfrm>
              <a:off x="6722533" y="2200275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2" name="Respondent"/>
            <p:cNvSpPr/>
            <p:nvPr/>
          </p:nvSpPr>
          <p:spPr>
            <a:xfrm>
              <a:off x="6824662" y="2597150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3" name="Respondent"/>
            <p:cNvSpPr/>
            <p:nvPr/>
          </p:nvSpPr>
          <p:spPr>
            <a:xfrm>
              <a:off x="6824662" y="2597150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4" name="Respondent"/>
            <p:cNvSpPr/>
            <p:nvPr/>
          </p:nvSpPr>
          <p:spPr>
            <a:xfrm>
              <a:off x="6926792" y="2517775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5" name="Respondent"/>
            <p:cNvSpPr/>
            <p:nvPr/>
          </p:nvSpPr>
          <p:spPr>
            <a:xfrm>
              <a:off x="6926792" y="2359025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6" name="Respondent"/>
            <p:cNvSpPr/>
            <p:nvPr/>
          </p:nvSpPr>
          <p:spPr>
            <a:xfrm>
              <a:off x="7028921" y="2597150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7" name="Respondent"/>
            <p:cNvSpPr/>
            <p:nvPr/>
          </p:nvSpPr>
          <p:spPr>
            <a:xfrm>
              <a:off x="7028921" y="2517775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8" name="Respondent"/>
            <p:cNvSpPr/>
            <p:nvPr/>
          </p:nvSpPr>
          <p:spPr>
            <a:xfrm>
              <a:off x="7028921" y="2517775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9" name="Respondent"/>
            <p:cNvSpPr/>
            <p:nvPr/>
          </p:nvSpPr>
          <p:spPr>
            <a:xfrm>
              <a:off x="7028921" y="2279650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0" name="Respondent"/>
            <p:cNvSpPr/>
            <p:nvPr/>
          </p:nvSpPr>
          <p:spPr>
            <a:xfrm>
              <a:off x="7028921" y="2041525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1" name="Respondent"/>
            <p:cNvSpPr/>
            <p:nvPr/>
          </p:nvSpPr>
          <p:spPr>
            <a:xfrm>
              <a:off x="7131050" y="2597150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2" name="Respondent"/>
            <p:cNvSpPr/>
            <p:nvPr/>
          </p:nvSpPr>
          <p:spPr>
            <a:xfrm>
              <a:off x="7131050" y="2200275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3" name="Respondent"/>
            <p:cNvSpPr/>
            <p:nvPr/>
          </p:nvSpPr>
          <p:spPr>
            <a:xfrm>
              <a:off x="7131050" y="2041525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4" name="Respondent"/>
            <p:cNvSpPr/>
            <p:nvPr/>
          </p:nvSpPr>
          <p:spPr>
            <a:xfrm>
              <a:off x="7233179" y="2438400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5" name="Respondent"/>
            <p:cNvSpPr/>
            <p:nvPr/>
          </p:nvSpPr>
          <p:spPr>
            <a:xfrm>
              <a:off x="7233179" y="2438400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6" name="Respondent"/>
            <p:cNvSpPr/>
            <p:nvPr/>
          </p:nvSpPr>
          <p:spPr>
            <a:xfrm>
              <a:off x="7335308" y="2359025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7" name="Respondent"/>
            <p:cNvSpPr/>
            <p:nvPr/>
          </p:nvSpPr>
          <p:spPr>
            <a:xfrm>
              <a:off x="7335308" y="2120900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8" name="Respondent"/>
            <p:cNvSpPr/>
            <p:nvPr/>
          </p:nvSpPr>
          <p:spPr>
            <a:xfrm>
              <a:off x="7437438" y="2120900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9" name="Respondent"/>
            <p:cNvSpPr/>
            <p:nvPr/>
          </p:nvSpPr>
          <p:spPr>
            <a:xfrm>
              <a:off x="7539567" y="2200275"/>
              <a:ext cx="57150" cy="57150"/>
            </a:xfrm>
            <a:prstGeom prst="ellipse">
              <a:avLst/>
            </a:prstGeom>
            <a:solidFill>
              <a:srgbClr val="FF7A1A"/>
            </a:solidFill>
            <a:ln w="9525">
              <a:solidFill>
                <a:srgbClr val="FFFFFF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0" name="Caption"/>
            <p:cNvSpPr txBox="1"/>
            <p:nvPr/>
          </p:nvSpPr>
          <p:spPr>
            <a:xfrm>
              <a:off x="6419850" y="3003550"/>
              <a:ext cx="1447800" cy="508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632"/>
                </a:lnSpc>
              </a:pPr>
              <a:r>
                <a:rPr sz="550" b="0" spc="77">
                  <a:solidFill>
                    <a:srgbClr val="0B0610"/>
                  </a:solidFill>
                  <a:latin typeface="Archivo Label"/>
                  <a:ea typeface="Archivo Label"/>
                  <a:cs typeface="Archivo Label"/>
                </a:rPr>
                <a:t>STRONGEST OBSERVED ASSOCIATION</a:t>
              </a:r>
            </a:p>
            <a:p>
              <a:pPr algn="l">
                <a:lnSpc>
                  <a:spcPts val="2200"/>
                </a:lnSpc>
              </a:pPr>
              <a:r>
                <a:rPr sz="2400" b="0">
                  <a:solidFill>
                    <a:srgbClr val="0B0610"/>
                  </a:solidFill>
                  <a:latin typeface="Archivo Display"/>
                  <a:ea typeface="Archivo Display"/>
                  <a:cs typeface="Archivo Display"/>
                </a:rPr>
                <a:t>r </a:t>
              </a:r>
              <a:r>
                <a:rPr sz="1450" b="0">
                  <a:solidFill>
                    <a:srgbClr val="0B0610"/>
                  </a:solidFill>
                  <a:latin typeface="Arial"/>
                  <a:ea typeface="Arial"/>
                  <a:cs typeface="Arial"/>
                </a:rPr>
                <a:t>≈</a:t>
              </a:r>
              <a:r>
                <a:rPr sz="2400" b="0">
                  <a:solidFill>
                    <a:srgbClr val="0B0610"/>
                  </a:solidFill>
                  <a:latin typeface="Archivo Display"/>
                  <a:ea typeface="Archivo Display"/>
                  <a:cs typeface="Archivo Display"/>
                </a:rPr>
                <a:t> .54</a:t>
              </a:r>
            </a:p>
            <a:p>
              <a:pPr algn="l">
                <a:lnSpc>
                  <a:spcPts val="446"/>
                </a:lnSpc>
              </a:pPr>
              <a:r>
                <a:rPr sz="425" b="0">
                  <a:solidFill>
                    <a:srgbClr val="0B0610"/>
                  </a:solidFill>
                  <a:latin typeface="Archivo Expanded"/>
                  <a:ea typeface="Archivo Expanded"/>
                  <a:cs typeface="Archivo Expanded"/>
                </a:rPr>
                <a:t>SKILL VARIETY </a:t>
              </a:r>
              <a:r>
                <a:rPr sz="425" b="0">
                  <a:solidFill>
                    <a:srgbClr val="0B0610"/>
                  </a:solidFill>
                  <a:latin typeface="Arial"/>
                  <a:ea typeface="Arial"/>
                  <a:cs typeface="Arial"/>
                </a:rPr>
                <a:t>↔</a:t>
              </a:r>
              <a:r>
                <a:rPr sz="425" b="0">
                  <a:solidFill>
                    <a:srgbClr val="0B0610"/>
                  </a:solidFill>
                  <a:latin typeface="Archivo Expanded"/>
                  <a:ea typeface="Archivo Expanded"/>
                  <a:cs typeface="Archivo Expanded"/>
                </a:rPr>
                <a:t> JOB SATISFACTION</a:t>
              </a:r>
            </a:p>
          </p:txBody>
        </p:sp>
        <p:sp>
          <p:nvSpPr>
            <p:cNvPr id="51" name="Pin"/>
            <p:cNvSpPr/>
            <p:nvPr/>
          </p:nvSpPr>
          <p:spPr>
            <a:xfrm>
              <a:off x="7096125" y="1701800"/>
              <a:ext cx="95250" cy="95250"/>
            </a:xfrm>
            <a:prstGeom prst="ellipse">
              <a:avLst/>
            </a:prstGeom>
            <a:solidFill>
              <a:srgbClr val="C3125B"/>
            </a:solidFill>
            <a:ln>
              <a:noFill/>
            </a:ln>
            <a:effectLst>
              <a:outerShdw blurRad="0" dist="22895" dir="3378595" algn="tl" rotWithShape="0">
                <a:srgbClr val="000000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52" name="!!ticket"/>
          <p:cNvGrpSpPr/>
          <p:nvPr/>
        </p:nvGrpSpPr>
        <p:grpSpPr>
          <a:xfrm rot="21510000">
            <a:off x="2120900" y="3810000"/>
            <a:ext cx="7950200" cy="2095500"/>
            <a:chOff x="2120900" y="3810000"/>
            <a:chExt cx="7950200" cy="2095500"/>
          </a:xfrm>
        </p:grpSpPr>
        <p:sp>
          <p:nvSpPr>
            <p:cNvPr id="53" name="Ticket"/>
            <p:cNvSpPr/>
            <p:nvPr/>
          </p:nvSpPr>
          <p:spPr>
            <a:xfrm>
              <a:off x="2286000" y="3810000"/>
              <a:ext cx="7620000" cy="2095500"/>
            </a:xfrm>
            <a:prstGeom prst="rect">
              <a:avLst/>
            </a:prstGeom>
            <a:solidFill>
              <a:srgbClr val="FFD23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4" name="Ticket notch"/>
            <p:cNvSpPr/>
            <p:nvPr/>
          </p:nvSpPr>
          <p:spPr>
            <a:xfrm>
              <a:off x="2120900" y="4692650"/>
              <a:ext cx="330200" cy="330200"/>
            </a:xfrm>
            <a:prstGeom prst="ellipse">
              <a:avLst/>
            </a:prstGeom>
            <a:solidFill>
              <a:srgbClr val="1C0A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5" name="Ticket notch"/>
            <p:cNvSpPr/>
            <p:nvPr/>
          </p:nvSpPr>
          <p:spPr>
            <a:xfrm>
              <a:off x="9740900" y="4692650"/>
              <a:ext cx="330200" cy="330200"/>
            </a:xfrm>
            <a:prstGeom prst="ellipse">
              <a:avLst/>
            </a:prstGeom>
            <a:solidFill>
              <a:srgbClr val="1C0A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6" name="Managerial signal"/>
            <p:cNvSpPr txBox="1"/>
            <p:nvPr/>
          </p:nvSpPr>
          <p:spPr>
            <a:xfrm>
              <a:off x="2667000" y="4064000"/>
              <a:ext cx="6985000" cy="1651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495"/>
                </a:lnSpc>
              </a:pPr>
              <a:r>
                <a:rPr sz="1300" b="0" spc="130">
                  <a:solidFill>
                    <a:srgbClr val="0B0610"/>
                  </a:solidFill>
                  <a:latin typeface="Archivo Label"/>
                  <a:ea typeface="Archivo Label"/>
                  <a:cs typeface="Archivo Label"/>
                </a:rPr>
                <a:t>LOWEST SCORE + EMPLOYEE PREFERENCE + STRONGEST ASSOCIATION</a:t>
              </a:r>
            </a:p>
            <a:p>
              <a:pPr algn="l">
                <a:lnSpc>
                  <a:spcPts val="5504"/>
                </a:lnSpc>
                <a:spcBef>
                  <a:spcPts val="700"/>
                </a:spcBef>
              </a:pPr>
              <a:r>
                <a:rPr sz="6400" b="0">
                  <a:solidFill>
                    <a:srgbClr val="0B0610"/>
                  </a:solidFill>
                  <a:latin typeface="Archivo Display"/>
                  <a:ea typeface="Archivo Display"/>
                  <a:cs typeface="Archivo Display"/>
                </a:rPr>
                <a:t>MANAGERIAL SIGNAL</a:t>
              </a:r>
            </a:p>
            <a:p>
              <a:pPr algn="l">
                <a:lnSpc>
                  <a:spcPts val="1875"/>
                </a:lnSpc>
                <a:spcBef>
                  <a:spcPts val="300"/>
                </a:spcBef>
              </a:pPr>
              <a:r>
                <a:rPr sz="1500" b="1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— not proof. A reason to redesign carefully and test.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D1243"/>
            </a:gs>
            <a:gs pos="52000">
              <a:srgbClr val="1C0A29"/>
            </a:gs>
            <a:gs pos="100000">
              <a:srgbClr val="0B0610"/>
            </a:gs>
          </a:gsLst>
          <a:path path="circle">
            <a:fillToRect l="50000" t="38000" r="50000" b="62000"/>
          </a:path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 A07 (bag rail, duotone)" descr="a07_plum.jpg"/>
          <p:cNvPicPr>
            <a:picLocks noChangeAspect="1"/>
          </p:cNvPicPr>
          <p:nvPr/>
        </p:nvPicPr>
        <p:blipFill>
          <a:blip r:embed="rId2"/>
          <a:srcRect t="13889"/>
          <a:stretch>
            <a:fillRect/>
          </a:stretch>
        </p:blipFill>
        <p:spPr>
          <a:xfrm>
            <a:off x="0" y="0"/>
            <a:ext cx="12192000" cy="5905500"/>
          </a:xfrm>
          <a:prstGeom prst="rect">
            <a:avLst/>
          </a:prstGeom>
        </p:spPr>
      </p:pic>
      <p:sp>
        <p:nvSpPr>
          <p:cNvPr id="3" name="Shad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0610">
                  <a:alpha val="20000"/>
                </a:srgbClr>
              </a:gs>
              <a:gs pos="42000">
                <a:srgbClr val="0B0610">
                  <a:alpha val="70000"/>
                </a:srgbClr>
              </a:gs>
              <a:gs pos="70000">
                <a:srgbClr val="0B0610">
                  <a:alpha val="95000"/>
                </a:srgbClr>
              </a:gs>
              <a:gs pos="100000">
                <a:srgbClr val="0B0610">
                  <a:alpha val="95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Texture: film grain" descr="grain.png"/>
          <p:cNvPicPr>
            <a:picLocks noChangeAspect="1" noSel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V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INTERPRET</a:t>
            </a:r>
          </a:p>
        </p:txBody>
      </p:sp>
      <p:sp>
        <p:nvSpPr>
          <p:cNvPr id="6" name="Path SV"/>
          <p:cNvSpPr/>
          <p:nvPr/>
        </p:nvSpPr>
        <p:spPr>
          <a:xfrm>
            <a:off x="1587500" y="3175000"/>
            <a:ext cx="2222500" cy="635000"/>
          </a:xfrm>
          <a:custGeom>
            <a:avLst/>
            <a:gdLst/>
            <a:ahLst/>
            <a:cxnLst/>
            <a:rect l="l" t="t" r="r" b="b"/>
            <a:pathLst>
              <a:path w="2222500" h="635000">
                <a:moveTo>
                  <a:pt x="0" y="0"/>
                </a:moveTo>
                <a:lnTo>
                  <a:pt x="11254" y="38080"/>
                </a:lnTo>
                <a:lnTo>
                  <a:pt x="43730" y="73128"/>
                </a:lnTo>
                <a:lnTo>
                  <a:pt x="95498" y="105420"/>
                </a:lnTo>
                <a:lnTo>
                  <a:pt x="164630" y="135231"/>
                </a:lnTo>
                <a:lnTo>
                  <a:pt x="249195" y="162838"/>
                </a:lnTo>
                <a:lnTo>
                  <a:pt x="347266" y="188516"/>
                </a:lnTo>
                <a:lnTo>
                  <a:pt x="456912" y="212539"/>
                </a:lnTo>
                <a:lnTo>
                  <a:pt x="576204" y="235185"/>
                </a:lnTo>
                <a:lnTo>
                  <a:pt x="703213" y="256729"/>
                </a:lnTo>
                <a:lnTo>
                  <a:pt x="836010" y="277445"/>
                </a:lnTo>
                <a:lnTo>
                  <a:pt x="972665" y="297610"/>
                </a:lnTo>
                <a:lnTo>
                  <a:pt x="1111250" y="317500"/>
                </a:lnTo>
                <a:lnTo>
                  <a:pt x="1249835" y="337390"/>
                </a:lnTo>
                <a:lnTo>
                  <a:pt x="1386490" y="357555"/>
                </a:lnTo>
                <a:lnTo>
                  <a:pt x="1519287" y="378271"/>
                </a:lnTo>
                <a:lnTo>
                  <a:pt x="1646296" y="399815"/>
                </a:lnTo>
                <a:lnTo>
                  <a:pt x="1765588" y="422461"/>
                </a:lnTo>
                <a:lnTo>
                  <a:pt x="1875234" y="446484"/>
                </a:lnTo>
                <a:lnTo>
                  <a:pt x="1973305" y="472162"/>
                </a:lnTo>
                <a:lnTo>
                  <a:pt x="2057870" y="499769"/>
                </a:lnTo>
                <a:lnTo>
                  <a:pt x="2127002" y="529580"/>
                </a:lnTo>
                <a:lnTo>
                  <a:pt x="2178770" y="561872"/>
                </a:lnTo>
                <a:lnTo>
                  <a:pt x="2211246" y="596920"/>
                </a:lnTo>
                <a:lnTo>
                  <a:pt x="2222500" y="635000"/>
                </a:lnTo>
              </a:path>
            </a:pathLst>
          </a:custGeom>
          <a:noFill/>
          <a:ln w="63500" cap="rnd">
            <a:solidFill>
              <a:srgbClr val="FF6FAE"/>
            </a:solidFill>
            <a:round/>
          </a:ln>
          <a:effectLst>
            <a:glow rad="63500">
              <a:srgbClr val="FF2E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th TI"/>
          <p:cNvSpPr/>
          <p:nvPr/>
        </p:nvSpPr>
        <p:spPr>
          <a:xfrm>
            <a:off x="3810000" y="3175000"/>
            <a:ext cx="0" cy="635000"/>
          </a:xfrm>
          <a:custGeom>
            <a:avLst/>
            <a:gdLst/>
            <a:ahLst/>
            <a:cxnLst/>
            <a:rect l="l" t="t" r="r" b="b"/>
            <a:pathLst>
              <a:path w="0" h="635000">
                <a:moveTo>
                  <a:pt x="0" y="0"/>
                </a:moveTo>
                <a:lnTo>
                  <a:pt x="0" y="38080"/>
                </a:lnTo>
                <a:lnTo>
                  <a:pt x="0" y="73128"/>
                </a:lnTo>
                <a:lnTo>
                  <a:pt x="0" y="105420"/>
                </a:lnTo>
                <a:lnTo>
                  <a:pt x="0" y="135231"/>
                </a:lnTo>
                <a:lnTo>
                  <a:pt x="0" y="162838"/>
                </a:lnTo>
                <a:lnTo>
                  <a:pt x="0" y="188516"/>
                </a:lnTo>
                <a:lnTo>
                  <a:pt x="0" y="212539"/>
                </a:lnTo>
                <a:lnTo>
                  <a:pt x="0" y="235185"/>
                </a:lnTo>
                <a:lnTo>
                  <a:pt x="0" y="256729"/>
                </a:lnTo>
                <a:lnTo>
                  <a:pt x="0" y="277445"/>
                </a:lnTo>
                <a:lnTo>
                  <a:pt x="0" y="297610"/>
                </a:lnTo>
                <a:lnTo>
                  <a:pt x="0" y="317500"/>
                </a:lnTo>
                <a:lnTo>
                  <a:pt x="0" y="337390"/>
                </a:lnTo>
                <a:lnTo>
                  <a:pt x="0" y="357555"/>
                </a:lnTo>
                <a:lnTo>
                  <a:pt x="0" y="378271"/>
                </a:lnTo>
                <a:lnTo>
                  <a:pt x="0" y="399815"/>
                </a:lnTo>
                <a:lnTo>
                  <a:pt x="0" y="422461"/>
                </a:lnTo>
                <a:lnTo>
                  <a:pt x="0" y="446484"/>
                </a:lnTo>
                <a:lnTo>
                  <a:pt x="0" y="472162"/>
                </a:lnTo>
                <a:lnTo>
                  <a:pt x="0" y="499769"/>
                </a:lnTo>
                <a:lnTo>
                  <a:pt x="0" y="529580"/>
                </a:lnTo>
                <a:lnTo>
                  <a:pt x="0" y="561872"/>
                </a:lnTo>
                <a:lnTo>
                  <a:pt x="0" y="596920"/>
                </a:lnTo>
                <a:lnTo>
                  <a:pt x="0" y="635000"/>
                </a:lnTo>
              </a:path>
            </a:pathLst>
          </a:custGeom>
          <a:noFill/>
          <a:ln w="63500" cap="rnd">
            <a:solidFill>
              <a:srgbClr val="7FA0FF"/>
            </a:solidFill>
            <a:round/>
          </a:ln>
          <a:effectLst>
            <a:glow rad="63500">
              <a:srgbClr val="FF2E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th TS"/>
          <p:cNvSpPr/>
          <p:nvPr/>
        </p:nvSpPr>
        <p:spPr>
          <a:xfrm>
            <a:off x="3810000" y="3175000"/>
            <a:ext cx="2286000" cy="635000"/>
          </a:xfrm>
          <a:custGeom>
            <a:avLst/>
            <a:gdLst/>
            <a:ahLst/>
            <a:cxnLst/>
            <a:rect l="l" t="t" r="r" b="b"/>
            <a:pathLst>
              <a:path w="2286000" h="635000">
                <a:moveTo>
                  <a:pt x="2286000" y="0"/>
                </a:moveTo>
                <a:lnTo>
                  <a:pt x="2274424" y="38080"/>
                </a:lnTo>
                <a:lnTo>
                  <a:pt x="2241021" y="73128"/>
                </a:lnTo>
                <a:lnTo>
                  <a:pt x="2187773" y="105420"/>
                </a:lnTo>
                <a:lnTo>
                  <a:pt x="2116667" y="135231"/>
                </a:lnTo>
                <a:lnTo>
                  <a:pt x="2029685" y="162838"/>
                </a:lnTo>
                <a:lnTo>
                  <a:pt x="1928812" y="188516"/>
                </a:lnTo>
                <a:lnTo>
                  <a:pt x="1816034" y="212539"/>
                </a:lnTo>
                <a:lnTo>
                  <a:pt x="1693333" y="235185"/>
                </a:lnTo>
                <a:lnTo>
                  <a:pt x="1562695" y="256729"/>
                </a:lnTo>
                <a:lnTo>
                  <a:pt x="1426104" y="277445"/>
                </a:lnTo>
                <a:lnTo>
                  <a:pt x="1285544" y="297610"/>
                </a:lnTo>
                <a:lnTo>
                  <a:pt x="1143000" y="317500"/>
                </a:lnTo>
                <a:lnTo>
                  <a:pt x="1000456" y="337390"/>
                </a:lnTo>
                <a:lnTo>
                  <a:pt x="859896" y="357555"/>
                </a:lnTo>
                <a:lnTo>
                  <a:pt x="723305" y="378271"/>
                </a:lnTo>
                <a:lnTo>
                  <a:pt x="592667" y="399815"/>
                </a:lnTo>
                <a:lnTo>
                  <a:pt x="469966" y="422461"/>
                </a:lnTo>
                <a:lnTo>
                  <a:pt x="357188" y="446484"/>
                </a:lnTo>
                <a:lnTo>
                  <a:pt x="256315" y="472162"/>
                </a:lnTo>
                <a:lnTo>
                  <a:pt x="169333" y="499769"/>
                </a:lnTo>
                <a:lnTo>
                  <a:pt x="98227" y="529580"/>
                </a:lnTo>
                <a:lnTo>
                  <a:pt x="44979" y="561872"/>
                </a:lnTo>
                <a:lnTo>
                  <a:pt x="11576" y="596920"/>
                </a:lnTo>
                <a:lnTo>
                  <a:pt x="0" y="635000"/>
                </a:lnTo>
              </a:path>
            </a:pathLst>
          </a:custGeom>
          <a:noFill/>
          <a:ln w="63500" cap="rnd">
            <a:solidFill>
              <a:srgbClr val="7FA0FF"/>
            </a:solidFill>
            <a:round/>
          </a:ln>
          <a:effectLst>
            <a:glow rad="63500">
              <a:srgbClr val="FF2E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th to outcomes"/>
          <p:cNvSpPr/>
          <p:nvPr/>
        </p:nvSpPr>
        <p:spPr>
          <a:xfrm>
            <a:off x="3810000" y="4508500"/>
            <a:ext cx="0" cy="476250"/>
          </a:xfrm>
          <a:custGeom>
            <a:avLst/>
            <a:gdLst/>
            <a:ahLst/>
            <a:cxnLst/>
            <a:rect l="l" t="t" r="r" b="b"/>
            <a:pathLst>
              <a:path w="0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63500" cap="rnd">
            <a:solidFill>
              <a:srgbClr val="FF6FAE"/>
            </a:solidFill>
            <a:round/>
          </a:ln>
          <a:effectLst>
            <a:glow rad="63500">
              <a:srgbClr val="FF2E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th AU"/>
          <p:cNvSpPr/>
          <p:nvPr/>
        </p:nvSpPr>
        <p:spPr>
          <a:xfrm>
            <a:off x="8382000" y="3175000"/>
            <a:ext cx="0" cy="635000"/>
          </a:xfrm>
          <a:custGeom>
            <a:avLst/>
            <a:gdLst/>
            <a:ahLst/>
            <a:cxnLst/>
            <a:rect l="l" t="t" r="r" b="b"/>
            <a:pathLst>
              <a:path w="0" h="635000">
                <a:moveTo>
                  <a:pt x="0" y="0"/>
                </a:moveTo>
                <a:lnTo>
                  <a:pt x="0" y="38080"/>
                </a:lnTo>
                <a:lnTo>
                  <a:pt x="0" y="73128"/>
                </a:lnTo>
                <a:lnTo>
                  <a:pt x="0" y="105420"/>
                </a:lnTo>
                <a:lnTo>
                  <a:pt x="0" y="135231"/>
                </a:lnTo>
                <a:lnTo>
                  <a:pt x="0" y="162838"/>
                </a:lnTo>
                <a:lnTo>
                  <a:pt x="0" y="188516"/>
                </a:lnTo>
                <a:lnTo>
                  <a:pt x="0" y="212539"/>
                </a:lnTo>
                <a:lnTo>
                  <a:pt x="0" y="235185"/>
                </a:lnTo>
                <a:lnTo>
                  <a:pt x="0" y="256729"/>
                </a:lnTo>
                <a:lnTo>
                  <a:pt x="0" y="277445"/>
                </a:lnTo>
                <a:lnTo>
                  <a:pt x="0" y="297610"/>
                </a:lnTo>
                <a:lnTo>
                  <a:pt x="0" y="317500"/>
                </a:lnTo>
                <a:lnTo>
                  <a:pt x="0" y="337390"/>
                </a:lnTo>
                <a:lnTo>
                  <a:pt x="0" y="357555"/>
                </a:lnTo>
                <a:lnTo>
                  <a:pt x="0" y="378271"/>
                </a:lnTo>
                <a:lnTo>
                  <a:pt x="0" y="399815"/>
                </a:lnTo>
                <a:lnTo>
                  <a:pt x="0" y="422461"/>
                </a:lnTo>
                <a:lnTo>
                  <a:pt x="0" y="446484"/>
                </a:lnTo>
                <a:lnTo>
                  <a:pt x="0" y="472162"/>
                </a:lnTo>
                <a:lnTo>
                  <a:pt x="0" y="499769"/>
                </a:lnTo>
                <a:lnTo>
                  <a:pt x="0" y="529580"/>
                </a:lnTo>
                <a:lnTo>
                  <a:pt x="0" y="561872"/>
                </a:lnTo>
                <a:lnTo>
                  <a:pt x="0" y="596920"/>
                </a:lnTo>
                <a:lnTo>
                  <a:pt x="0" y="635000"/>
                </a:lnTo>
              </a:path>
            </a:pathLst>
          </a:custGeom>
          <a:noFill/>
          <a:ln w="63500" cap="rnd">
            <a:solidFill>
              <a:srgbClr val="FF6FAE"/>
            </a:solidFill>
            <a:round/>
          </a:ln>
          <a:effectLst>
            <a:glow rad="63500">
              <a:srgbClr val="FF2E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ath to outcomes"/>
          <p:cNvSpPr/>
          <p:nvPr/>
        </p:nvSpPr>
        <p:spPr>
          <a:xfrm>
            <a:off x="8382000" y="4508500"/>
            <a:ext cx="0" cy="476250"/>
          </a:xfrm>
          <a:custGeom>
            <a:avLst/>
            <a:gdLst/>
            <a:ahLst/>
            <a:cxnLst/>
            <a:rect l="l" t="t" r="r" b="b"/>
            <a:pathLst>
              <a:path w="0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63500" cap="rnd">
            <a:solidFill>
              <a:srgbClr val="FF6FAE"/>
            </a:solidFill>
            <a:round/>
          </a:ln>
          <a:effectLst>
            <a:glow rad="63500">
              <a:srgbClr val="FF2E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th FB"/>
          <p:cNvSpPr/>
          <p:nvPr/>
        </p:nvSpPr>
        <p:spPr>
          <a:xfrm>
            <a:off x="10604500" y="3175000"/>
            <a:ext cx="63500" cy="635000"/>
          </a:xfrm>
          <a:custGeom>
            <a:avLst/>
            <a:gdLst/>
            <a:ahLst/>
            <a:cxnLst/>
            <a:rect l="l" t="t" r="r" b="b"/>
            <a:pathLst>
              <a:path w="63500" h="635000">
                <a:moveTo>
                  <a:pt x="0" y="0"/>
                </a:moveTo>
                <a:lnTo>
                  <a:pt x="322" y="38080"/>
                </a:lnTo>
                <a:lnTo>
                  <a:pt x="1249" y="73128"/>
                </a:lnTo>
                <a:lnTo>
                  <a:pt x="2729" y="105420"/>
                </a:lnTo>
                <a:lnTo>
                  <a:pt x="4704" y="135231"/>
                </a:lnTo>
                <a:lnTo>
                  <a:pt x="7120" y="162838"/>
                </a:lnTo>
                <a:lnTo>
                  <a:pt x="9922" y="188516"/>
                </a:lnTo>
                <a:lnTo>
                  <a:pt x="13055" y="212539"/>
                </a:lnTo>
                <a:lnTo>
                  <a:pt x="16463" y="235185"/>
                </a:lnTo>
                <a:lnTo>
                  <a:pt x="20092" y="256729"/>
                </a:lnTo>
                <a:lnTo>
                  <a:pt x="23886" y="277445"/>
                </a:lnTo>
                <a:lnTo>
                  <a:pt x="27790" y="297610"/>
                </a:lnTo>
                <a:lnTo>
                  <a:pt x="31750" y="317500"/>
                </a:lnTo>
                <a:lnTo>
                  <a:pt x="35710" y="337390"/>
                </a:lnTo>
                <a:lnTo>
                  <a:pt x="39614" y="357555"/>
                </a:lnTo>
                <a:lnTo>
                  <a:pt x="43408" y="378271"/>
                </a:lnTo>
                <a:lnTo>
                  <a:pt x="47037" y="399815"/>
                </a:lnTo>
                <a:lnTo>
                  <a:pt x="50445" y="422461"/>
                </a:lnTo>
                <a:lnTo>
                  <a:pt x="53578" y="446484"/>
                </a:lnTo>
                <a:lnTo>
                  <a:pt x="56380" y="472162"/>
                </a:lnTo>
                <a:lnTo>
                  <a:pt x="58796" y="499769"/>
                </a:lnTo>
                <a:lnTo>
                  <a:pt x="60771" y="529580"/>
                </a:lnTo>
                <a:lnTo>
                  <a:pt x="62251" y="561872"/>
                </a:lnTo>
                <a:lnTo>
                  <a:pt x="63178" y="596920"/>
                </a:lnTo>
                <a:lnTo>
                  <a:pt x="63500" y="635000"/>
                </a:lnTo>
              </a:path>
            </a:pathLst>
          </a:custGeom>
          <a:noFill/>
          <a:ln w="63500" cap="rnd">
            <a:solidFill>
              <a:srgbClr val="FF6FAE"/>
            </a:solidFill>
            <a:round/>
          </a:ln>
          <a:effectLst>
            <a:glow rad="63500">
              <a:srgbClr val="FF2E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th to outcomes"/>
          <p:cNvSpPr/>
          <p:nvPr/>
        </p:nvSpPr>
        <p:spPr>
          <a:xfrm>
            <a:off x="10668000" y="4508500"/>
            <a:ext cx="0" cy="476250"/>
          </a:xfrm>
          <a:custGeom>
            <a:avLst/>
            <a:gdLst/>
            <a:ahLst/>
            <a:cxnLst/>
            <a:rect l="l" t="t" r="r" b="b"/>
            <a:pathLst>
              <a:path w="0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63500" cap="rnd">
            <a:solidFill>
              <a:srgbClr val="FF6FAE"/>
            </a:solidFill>
            <a:round/>
          </a:ln>
          <a:effectLst>
            <a:glow rad="63500">
              <a:srgbClr val="FF2E88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jcmSV hook"/>
          <p:cNvSpPr/>
          <p:nvPr/>
        </p:nvSpPr>
        <p:spPr>
          <a:xfrm>
            <a:off x="1574800" y="1295400"/>
            <a:ext cx="25400" cy="508000"/>
          </a:xfrm>
          <a:prstGeom prst="rect">
            <a:avLst/>
          </a:prstGeom>
          <a:solidFill>
            <a:srgbClr val="F4ECDD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!!jcmSV" descr="obj_s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750" y="1791487"/>
            <a:ext cx="1333500" cy="925527"/>
          </a:xfrm>
          <a:prstGeom prst="rect">
            <a:avLst/>
          </a:prstGeom>
        </p:spPr>
      </p:pic>
      <p:sp>
        <p:nvSpPr>
          <p:cNvPr id="16" name="!!jcmTI hook"/>
          <p:cNvSpPr/>
          <p:nvPr/>
        </p:nvSpPr>
        <p:spPr>
          <a:xfrm>
            <a:off x="3797300" y="1295400"/>
            <a:ext cx="25400" cy="508000"/>
          </a:xfrm>
          <a:prstGeom prst="rect">
            <a:avLst/>
          </a:prstGeom>
          <a:solidFill>
            <a:srgbClr val="F4ECDD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!!jcmTI" descr="obj_t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250" y="1848665"/>
            <a:ext cx="1333500" cy="811169"/>
          </a:xfrm>
          <a:prstGeom prst="rect">
            <a:avLst/>
          </a:prstGeom>
        </p:spPr>
      </p:pic>
      <p:sp>
        <p:nvSpPr>
          <p:cNvPr id="18" name="!!jcmTS hook"/>
          <p:cNvSpPr/>
          <p:nvPr/>
        </p:nvSpPr>
        <p:spPr>
          <a:xfrm>
            <a:off x="6083300" y="1295400"/>
            <a:ext cx="25400" cy="508000"/>
          </a:xfrm>
          <a:prstGeom prst="rect">
            <a:avLst/>
          </a:prstGeom>
          <a:solidFill>
            <a:srgbClr val="F4ECDD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!!jcmTS" descr="obj_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6890" y="1587500"/>
            <a:ext cx="1078220" cy="1333500"/>
          </a:xfrm>
          <a:prstGeom prst="rect">
            <a:avLst/>
          </a:prstGeom>
        </p:spPr>
      </p:pic>
      <p:sp>
        <p:nvSpPr>
          <p:cNvPr id="20" name="!!jcmAU hook"/>
          <p:cNvSpPr/>
          <p:nvPr/>
        </p:nvSpPr>
        <p:spPr>
          <a:xfrm>
            <a:off x="8369300" y="1295400"/>
            <a:ext cx="25400" cy="508000"/>
          </a:xfrm>
          <a:prstGeom prst="rect">
            <a:avLst/>
          </a:prstGeom>
          <a:solidFill>
            <a:srgbClr val="F4ECDD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!!jcmAU" descr="obj_a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0" y="1765474"/>
            <a:ext cx="1333500" cy="977553"/>
          </a:xfrm>
          <a:prstGeom prst="rect">
            <a:avLst/>
          </a:prstGeom>
        </p:spPr>
      </p:pic>
      <p:sp>
        <p:nvSpPr>
          <p:cNvPr id="22" name="!!jcmFB hook"/>
          <p:cNvSpPr/>
          <p:nvPr/>
        </p:nvSpPr>
        <p:spPr>
          <a:xfrm>
            <a:off x="10591800" y="1295400"/>
            <a:ext cx="25400" cy="508000"/>
          </a:xfrm>
          <a:prstGeom prst="rect">
            <a:avLst/>
          </a:prstGeom>
          <a:solidFill>
            <a:srgbClr val="F4ECDD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!!jcmFB" descr="obj_f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7750" y="1787357"/>
            <a:ext cx="1333500" cy="93378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531" y="2959100"/>
            <a:ext cx="1729938" cy="1898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65"/>
              </a:lnSpc>
            </a:pPr>
            <a:r>
              <a:rPr sz="13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SKILL VARIETY</a:t>
            </a:r>
          </a:p>
        </p:txBody>
      </p:sp>
      <p:sp>
        <p:nvSpPr>
          <p:cNvPr id="25" name="Score SV 2.55"/>
          <p:cNvSpPr/>
          <p:nvPr/>
        </p:nvSpPr>
        <p:spPr>
          <a:xfrm rot="21120000">
            <a:off x="1905000" y="1333500"/>
            <a:ext cx="660400" cy="660400"/>
          </a:xfrm>
          <a:prstGeom prst="ellipse">
            <a:avLst/>
          </a:prstGeom>
          <a:solidFill>
            <a:srgbClr val="FF2E88"/>
          </a:solidFill>
          <a:ln w="38100">
            <a:solidFill>
              <a:srgbClr val="FBF8F1"/>
            </a:solidFill>
            <a:round/>
          </a:ln>
          <a:effectLst>
            <a:outerShdw blurRad="0" dist="54624" dir="3267739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38100" rIns="0" bIns="0">
            <a:noAutofit/>
          </a:bodyPr>
          <a:lstStyle/>
          <a:p>
            <a:pPr algn="ctr">
              <a:lnSpc>
                <a:spcPts val="1978"/>
              </a:lnSpc>
            </a:pPr>
            <a:r>
              <a:rPr sz="2300" b="0">
                <a:solidFill>
                  <a:srgbClr val="0B0610"/>
                </a:solidFill>
                <a:latin typeface="Archivo Display"/>
                <a:ea typeface="Archivo Display"/>
                <a:cs typeface="Archivo Display"/>
              </a:rPr>
              <a:t>2.55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32648" y="2959100"/>
            <a:ext cx="1754703" cy="1898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65"/>
              </a:lnSpc>
            </a:pPr>
            <a:r>
              <a:rPr sz="13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TASK IDENTITY</a:t>
            </a:r>
          </a:p>
        </p:txBody>
      </p:sp>
      <p:sp>
        <p:nvSpPr>
          <p:cNvPr id="27" name="Score TI 4.04"/>
          <p:cNvSpPr/>
          <p:nvPr/>
        </p:nvSpPr>
        <p:spPr>
          <a:xfrm rot="360000">
            <a:off x="4127500" y="1333500"/>
            <a:ext cx="660400" cy="660400"/>
          </a:xfrm>
          <a:prstGeom prst="ellipse">
            <a:avLst/>
          </a:prstGeom>
          <a:solidFill>
            <a:srgbClr val="3D6BFF"/>
          </a:solidFill>
          <a:ln w="38100">
            <a:solidFill>
              <a:srgbClr val="FBF8F1"/>
            </a:solidFill>
            <a:round/>
          </a:ln>
          <a:effectLst>
            <a:outerShdw blurRad="0" dist="54624" dir="3267739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38100" rIns="0" bIns="0">
            <a:noAutofit/>
          </a:bodyPr>
          <a:lstStyle/>
          <a:p>
            <a:pPr algn="ctr">
              <a:lnSpc>
                <a:spcPts val="1978"/>
              </a:lnSpc>
            </a:pPr>
            <a:r>
              <a:rPr sz="2300" b="0">
                <a:solidFill>
                  <a:srgbClr val="0B0610"/>
                </a:solidFill>
                <a:latin typeface="Archivo Display"/>
                <a:ea typeface="Archivo Display"/>
                <a:cs typeface="Archivo Display"/>
              </a:rPr>
              <a:t>4.04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4264" y="2959100"/>
            <a:ext cx="2323473" cy="1898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65"/>
              </a:lnSpc>
            </a:pPr>
            <a:r>
              <a:rPr sz="13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TASK SIGNIFICANCE</a:t>
            </a:r>
          </a:p>
        </p:txBody>
      </p:sp>
      <p:sp>
        <p:nvSpPr>
          <p:cNvPr id="29" name="Score TS 4.09"/>
          <p:cNvSpPr/>
          <p:nvPr/>
        </p:nvSpPr>
        <p:spPr>
          <a:xfrm rot="21360000">
            <a:off x="6413500" y="1333500"/>
            <a:ext cx="660400" cy="660400"/>
          </a:xfrm>
          <a:prstGeom prst="ellipse">
            <a:avLst/>
          </a:prstGeom>
          <a:solidFill>
            <a:srgbClr val="3D6BFF"/>
          </a:solidFill>
          <a:ln w="38100">
            <a:solidFill>
              <a:srgbClr val="FBF8F1"/>
            </a:solidFill>
            <a:round/>
          </a:ln>
          <a:effectLst>
            <a:outerShdw blurRad="0" dist="54624" dir="3267739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38100" rIns="0" bIns="0">
            <a:noAutofit/>
          </a:bodyPr>
          <a:lstStyle/>
          <a:p>
            <a:pPr algn="ctr">
              <a:lnSpc>
                <a:spcPts val="1978"/>
              </a:lnSpc>
            </a:pPr>
            <a:r>
              <a:rPr sz="2300" b="0">
                <a:solidFill>
                  <a:srgbClr val="0B0610"/>
                </a:solidFill>
                <a:latin typeface="Archivo Display"/>
                <a:ea typeface="Archivo Display"/>
                <a:cs typeface="Archivo Display"/>
              </a:rPr>
              <a:t>4.09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738" y="2959100"/>
            <a:ext cx="1402524" cy="1898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65"/>
              </a:lnSpc>
            </a:pPr>
            <a:r>
              <a:rPr sz="13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AUTONOMY</a:t>
            </a:r>
          </a:p>
        </p:txBody>
      </p:sp>
      <p:sp>
        <p:nvSpPr>
          <p:cNvPr id="31" name="Score AU 2.84"/>
          <p:cNvSpPr/>
          <p:nvPr/>
        </p:nvSpPr>
        <p:spPr>
          <a:xfrm rot="480000">
            <a:off x="8699500" y="1333500"/>
            <a:ext cx="660400" cy="660400"/>
          </a:xfrm>
          <a:prstGeom prst="ellipse">
            <a:avLst/>
          </a:prstGeom>
          <a:solidFill>
            <a:srgbClr val="FF7A1A"/>
          </a:solidFill>
          <a:ln w="38100">
            <a:solidFill>
              <a:srgbClr val="FBF8F1"/>
            </a:solidFill>
            <a:round/>
          </a:ln>
          <a:effectLst>
            <a:outerShdw blurRad="0" dist="54624" dir="3267739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38100" rIns="0" bIns="0">
            <a:noAutofit/>
          </a:bodyPr>
          <a:lstStyle/>
          <a:p>
            <a:pPr algn="ctr">
              <a:lnSpc>
                <a:spcPts val="1978"/>
              </a:lnSpc>
            </a:pPr>
            <a:r>
              <a:rPr sz="2300" b="0">
                <a:solidFill>
                  <a:srgbClr val="0B0610"/>
                </a:solidFill>
                <a:latin typeface="Archivo Display"/>
                <a:ea typeface="Archivo Display"/>
                <a:cs typeface="Archivo Display"/>
              </a:rPr>
              <a:t>2.84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6947" y="2959100"/>
            <a:ext cx="1295106" cy="18986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365"/>
              </a:lnSpc>
            </a:pPr>
            <a:r>
              <a:rPr sz="13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FEEDBACK</a:t>
            </a:r>
          </a:p>
        </p:txBody>
      </p:sp>
      <p:sp>
        <p:nvSpPr>
          <p:cNvPr id="33" name="Score FB 3.40"/>
          <p:cNvSpPr/>
          <p:nvPr/>
        </p:nvSpPr>
        <p:spPr>
          <a:xfrm rot="21240000">
            <a:off x="10922000" y="1333500"/>
            <a:ext cx="660400" cy="660400"/>
          </a:xfrm>
          <a:prstGeom prst="ellipse">
            <a:avLst/>
          </a:prstGeom>
          <a:solidFill>
            <a:srgbClr val="FF7A1A"/>
          </a:solidFill>
          <a:ln w="38100">
            <a:solidFill>
              <a:srgbClr val="FBF8F1"/>
            </a:solidFill>
            <a:round/>
          </a:ln>
          <a:effectLst>
            <a:outerShdw blurRad="0" dist="54624" dir="3267739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38100" rIns="0" bIns="0">
            <a:noAutofit/>
          </a:bodyPr>
          <a:lstStyle/>
          <a:p>
            <a:pPr algn="ctr">
              <a:lnSpc>
                <a:spcPts val="1978"/>
              </a:lnSpc>
            </a:pPr>
            <a:r>
              <a:rPr sz="2300" b="0">
                <a:solidFill>
                  <a:srgbClr val="0B0610"/>
                </a:solidFill>
                <a:latin typeface="Archivo Display"/>
                <a:ea typeface="Archivo Display"/>
                <a:cs typeface="Archivo Display"/>
              </a:rPr>
              <a:t>3.40</a:t>
            </a:r>
          </a:p>
        </p:txBody>
      </p:sp>
      <p:sp>
        <p:nvSpPr>
          <p:cNvPr id="34" name="State: EXPERIENCED MEANINGFULNESS"/>
          <p:cNvSpPr/>
          <p:nvPr/>
        </p:nvSpPr>
        <p:spPr>
          <a:xfrm>
            <a:off x="698500" y="3810000"/>
            <a:ext cx="6223000" cy="698500"/>
          </a:xfrm>
          <a:prstGeom prst="rect">
            <a:avLst/>
          </a:prstGeom>
          <a:solidFill>
            <a:srgbClr val="160A20"/>
          </a:solidFill>
          <a:ln w="31750">
            <a:solidFill>
              <a:srgbClr val="FF6FA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650"/>
              </a:lnSpc>
            </a:pPr>
            <a:r>
              <a:rPr sz="15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EXPERIENCED MEANINGFULNESS</a:t>
            </a:r>
          </a:p>
        </p:txBody>
      </p:sp>
      <p:sp>
        <p:nvSpPr>
          <p:cNvPr id="35" name="State: EXPERIENCED RESPONSIBILITY"/>
          <p:cNvSpPr/>
          <p:nvPr/>
        </p:nvSpPr>
        <p:spPr>
          <a:xfrm>
            <a:off x="7175500" y="3810000"/>
            <a:ext cx="2413000" cy="698500"/>
          </a:xfrm>
          <a:prstGeom prst="rect">
            <a:avLst/>
          </a:prstGeom>
          <a:solidFill>
            <a:srgbClr val="160A20"/>
          </a:solidFill>
          <a:ln w="31750">
            <a:solidFill>
              <a:srgbClr val="FF6FA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650"/>
              </a:lnSpc>
            </a:pPr>
            <a:r>
              <a:rPr sz="15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EXPERIENCED</a:t>
            </a:r>
            <a:br/>
            <a:r>
              <a:rPr sz="15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RESPONSIBILITY</a:t>
            </a:r>
          </a:p>
        </p:txBody>
      </p:sp>
      <p:sp>
        <p:nvSpPr>
          <p:cNvPr id="36" name="State: KNOWLEDGE OF RESULTS"/>
          <p:cNvSpPr/>
          <p:nvPr/>
        </p:nvSpPr>
        <p:spPr>
          <a:xfrm>
            <a:off x="9715500" y="3810000"/>
            <a:ext cx="1905000" cy="698500"/>
          </a:xfrm>
          <a:prstGeom prst="rect">
            <a:avLst/>
          </a:prstGeom>
          <a:solidFill>
            <a:srgbClr val="160A20"/>
          </a:solidFill>
          <a:ln w="31750">
            <a:solidFill>
              <a:srgbClr val="FF6FAE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650"/>
              </a:lnSpc>
            </a:pPr>
            <a:r>
              <a:rPr sz="15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KNOWLEDGE</a:t>
            </a:r>
            <a:br/>
            <a:r>
              <a:rPr sz="15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OF RESULTS</a:t>
            </a:r>
          </a:p>
        </p:txBody>
      </p:sp>
      <p:sp>
        <p:nvSpPr>
          <p:cNvPr id="37" name="Outcomes"/>
          <p:cNvSpPr/>
          <p:nvPr/>
        </p:nvSpPr>
        <p:spPr>
          <a:xfrm rot="21564000">
            <a:off x="698500" y="4984750"/>
            <a:ext cx="10922000" cy="698500"/>
          </a:xfrm>
          <a:prstGeom prst="rect">
            <a:avLst/>
          </a:prstGeom>
          <a:solidFill>
            <a:srgbClr val="FFD23F"/>
          </a:solidFill>
          <a:ln>
            <a:noFill/>
          </a:ln>
          <a:effectLst>
            <a:outerShdw blurRad="0" dist="99190" dir="3011665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2529"/>
              </a:lnSpc>
            </a:pPr>
            <a:r>
              <a:rPr sz="1300" b="0" spc="182">
                <a:solidFill>
                  <a:srgbClr val="0B0610"/>
                </a:solidFill>
                <a:latin typeface="Archivo Label"/>
                <a:ea typeface="Archivo Label"/>
                <a:cs typeface="Archivo Label"/>
              </a:rPr>
              <a:t>OUTCOMES   </a:t>
            </a:r>
            <a:r>
              <a:rPr sz="220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INTERNAL WORK MOTIVATION · JOB SATISFACTION</a:t>
            </a:r>
          </a:p>
        </p:txBody>
      </p:sp>
      <p:sp>
        <p:nvSpPr>
          <p:cNvPr id="38" name="Gaps caption"/>
          <p:cNvSpPr txBox="1"/>
          <p:nvPr/>
        </p:nvSpPr>
        <p:spPr>
          <a:xfrm>
            <a:off x="698500" y="5905500"/>
            <a:ext cx="109220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0">
                <a:solidFill>
                  <a:srgbClr val="FF7A1A"/>
                </a:solidFill>
                <a:latin typeface="JetBrains Mono"/>
                <a:ea typeface="JetBrains Mono"/>
                <a:cs typeface="JetBrains Mono"/>
              </a:rPr>
              <a:t>■ </a:t>
            </a:r>
            <a:r>
              <a:rPr sz="135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Where our data shows the gaps: </a:t>
            </a:r>
            <a:r>
              <a:rPr sz="1350" b="1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variety · autonomy · feedback</a:t>
            </a:r>
            <a:r>
              <a:rPr sz="1350" b="0">
                <a:solidFill>
                  <a:srgbClr val="3D6BFF"/>
                </a:solidFill>
                <a:latin typeface="JetBrains Mono"/>
                <a:ea typeface="JetBrains Mono"/>
                <a:cs typeface="JetBrains Mono"/>
              </a:rPr>
              <a:t>    ■ </a:t>
            </a:r>
            <a:r>
              <a:rPr sz="135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strengths: significance · identity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6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 A01 (blurred duotone)" descr="a01_plum_bl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tement"/>
          <p:cNvSpPr txBox="1"/>
          <p:nvPr/>
        </p:nvSpPr>
        <p:spPr>
          <a:xfrm>
            <a:off x="952500" y="1841500"/>
            <a:ext cx="10795000" cy="33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7095"/>
              </a:lnSpc>
            </a:pPr>
            <a:r>
              <a:rPr sz="8250" b="0">
                <a:solidFill>
                  <a:srgbClr val="F4ECDD"/>
                </a:solidFill>
                <a:latin typeface="Archivo Display"/>
                <a:ea typeface="Archivo Display"/>
                <a:cs typeface="Archivo Display"/>
              </a:rPr>
              <a:t>CHANGE THE JOB</a:t>
            </a:r>
            <a:r>
              <a:rPr sz="8250" b="0">
                <a:solidFill>
                  <a:srgbClr val="FF2E88"/>
                </a:solidFill>
                <a:latin typeface="Archivo Display"/>
                <a:ea typeface="Archivo Display"/>
                <a:cs typeface="Archivo Display"/>
              </a:rPr>
              <a:t>,</a:t>
            </a:r>
          </a:p>
          <a:p>
            <a:pPr algn="l">
              <a:lnSpc>
                <a:spcPts val="7095"/>
              </a:lnSpc>
              <a:spcBef>
                <a:spcPts val="1000"/>
              </a:spcBef>
            </a:pPr>
            <a:r>
              <a:rPr sz="8250" b="0">
                <a:solidFill>
                  <a:srgbClr val="FFD23F"/>
                </a:solidFill>
                <a:latin typeface="Archivo Display"/>
                <a:ea typeface="Archivo Display"/>
                <a:cs typeface="Archivo Display"/>
              </a:rPr>
              <a:t>CHANGE THE EXPERIENCE</a:t>
            </a:r>
          </a:p>
          <a:p>
            <a:pPr algn="l">
              <a:lnSpc>
                <a:spcPts val="7095"/>
              </a:lnSpc>
              <a:spcBef>
                <a:spcPts val="1000"/>
              </a:spcBef>
            </a:pPr>
            <a:r>
              <a:rPr sz="8250" b="0">
                <a:solidFill>
                  <a:srgbClr val="F4ECDD"/>
                </a:solidFill>
                <a:latin typeface="Archivo Display"/>
                <a:ea typeface="Archivo Display"/>
                <a:cs typeface="Archivo Display"/>
              </a:rPr>
              <a:t>OF DOING IT.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6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store A03" descr="a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0250" y="-412750"/>
            <a:ext cx="13652500" cy="7683500"/>
          </a:xfrm>
          <a:prstGeom prst="rect">
            <a:avLst/>
          </a:prstGeom>
        </p:spPr>
      </p:pic>
      <p:sp>
        <p:nvSpPr>
          <p:cNvPr id="3" name="Photo d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Texture: film grain" descr="grain.png"/>
          <p:cNvPicPr>
            <a:picLocks noChangeAspect="1" noSel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!!cashier A04" descr="a04_stic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3500" y="2794000"/>
            <a:ext cx="4445000" cy="3158183"/>
          </a:xfrm>
          <a:prstGeom prst="rect">
            <a:avLst/>
          </a:prstGeom>
        </p:spPr>
      </p:pic>
      <p:sp>
        <p:nvSpPr>
          <p:cNvPr id="6" name="!!barL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1E0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!!hazL" descr="hazar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0"/>
            <a:ext cx="228600" cy="6858000"/>
          </a:xfrm>
          <a:prstGeom prst="rect">
            <a:avLst/>
          </a:prstGeom>
        </p:spPr>
      </p:pic>
      <p:sp>
        <p:nvSpPr>
          <p:cNvPr id="8" name="!!barR"/>
          <p:cNvSpPr/>
          <p:nvPr/>
        </p:nvSpPr>
        <p:spPr>
          <a:xfrm>
            <a:off x="8382000" y="0"/>
            <a:ext cx="3810000" cy="6858000"/>
          </a:xfrm>
          <a:prstGeom prst="rect">
            <a:avLst/>
          </a:prstGeom>
          <a:solidFill>
            <a:srgbClr val="1E0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!!hazR" descr="hazar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0"/>
            <a:ext cx="228600" cy="6858000"/>
          </a:xfrm>
          <a:prstGeom prst="rect">
            <a:avLst/>
          </a:prstGeom>
        </p:spPr>
      </p:pic>
      <p:sp>
        <p:nvSpPr>
          <p:cNvPr id="10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VI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REDESIGN</a:t>
            </a:r>
          </a:p>
        </p:txBody>
      </p:sp>
      <p:sp>
        <p:nvSpPr>
          <p:cNvPr id="11" name="Tape: proposed redesign"/>
          <p:cNvSpPr/>
          <p:nvPr/>
        </p:nvSpPr>
        <p:spPr>
          <a:xfrm rot="120000">
            <a:off x="9402231" y="254000"/>
            <a:ext cx="2383369" cy="317500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625"/>
              </a:lnSpc>
            </a:pPr>
            <a:r>
              <a:rPr sz="1300" b="1" spc="182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PROPOSED REDESIGN</a:t>
            </a:r>
          </a:p>
        </p:txBody>
      </p:sp>
      <p:sp>
        <p:nvSpPr>
          <p:cNvPr id="12" name="!!title"/>
          <p:cNvSpPr txBox="1"/>
          <p:nvPr/>
        </p:nvSpPr>
        <p:spPr>
          <a:xfrm>
            <a:off x="1182382" y="698500"/>
            <a:ext cx="9827236" cy="7124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5060"/>
              </a:lnSpc>
            </a:pPr>
            <a:r>
              <a:rPr sz="5500" b="0">
                <a:solidFill>
                  <a:srgbClr val="F4ECDD"/>
                </a:solidFill>
                <a:effectLst>
                  <a:outerShdw blurRad="0" dist="50800" dir="5400000" algn="tl" rotWithShape="0">
                    <a:srgbClr val="000000">
                      <a:alpha val="45000"/>
                    </a:srgbClr>
                  </a:outerShdw>
                </a:effectLst>
                <a:latin typeface="Archivo Condensed"/>
                <a:ea typeface="Archivo Condensed"/>
                <a:cs typeface="Archivo Condensed"/>
              </a:rPr>
              <a:t>ENRICHED CHECKOUT CASHIER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6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store A03" descr="a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hoto d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Texture: film grain" descr="grain.png"/>
          <p:cNvPicPr>
            <a:picLocks noChangeAspect="1" noSel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!!cashier A04" descr="a04_stic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3500" y="2794000"/>
            <a:ext cx="4445000" cy="3158183"/>
          </a:xfrm>
          <a:prstGeom prst="rect">
            <a:avLst/>
          </a:prstGeom>
        </p:spPr>
      </p:pic>
      <p:sp>
        <p:nvSpPr>
          <p:cNvPr id="6" name="!!barL"/>
          <p:cNvSpPr/>
          <p:nvPr/>
        </p:nvSpPr>
        <p:spPr>
          <a:xfrm>
            <a:off x="-4445000" y="0"/>
            <a:ext cx="3810000" cy="6858000"/>
          </a:xfrm>
          <a:prstGeom prst="rect">
            <a:avLst/>
          </a:prstGeom>
          <a:solidFill>
            <a:srgbClr val="1E0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!!hazL" descr="hazar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63600" y="0"/>
            <a:ext cx="228600" cy="6858000"/>
          </a:xfrm>
          <a:prstGeom prst="rect">
            <a:avLst/>
          </a:prstGeom>
        </p:spPr>
      </p:pic>
      <p:sp>
        <p:nvSpPr>
          <p:cNvPr id="8" name="!!barR"/>
          <p:cNvSpPr/>
          <p:nvPr/>
        </p:nvSpPr>
        <p:spPr>
          <a:xfrm>
            <a:off x="12827000" y="0"/>
            <a:ext cx="3810000" cy="6858000"/>
          </a:xfrm>
          <a:prstGeom prst="rect">
            <a:avLst/>
          </a:prstGeom>
          <a:solidFill>
            <a:srgbClr val="1E0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!!hazR" descr="hazar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7000" y="0"/>
            <a:ext cx="228600" cy="6858000"/>
          </a:xfrm>
          <a:prstGeom prst="rect">
            <a:avLst/>
          </a:prstGeom>
        </p:spPr>
      </p:pic>
      <p:sp>
        <p:nvSpPr>
          <p:cNvPr id="10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VI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REDESIGN</a:t>
            </a:r>
          </a:p>
        </p:txBody>
      </p:sp>
      <p:sp>
        <p:nvSpPr>
          <p:cNvPr id="11" name="Tape: proposed redesign"/>
          <p:cNvSpPr/>
          <p:nvPr/>
        </p:nvSpPr>
        <p:spPr>
          <a:xfrm rot="120000">
            <a:off x="9402231" y="254000"/>
            <a:ext cx="2383369" cy="317500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625"/>
              </a:lnSpc>
            </a:pPr>
            <a:r>
              <a:rPr sz="1300" b="1" spc="182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PROPOSED REDESIGN</a:t>
            </a:r>
          </a:p>
        </p:txBody>
      </p:sp>
      <p:sp>
        <p:nvSpPr>
          <p:cNvPr id="12" name="!!title"/>
          <p:cNvSpPr txBox="1"/>
          <p:nvPr/>
        </p:nvSpPr>
        <p:spPr>
          <a:xfrm>
            <a:off x="1182382" y="698500"/>
            <a:ext cx="9827236" cy="7124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5060"/>
              </a:lnSpc>
            </a:pPr>
            <a:r>
              <a:rPr sz="5500" b="0">
                <a:solidFill>
                  <a:srgbClr val="F4ECDD"/>
                </a:solidFill>
                <a:effectLst>
                  <a:outerShdw blurRad="0" dist="50800" dir="5400000" algn="tl" rotWithShape="0">
                    <a:srgbClr val="000000">
                      <a:alpha val="45000"/>
                    </a:srgbClr>
                  </a:outerShdw>
                </a:effectLst>
                <a:latin typeface="Archivo Condensed"/>
                <a:ea typeface="Archivo Condensed"/>
                <a:cs typeface="Archivo Condensed"/>
              </a:rPr>
              <a:t>ENRICHED CHECKOUT CASHIER</a:t>
            </a:r>
          </a:p>
        </p:txBody>
      </p:sp>
      <p:sp>
        <p:nvSpPr>
          <p:cNvPr id="13" name="Marker arrow"/>
          <p:cNvSpPr/>
          <p:nvPr/>
        </p:nvSpPr>
        <p:spPr>
          <a:xfrm>
            <a:off x="3429000" y="2413000"/>
            <a:ext cx="381000" cy="889000"/>
          </a:xfrm>
          <a:custGeom>
            <a:avLst/>
            <a:gdLst/>
            <a:ahLst/>
            <a:cxnLst/>
            <a:rect l="l" t="t" r="r" b="b"/>
            <a:pathLst>
              <a:path w="381000" h="889000">
                <a:moveTo>
                  <a:pt x="0" y="0"/>
                </a:moveTo>
                <a:lnTo>
                  <a:pt x="62962" y="104552"/>
                </a:lnTo>
                <a:lnTo>
                  <a:pt x="92292" y="223518"/>
                </a:lnTo>
                <a:lnTo>
                  <a:pt x="121066" y="342722"/>
                </a:lnTo>
                <a:lnTo>
                  <a:pt x="174221" y="451477"/>
                </a:lnTo>
                <a:lnTo>
                  <a:pt x="244926" y="552710"/>
                </a:lnTo>
                <a:lnTo>
                  <a:pt x="264450" y="675879"/>
                </a:lnTo>
                <a:lnTo>
                  <a:pt x="325388" y="781298"/>
                </a:lnTo>
                <a:lnTo>
                  <a:pt x="381000" y="889000"/>
                </a:lnTo>
              </a:path>
            </a:pathLst>
          </a:custGeom>
          <a:noFill/>
          <a:ln w="571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arker arrow"/>
          <p:cNvSpPr/>
          <p:nvPr/>
        </p:nvSpPr>
        <p:spPr>
          <a:xfrm>
            <a:off x="8382000" y="2413000"/>
            <a:ext cx="381000" cy="889000"/>
          </a:xfrm>
          <a:custGeom>
            <a:avLst/>
            <a:gdLst/>
            <a:ahLst/>
            <a:cxnLst/>
            <a:rect l="l" t="t" r="r" b="b"/>
            <a:pathLst>
              <a:path w="381000" h="889000">
                <a:moveTo>
                  <a:pt x="381000" y="0"/>
                </a:moveTo>
                <a:lnTo>
                  <a:pt x="348689" y="117688"/>
                </a:lnTo>
                <a:lnTo>
                  <a:pt x="277498" y="218713"/>
                </a:lnTo>
                <a:lnTo>
                  <a:pt x="234718" y="331915"/>
                </a:lnTo>
                <a:lnTo>
                  <a:pt x="172060" y="436597"/>
                </a:lnTo>
                <a:lnTo>
                  <a:pt x="169143" y="566883"/>
                </a:lnTo>
                <a:lnTo>
                  <a:pt x="88675" y="663932"/>
                </a:lnTo>
                <a:lnTo>
                  <a:pt x="72846" y="788684"/>
                </a:lnTo>
                <a:lnTo>
                  <a:pt x="0" y="889000"/>
                </a:lnTo>
              </a:path>
            </a:pathLst>
          </a:custGeom>
          <a:noFill/>
          <a:ln w="57150" cap="rnd">
            <a:solidFill>
              <a:srgbClr val="FF7A1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arker arrow"/>
          <p:cNvSpPr/>
          <p:nvPr/>
        </p:nvSpPr>
        <p:spPr>
          <a:xfrm>
            <a:off x="3429000" y="4826000"/>
            <a:ext cx="444500" cy="635000"/>
          </a:xfrm>
          <a:custGeom>
            <a:avLst/>
            <a:gdLst/>
            <a:ahLst/>
            <a:cxnLst/>
            <a:rect l="l" t="t" r="r" b="b"/>
            <a:pathLst>
              <a:path w="444500" h="635000">
                <a:moveTo>
                  <a:pt x="0" y="0"/>
                </a:moveTo>
                <a:lnTo>
                  <a:pt x="69192" y="69835"/>
                </a:lnTo>
                <a:lnTo>
                  <a:pt x="99052" y="167201"/>
                </a:lnTo>
                <a:lnTo>
                  <a:pt x="180053" y="228769"/>
                </a:lnTo>
                <a:lnTo>
                  <a:pt x="203889" y="330353"/>
                </a:lnTo>
                <a:lnTo>
                  <a:pt x="266555" y="404755"/>
                </a:lnTo>
                <a:lnTo>
                  <a:pt x="340639" y="471165"/>
                </a:lnTo>
                <a:lnTo>
                  <a:pt x="388994" y="555585"/>
                </a:lnTo>
                <a:lnTo>
                  <a:pt x="444500" y="635000"/>
                </a:lnTo>
              </a:path>
            </a:pathLst>
          </a:custGeom>
          <a:noFill/>
          <a:ln w="57150" cap="rnd">
            <a:solidFill>
              <a:srgbClr val="8A4D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arker arrow"/>
          <p:cNvSpPr/>
          <p:nvPr/>
        </p:nvSpPr>
        <p:spPr>
          <a:xfrm>
            <a:off x="8255000" y="4826000"/>
            <a:ext cx="508000" cy="635000"/>
          </a:xfrm>
          <a:custGeom>
            <a:avLst/>
            <a:gdLst/>
            <a:ahLst/>
            <a:cxnLst/>
            <a:rect l="l" t="t" r="r" b="b"/>
            <a:pathLst>
              <a:path w="508000" h="635000">
                <a:moveTo>
                  <a:pt x="508000" y="0"/>
                </a:moveTo>
                <a:lnTo>
                  <a:pt x="457472" y="89752"/>
                </a:lnTo>
                <a:lnTo>
                  <a:pt x="364994" y="145946"/>
                </a:lnTo>
                <a:lnTo>
                  <a:pt x="296288" y="221156"/>
                </a:lnTo>
                <a:lnTo>
                  <a:pt x="234664" y="302031"/>
                </a:lnTo>
                <a:lnTo>
                  <a:pt x="196308" y="401521"/>
                </a:lnTo>
                <a:lnTo>
                  <a:pt x="146434" y="491797"/>
                </a:lnTo>
                <a:lnTo>
                  <a:pt x="42181" y="538570"/>
                </a:lnTo>
                <a:lnTo>
                  <a:pt x="0" y="635000"/>
                </a:lnTo>
              </a:path>
            </a:pathLst>
          </a:custGeom>
          <a:noFill/>
          <a:ln w="57150" cap="rnd">
            <a:solidFill>
              <a:srgbClr val="3D6B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7" name="Component 01"/>
          <p:cNvGrpSpPr/>
          <p:nvPr/>
        </p:nvGrpSpPr>
        <p:grpSpPr>
          <a:xfrm rot="21420000">
            <a:off x="635000" y="1498600"/>
            <a:ext cx="2794000" cy="1676400"/>
            <a:chOff x="635000" y="1498600"/>
            <a:chExt cx="2794000" cy="1676400"/>
          </a:xfrm>
        </p:grpSpPr>
        <p:sp>
          <p:nvSpPr>
            <p:cNvPr id="18" name="Note paper"/>
            <p:cNvSpPr/>
            <p:nvPr/>
          </p:nvSpPr>
          <p:spPr>
            <a:xfrm>
              <a:off x="635000" y="1651000"/>
              <a:ext cx="2794000" cy="1524000"/>
            </a:xfrm>
            <a:prstGeom prst="rect">
              <a:avLst/>
            </a:prstGeom>
            <a:solidFill>
              <a:srgbClr val="F7F1E3"/>
            </a:solidFill>
            <a:ln>
              <a:noFill/>
            </a:ln>
            <a:effectLst>
              <a:outerShdw blurRad="0" dist="109249" dir="3267739" algn="tl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9" name="Colour tab"/>
            <p:cNvSpPr/>
            <p:nvPr/>
          </p:nvSpPr>
          <p:spPr>
            <a:xfrm>
              <a:off x="635000" y="1651000"/>
              <a:ext cx="114300" cy="1524000"/>
            </a:xfrm>
            <a:prstGeom prst="rect">
              <a:avLst/>
            </a:prstGeom>
            <a:solidFill>
              <a:srgbClr val="FF2E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0" name="01 Structured Micro-Rotation"/>
            <p:cNvSpPr txBox="1"/>
            <p:nvPr/>
          </p:nvSpPr>
          <p:spPr>
            <a:xfrm>
              <a:off x="889000" y="1778000"/>
              <a:ext cx="2476500" cy="1333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4128"/>
                </a:lnSpc>
              </a:pPr>
              <a:r>
                <a:rPr sz="4800" b="0">
                  <a:ln w="19050">
                    <a:solidFill>
                      <a:srgbClr val="0B0610"/>
                    </a:solidFill>
                  </a:ln>
                  <a:solidFill>
                    <a:srgbClr val="FF2E88"/>
                  </a:solidFill>
                  <a:latin typeface="Archivo Display"/>
                  <a:ea typeface="Archivo Display"/>
                  <a:cs typeface="Archivo Display"/>
                </a:rPr>
                <a:t>01</a:t>
              </a:r>
            </a:p>
            <a:p>
              <a:pPr algn="l">
                <a:lnSpc>
                  <a:spcPts val="1650"/>
                </a:lnSpc>
                <a:spcBef>
                  <a:spcPts val="300"/>
                </a:spcBef>
              </a:pPr>
              <a:r>
                <a:rPr sz="1500" b="0">
                  <a:solidFill>
                    <a:srgbClr val="0B0610"/>
                  </a:solidFill>
                  <a:latin typeface="Archivo Expanded"/>
                  <a:ea typeface="Archivo Expanded"/>
                  <a:cs typeface="Archivo Expanded"/>
                </a:rPr>
                <a:t>STRUCTURED MICRO-ROTATION</a:t>
              </a:r>
            </a:p>
            <a:p>
              <a:pPr algn="l">
                <a:lnSpc>
                  <a:spcPts val="1320"/>
                </a:lnSpc>
                <a:spcBef>
                  <a:spcPts val="400"/>
                </a:spcBef>
              </a:pPr>
              <a:r>
                <a:rPr sz="1200" b="0">
                  <a:solidFill>
                    <a:srgbClr val="0B0610"/>
                  </a:solidFill>
                  <a:latin typeface="Arial"/>
                  <a:ea typeface="Arial"/>
                  <a:cs typeface="Arial"/>
                </a:rPr>
                <a:t>→ </a:t>
              </a:r>
              <a:r>
                <a:rPr sz="1200" b="0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Skill Variety</a:t>
              </a:r>
            </a:p>
          </p:txBody>
        </p:sp>
        <p:sp>
          <p:nvSpPr>
            <p:cNvPr id="21" name="Tape"/>
            <p:cNvSpPr/>
            <p:nvPr/>
          </p:nvSpPr>
          <p:spPr>
            <a:xfrm rot="21360000">
              <a:off x="1587500" y="1498600"/>
              <a:ext cx="889000" cy="292100"/>
            </a:xfrm>
            <a:prstGeom prst="rect">
              <a:avLst/>
            </a:prstGeom>
            <a:solidFill>
              <a:srgbClr val="F0E4C8">
                <a:alpha val="85000"/>
              </a:srgbClr>
            </a:solidFill>
            <a:ln>
              <a:noFill/>
            </a:ln>
            <a:effectLst>
              <a:outerShdw blurRad="0" dist="12700" dir="5400000" algn="tl" rotWithShape="0">
                <a:srgbClr val="000000">
                  <a:alpha val="1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22" name="Component 02"/>
          <p:cNvGrpSpPr/>
          <p:nvPr/>
        </p:nvGrpSpPr>
        <p:grpSpPr>
          <a:xfrm rot="150000">
            <a:off x="8763000" y="1498600"/>
            <a:ext cx="2794000" cy="1676400"/>
            <a:chOff x="8763000" y="1498600"/>
            <a:chExt cx="2794000" cy="1676400"/>
          </a:xfrm>
        </p:grpSpPr>
        <p:sp>
          <p:nvSpPr>
            <p:cNvPr id="23" name="Note paper"/>
            <p:cNvSpPr/>
            <p:nvPr/>
          </p:nvSpPr>
          <p:spPr>
            <a:xfrm>
              <a:off x="8763000" y="1651000"/>
              <a:ext cx="2794000" cy="1524000"/>
            </a:xfrm>
            <a:prstGeom prst="rect">
              <a:avLst/>
            </a:prstGeom>
            <a:solidFill>
              <a:srgbClr val="F7F1E3"/>
            </a:solidFill>
            <a:ln>
              <a:noFill/>
            </a:ln>
            <a:effectLst>
              <a:outerShdw blurRad="0" dist="109249" dir="3267739" algn="tl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4" name="Colour tab"/>
            <p:cNvSpPr/>
            <p:nvPr/>
          </p:nvSpPr>
          <p:spPr>
            <a:xfrm>
              <a:off x="8763000" y="1651000"/>
              <a:ext cx="114300" cy="1524000"/>
            </a:xfrm>
            <a:prstGeom prst="rect">
              <a:avLst/>
            </a:prstGeom>
            <a:solidFill>
              <a:srgbClr val="FF7A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5" name="02 Controlled Decision Authority"/>
            <p:cNvSpPr txBox="1"/>
            <p:nvPr/>
          </p:nvSpPr>
          <p:spPr>
            <a:xfrm>
              <a:off x="9017000" y="1778000"/>
              <a:ext cx="2476500" cy="1333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4128"/>
                </a:lnSpc>
              </a:pPr>
              <a:r>
                <a:rPr sz="4800" b="0">
                  <a:ln w="19050">
                    <a:solidFill>
                      <a:srgbClr val="0B0610"/>
                    </a:solidFill>
                  </a:ln>
                  <a:solidFill>
                    <a:srgbClr val="FF7A1A"/>
                  </a:solidFill>
                  <a:latin typeface="Archivo Display"/>
                  <a:ea typeface="Archivo Display"/>
                  <a:cs typeface="Archivo Display"/>
                </a:rPr>
                <a:t>02</a:t>
              </a:r>
            </a:p>
            <a:p>
              <a:pPr algn="l">
                <a:lnSpc>
                  <a:spcPts val="1650"/>
                </a:lnSpc>
                <a:spcBef>
                  <a:spcPts val="300"/>
                </a:spcBef>
              </a:pPr>
              <a:r>
                <a:rPr sz="1500" b="0">
                  <a:solidFill>
                    <a:srgbClr val="0B0610"/>
                  </a:solidFill>
                  <a:latin typeface="Archivo Expanded"/>
                  <a:ea typeface="Archivo Expanded"/>
                  <a:cs typeface="Archivo Expanded"/>
                </a:rPr>
                <a:t>CONTROLLED DECISION AUTHORITY</a:t>
              </a:r>
            </a:p>
            <a:p>
              <a:pPr algn="l">
                <a:lnSpc>
                  <a:spcPts val="1320"/>
                </a:lnSpc>
                <a:spcBef>
                  <a:spcPts val="400"/>
                </a:spcBef>
              </a:pPr>
              <a:r>
                <a:rPr sz="1200" b="0">
                  <a:solidFill>
                    <a:srgbClr val="0B0610"/>
                  </a:solidFill>
                  <a:latin typeface="Arial"/>
                  <a:ea typeface="Arial"/>
                  <a:cs typeface="Arial"/>
                </a:rPr>
                <a:t>→ </a:t>
              </a:r>
              <a:r>
                <a:rPr sz="1200" b="0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Autonomy</a:t>
              </a:r>
            </a:p>
          </p:txBody>
        </p:sp>
        <p:sp>
          <p:nvSpPr>
            <p:cNvPr id="26" name="Tape"/>
            <p:cNvSpPr/>
            <p:nvPr/>
          </p:nvSpPr>
          <p:spPr>
            <a:xfrm rot="21360000">
              <a:off x="9715500" y="1498600"/>
              <a:ext cx="889000" cy="292100"/>
            </a:xfrm>
            <a:prstGeom prst="rect">
              <a:avLst/>
            </a:prstGeom>
            <a:solidFill>
              <a:srgbClr val="F0E4C8">
                <a:alpha val="85000"/>
              </a:srgbClr>
            </a:solidFill>
            <a:ln>
              <a:noFill/>
            </a:ln>
            <a:effectLst>
              <a:outerShdw blurRad="0" dist="12700" dir="5400000" algn="tl" rotWithShape="0">
                <a:srgbClr val="000000">
                  <a:alpha val="1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27" name="Component 03"/>
          <p:cNvGrpSpPr/>
          <p:nvPr/>
        </p:nvGrpSpPr>
        <p:grpSpPr>
          <a:xfrm rot="120000">
            <a:off x="635000" y="3911600"/>
            <a:ext cx="2794000" cy="1676400"/>
            <a:chOff x="635000" y="3911600"/>
            <a:chExt cx="2794000" cy="1676400"/>
          </a:xfrm>
        </p:grpSpPr>
        <p:sp>
          <p:nvSpPr>
            <p:cNvPr id="28" name="Note paper"/>
            <p:cNvSpPr/>
            <p:nvPr/>
          </p:nvSpPr>
          <p:spPr>
            <a:xfrm>
              <a:off x="635000" y="4064000"/>
              <a:ext cx="2794000" cy="1524000"/>
            </a:xfrm>
            <a:prstGeom prst="rect">
              <a:avLst/>
            </a:prstGeom>
            <a:solidFill>
              <a:srgbClr val="F7F1E3"/>
            </a:solidFill>
            <a:ln>
              <a:noFill/>
            </a:ln>
            <a:effectLst>
              <a:outerShdw blurRad="0" dist="109249" dir="3267739" algn="tl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9" name="Colour tab"/>
            <p:cNvSpPr/>
            <p:nvPr/>
          </p:nvSpPr>
          <p:spPr>
            <a:xfrm>
              <a:off x="635000" y="4064000"/>
              <a:ext cx="114300" cy="1524000"/>
            </a:xfrm>
            <a:prstGeom prst="rect">
              <a:avLst/>
            </a:prstGeom>
            <a:solidFill>
              <a:srgbClr val="8A4D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0" name="03 Checkout-Zone Ownership"/>
            <p:cNvSpPr txBox="1"/>
            <p:nvPr/>
          </p:nvSpPr>
          <p:spPr>
            <a:xfrm>
              <a:off x="889000" y="4191000"/>
              <a:ext cx="2476500" cy="1333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4128"/>
                </a:lnSpc>
              </a:pPr>
              <a:r>
                <a:rPr sz="4800" b="0">
                  <a:ln w="19050">
                    <a:solidFill>
                      <a:srgbClr val="0B0610"/>
                    </a:solidFill>
                  </a:ln>
                  <a:solidFill>
                    <a:srgbClr val="8A4DFF"/>
                  </a:solidFill>
                  <a:latin typeface="Archivo Display"/>
                  <a:ea typeface="Archivo Display"/>
                  <a:cs typeface="Archivo Display"/>
                </a:rPr>
                <a:t>03</a:t>
              </a:r>
            </a:p>
            <a:p>
              <a:pPr algn="l">
                <a:lnSpc>
                  <a:spcPts val="1650"/>
                </a:lnSpc>
                <a:spcBef>
                  <a:spcPts val="300"/>
                </a:spcBef>
              </a:pPr>
              <a:r>
                <a:rPr sz="1500" b="0">
                  <a:solidFill>
                    <a:srgbClr val="0B0610"/>
                  </a:solidFill>
                  <a:latin typeface="Archivo Expanded"/>
                  <a:ea typeface="Archivo Expanded"/>
                  <a:cs typeface="Archivo Expanded"/>
                </a:rPr>
                <a:t>CHECKOUT-ZONE OWNERSHIP</a:t>
              </a:r>
            </a:p>
            <a:p>
              <a:pPr algn="l">
                <a:lnSpc>
                  <a:spcPts val="1320"/>
                </a:lnSpc>
                <a:spcBef>
                  <a:spcPts val="400"/>
                </a:spcBef>
              </a:pPr>
              <a:r>
                <a:rPr sz="1200" b="0">
                  <a:solidFill>
                    <a:srgbClr val="0B0610"/>
                  </a:solidFill>
                  <a:latin typeface="Arial"/>
                  <a:ea typeface="Arial"/>
                  <a:cs typeface="Arial"/>
                </a:rPr>
                <a:t>→ </a:t>
              </a:r>
              <a:r>
                <a:rPr sz="1200" b="0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Responsibility</a:t>
              </a:r>
            </a:p>
          </p:txBody>
        </p:sp>
        <p:sp>
          <p:nvSpPr>
            <p:cNvPr id="31" name="Tape"/>
            <p:cNvSpPr/>
            <p:nvPr/>
          </p:nvSpPr>
          <p:spPr>
            <a:xfrm rot="21360000">
              <a:off x="1587500" y="3911600"/>
              <a:ext cx="889000" cy="292100"/>
            </a:xfrm>
            <a:prstGeom prst="rect">
              <a:avLst/>
            </a:prstGeom>
            <a:solidFill>
              <a:srgbClr val="F0E4C8">
                <a:alpha val="85000"/>
              </a:srgbClr>
            </a:solidFill>
            <a:ln>
              <a:noFill/>
            </a:ln>
            <a:effectLst>
              <a:outerShdw blurRad="0" dist="12700" dir="5400000" algn="tl" rotWithShape="0">
                <a:srgbClr val="000000">
                  <a:alpha val="1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32" name="Component 04"/>
          <p:cNvGrpSpPr/>
          <p:nvPr/>
        </p:nvGrpSpPr>
        <p:grpSpPr>
          <a:xfrm rot="21450000">
            <a:off x="8763000" y="3911600"/>
            <a:ext cx="2794000" cy="1676400"/>
            <a:chOff x="8763000" y="3911600"/>
            <a:chExt cx="2794000" cy="1676400"/>
          </a:xfrm>
        </p:grpSpPr>
        <p:sp>
          <p:nvSpPr>
            <p:cNvPr id="33" name="Note paper"/>
            <p:cNvSpPr/>
            <p:nvPr/>
          </p:nvSpPr>
          <p:spPr>
            <a:xfrm>
              <a:off x="8763000" y="4064000"/>
              <a:ext cx="2794000" cy="1524000"/>
            </a:xfrm>
            <a:prstGeom prst="rect">
              <a:avLst/>
            </a:prstGeom>
            <a:solidFill>
              <a:srgbClr val="F7F1E3"/>
            </a:solidFill>
            <a:ln>
              <a:noFill/>
            </a:ln>
            <a:effectLst>
              <a:outerShdw blurRad="0" dist="109249" dir="3267739" algn="tl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4" name="Colour tab"/>
            <p:cNvSpPr/>
            <p:nvPr/>
          </p:nvSpPr>
          <p:spPr>
            <a:xfrm>
              <a:off x="8763000" y="4064000"/>
              <a:ext cx="114300" cy="1524000"/>
            </a:xfrm>
            <a:prstGeom prst="rect">
              <a:avLst/>
            </a:prstGeom>
            <a:solidFill>
              <a:srgbClr val="3D6B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5" name="04 Structured Feedback"/>
            <p:cNvSpPr txBox="1"/>
            <p:nvPr/>
          </p:nvSpPr>
          <p:spPr>
            <a:xfrm>
              <a:off x="9017000" y="4191000"/>
              <a:ext cx="2476500" cy="1333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4128"/>
                </a:lnSpc>
              </a:pPr>
              <a:r>
                <a:rPr sz="4800" b="0">
                  <a:ln w="19050">
                    <a:solidFill>
                      <a:srgbClr val="0B0610"/>
                    </a:solidFill>
                  </a:ln>
                  <a:solidFill>
                    <a:srgbClr val="3D6BFF"/>
                  </a:solidFill>
                  <a:latin typeface="Archivo Display"/>
                  <a:ea typeface="Archivo Display"/>
                  <a:cs typeface="Archivo Display"/>
                </a:rPr>
                <a:t>04</a:t>
              </a:r>
            </a:p>
            <a:p>
              <a:pPr algn="l">
                <a:lnSpc>
                  <a:spcPts val="1650"/>
                </a:lnSpc>
                <a:spcBef>
                  <a:spcPts val="300"/>
                </a:spcBef>
              </a:pPr>
              <a:r>
                <a:rPr sz="1500" b="0">
                  <a:solidFill>
                    <a:srgbClr val="0B0610"/>
                  </a:solidFill>
                  <a:latin typeface="Archivo Expanded"/>
                  <a:ea typeface="Archivo Expanded"/>
                  <a:cs typeface="Archivo Expanded"/>
                </a:rPr>
                <a:t>STRUCTURED FEEDBACK</a:t>
              </a:r>
            </a:p>
            <a:p>
              <a:pPr algn="l">
                <a:lnSpc>
                  <a:spcPts val="1320"/>
                </a:lnSpc>
                <a:spcBef>
                  <a:spcPts val="400"/>
                </a:spcBef>
              </a:pPr>
              <a:r>
                <a:rPr sz="1200" b="0">
                  <a:solidFill>
                    <a:srgbClr val="0B0610"/>
                  </a:solidFill>
                  <a:latin typeface="Arial"/>
                  <a:ea typeface="Arial"/>
                  <a:cs typeface="Arial"/>
                </a:rPr>
                <a:t>→ </a:t>
              </a:r>
              <a:r>
                <a:rPr sz="1200" b="0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Feedback</a:t>
              </a:r>
            </a:p>
          </p:txBody>
        </p:sp>
        <p:sp>
          <p:nvSpPr>
            <p:cNvPr id="36" name="Tape"/>
            <p:cNvSpPr/>
            <p:nvPr/>
          </p:nvSpPr>
          <p:spPr>
            <a:xfrm rot="21360000">
              <a:off x="9715500" y="3911600"/>
              <a:ext cx="889000" cy="292100"/>
            </a:xfrm>
            <a:prstGeom prst="rect">
              <a:avLst/>
            </a:prstGeom>
            <a:solidFill>
              <a:srgbClr val="F0E4C8">
                <a:alpha val="85000"/>
              </a:srgbClr>
            </a:solidFill>
            <a:ln>
              <a:noFill/>
            </a:ln>
            <a:effectLst>
              <a:outerShdw blurRad="0" dist="12700" dir="5400000" algn="tl" rotWithShape="0">
                <a:srgbClr val="000000">
                  <a:alpha val="1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sp>
        <p:nvSpPr>
          <p:cNvPr id="37" name="Keeps what works"/>
          <p:cNvSpPr/>
          <p:nvPr/>
        </p:nvSpPr>
        <p:spPr>
          <a:xfrm>
            <a:off x="0" y="6350000"/>
            <a:ext cx="12192000" cy="355600"/>
          </a:xfrm>
          <a:prstGeom prst="rect">
            <a:avLst/>
          </a:prstGeom>
          <a:solidFill>
            <a:srgbClr val="0B0610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750"/>
              </a:lnSpc>
            </a:pPr>
            <a:r>
              <a:rPr sz="14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Keeps what works: </a:t>
            </a:r>
            <a:r>
              <a:rPr sz="1400" b="1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Task Identity </a:t>
            </a:r>
            <a:r>
              <a:rPr sz="1300" b="0">
                <a:solidFill>
                  <a:srgbClr val="7FA0FF"/>
                </a:solidFill>
                <a:latin typeface="Segoe UI Symbol"/>
                <a:ea typeface="Segoe UI Symbol"/>
                <a:cs typeface="Segoe UI Symbol"/>
              </a:rPr>
              <a:t>✓</a:t>
            </a:r>
            <a:r>
              <a:rPr sz="14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 · </a:t>
            </a:r>
            <a:r>
              <a:rPr sz="1400" b="1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Task Significance </a:t>
            </a:r>
            <a:r>
              <a:rPr sz="1300" b="0">
                <a:solidFill>
                  <a:srgbClr val="7FA0FF"/>
                </a:solidFill>
                <a:latin typeface="Segoe UI Symbol"/>
                <a:ea typeface="Segoe UI Symbol"/>
                <a:cs typeface="Segoe UI Symbol"/>
              </a:rPr>
              <a:t>✓</a:t>
            </a:r>
            <a:r>
              <a:rPr sz="14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 preserved — he still owns the whole transaction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xture: film grain" descr="grain.png"/>
          <p:cNvPicPr>
            <a:picLocks noChangeAspect="1" noSel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ct tag box"/>
          <p:cNvSpPr/>
          <p:nvPr/>
        </p:nvSpPr>
        <p:spPr>
          <a:xfrm>
            <a:off x="393700" y="304800"/>
            <a:ext cx="296751" cy="203200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VI</a:t>
            </a:r>
            <a:r>
              <a:rPr sz="1200" b="0" spc="96">
                <a:solidFill>
                  <a:srgbClr val="454043"/>
                </a:solidFill>
                <a:latin typeface="JetBrains Mono"/>
                <a:ea typeface="JetBrains Mono"/>
                <a:cs typeface="JetBrains Mono"/>
              </a:rPr>
              <a:t>  REDESIGN</a:t>
            </a:r>
          </a:p>
        </p:txBody>
      </p:sp>
      <p:sp>
        <p:nvSpPr>
          <p:cNvPr id="5" name="Tape: proposed redesign"/>
          <p:cNvSpPr/>
          <p:nvPr/>
        </p:nvSpPr>
        <p:spPr>
          <a:xfrm rot="120000">
            <a:off x="9402231" y="254000"/>
            <a:ext cx="2383369" cy="317500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625"/>
              </a:lnSpc>
            </a:pPr>
            <a:r>
              <a:rPr sz="1300" b="1" spc="182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PROPOSED REDESIGN</a:t>
            </a:r>
          </a:p>
        </p:txBody>
      </p:sp>
      <p:sp>
        <p:nvSpPr>
          <p:cNvPr id="6" name="Header"/>
          <p:cNvSpPr txBox="1"/>
          <p:nvPr/>
        </p:nvSpPr>
        <p:spPr>
          <a:xfrm>
            <a:off x="698500" y="603250"/>
            <a:ext cx="8851130" cy="5699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048"/>
              </a:lnSpc>
            </a:pPr>
            <a:r>
              <a:rPr sz="4400" b="0">
                <a:solidFill>
                  <a:srgbClr val="0B0610"/>
                </a:solidFill>
                <a:latin typeface="Archivo Condensed"/>
                <a:ea typeface="Archivo Condensed"/>
                <a:cs typeface="Archivo Condensed"/>
              </a:rPr>
              <a:t>01 · STRUCTURED MICRO-ROTATION</a:t>
            </a:r>
          </a:p>
        </p:txBody>
      </p:sp>
      <p:sp>
        <p:nvSpPr>
          <p:cNvPr id="7" name="Header target"/>
          <p:cNvSpPr txBox="1"/>
          <p:nvPr/>
        </p:nvSpPr>
        <p:spPr>
          <a:xfrm>
            <a:off x="698500" y="1206500"/>
            <a:ext cx="76200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400" b="0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TARGET </a:t>
            </a:r>
            <a:r>
              <a:rPr sz="1400" b="0">
                <a:solidFill>
                  <a:srgbClr val="0B0610"/>
                </a:solidFill>
                <a:latin typeface="Arial"/>
                <a:ea typeface="Arial"/>
                <a:cs typeface="Arial"/>
              </a:rPr>
              <a:t>→ </a:t>
            </a:r>
            <a:r>
              <a:rPr sz="14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Skill Variety</a:t>
            </a:r>
          </a:p>
        </p:txBody>
      </p:sp>
      <p:sp>
        <p:nvSpPr>
          <p:cNvPr id="8" name="Loop"/>
          <p:cNvSpPr/>
          <p:nvPr/>
        </p:nvSpPr>
        <p:spPr>
          <a:xfrm>
            <a:off x="2552700" y="1968500"/>
            <a:ext cx="3352800" cy="1905000"/>
          </a:xfrm>
          <a:custGeom>
            <a:avLst/>
            <a:gdLst/>
            <a:ahLst/>
            <a:cxnLst/>
            <a:rect l="l" t="t" r="r" b="b"/>
            <a:pathLst>
              <a:path w="3352800" h="1905000">
                <a:moveTo>
                  <a:pt x="177800" y="1841500"/>
                </a:moveTo>
                <a:lnTo>
                  <a:pt x="368040" y="1803717"/>
                </a:lnTo>
                <a:lnTo>
                  <a:pt x="554965" y="1760220"/>
                </a:lnTo>
                <a:lnTo>
                  <a:pt x="738575" y="1711007"/>
                </a:lnTo>
                <a:lnTo>
                  <a:pt x="918870" y="1656080"/>
                </a:lnTo>
                <a:lnTo>
                  <a:pt x="1095851" y="1595438"/>
                </a:lnTo>
                <a:lnTo>
                  <a:pt x="1269517" y="1529080"/>
                </a:lnTo>
                <a:lnTo>
                  <a:pt x="1439869" y="1457008"/>
                </a:lnTo>
                <a:lnTo>
                  <a:pt x="1606906" y="1379220"/>
                </a:lnTo>
                <a:lnTo>
                  <a:pt x="1770628" y="1295718"/>
                </a:lnTo>
                <a:lnTo>
                  <a:pt x="1931035" y="1206500"/>
                </a:lnTo>
                <a:lnTo>
                  <a:pt x="2088128" y="1111568"/>
                </a:lnTo>
                <a:lnTo>
                  <a:pt x="2241906" y="1010920"/>
                </a:lnTo>
                <a:lnTo>
                  <a:pt x="2392369" y="904558"/>
                </a:lnTo>
                <a:lnTo>
                  <a:pt x="2539517" y="792480"/>
                </a:lnTo>
                <a:lnTo>
                  <a:pt x="2683351" y="674688"/>
                </a:lnTo>
                <a:lnTo>
                  <a:pt x="2823870" y="551180"/>
                </a:lnTo>
                <a:lnTo>
                  <a:pt x="2961075" y="421957"/>
                </a:lnTo>
                <a:lnTo>
                  <a:pt x="3094965" y="287020"/>
                </a:lnTo>
                <a:lnTo>
                  <a:pt x="3225540" y="146368"/>
                </a:lnTo>
                <a:lnTo>
                  <a:pt x="3352800" y="0"/>
                </a:lnTo>
                <a:lnTo>
                  <a:pt x="3162116" y="37941"/>
                </a:lnTo>
                <a:lnTo>
                  <a:pt x="2973857" y="81915"/>
                </a:lnTo>
                <a:lnTo>
                  <a:pt x="2788025" y="131921"/>
                </a:lnTo>
                <a:lnTo>
                  <a:pt x="2604618" y="187960"/>
                </a:lnTo>
                <a:lnTo>
                  <a:pt x="2423636" y="250031"/>
                </a:lnTo>
                <a:lnTo>
                  <a:pt x="2245081" y="318135"/>
                </a:lnTo>
                <a:lnTo>
                  <a:pt x="2068951" y="392271"/>
                </a:lnTo>
                <a:lnTo>
                  <a:pt x="1895246" y="472440"/>
                </a:lnTo>
                <a:lnTo>
                  <a:pt x="1723968" y="558641"/>
                </a:lnTo>
                <a:lnTo>
                  <a:pt x="1555115" y="650875"/>
                </a:lnTo>
                <a:lnTo>
                  <a:pt x="1388688" y="749141"/>
                </a:lnTo>
                <a:lnTo>
                  <a:pt x="1224686" y="853440"/>
                </a:lnTo>
                <a:lnTo>
                  <a:pt x="1063111" y="963771"/>
                </a:lnTo>
                <a:lnTo>
                  <a:pt x="903961" y="1080135"/>
                </a:lnTo>
                <a:lnTo>
                  <a:pt x="747236" y="1202531"/>
                </a:lnTo>
                <a:lnTo>
                  <a:pt x="592938" y="1330960"/>
                </a:lnTo>
                <a:lnTo>
                  <a:pt x="441065" y="1465421"/>
                </a:lnTo>
                <a:lnTo>
                  <a:pt x="291617" y="1605915"/>
                </a:lnTo>
                <a:lnTo>
                  <a:pt x="144596" y="1752441"/>
                </a:lnTo>
                <a:lnTo>
                  <a:pt x="0" y="1905000"/>
                </a:lnTo>
              </a:path>
            </a:pathLst>
          </a:custGeom>
          <a:noFill/>
          <a:ln w="444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oop"/>
          <p:cNvSpPr/>
          <p:nvPr/>
        </p:nvSpPr>
        <p:spPr>
          <a:xfrm>
            <a:off x="2641600" y="1651000"/>
            <a:ext cx="5930900" cy="2222500"/>
          </a:xfrm>
          <a:custGeom>
            <a:avLst/>
            <a:gdLst/>
            <a:ahLst/>
            <a:cxnLst/>
            <a:rect l="l" t="t" r="r" b="b"/>
            <a:pathLst>
              <a:path w="5930900" h="2222500">
                <a:moveTo>
                  <a:pt x="88900" y="2159000"/>
                </a:moveTo>
                <a:lnTo>
                  <a:pt x="417919" y="2150948"/>
                </a:lnTo>
                <a:lnTo>
                  <a:pt x="743052" y="2132381"/>
                </a:lnTo>
                <a:lnTo>
                  <a:pt x="1064298" y="2103298"/>
                </a:lnTo>
                <a:lnTo>
                  <a:pt x="1381658" y="2063699"/>
                </a:lnTo>
                <a:lnTo>
                  <a:pt x="1695132" y="2013585"/>
                </a:lnTo>
                <a:lnTo>
                  <a:pt x="2004720" y="1952955"/>
                </a:lnTo>
                <a:lnTo>
                  <a:pt x="2310422" y="1881810"/>
                </a:lnTo>
                <a:lnTo>
                  <a:pt x="2612238" y="1800149"/>
                </a:lnTo>
                <a:lnTo>
                  <a:pt x="2910167" y="1707972"/>
                </a:lnTo>
                <a:lnTo>
                  <a:pt x="3204210" y="1605280"/>
                </a:lnTo>
                <a:lnTo>
                  <a:pt x="3494367" y="1492072"/>
                </a:lnTo>
                <a:lnTo>
                  <a:pt x="3780638" y="1368349"/>
                </a:lnTo>
                <a:lnTo>
                  <a:pt x="4063022" y="1234110"/>
                </a:lnTo>
                <a:lnTo>
                  <a:pt x="4341520" y="1089355"/>
                </a:lnTo>
                <a:lnTo>
                  <a:pt x="4616132" y="934085"/>
                </a:lnTo>
                <a:lnTo>
                  <a:pt x="4886858" y="768299"/>
                </a:lnTo>
                <a:lnTo>
                  <a:pt x="5153698" y="591998"/>
                </a:lnTo>
                <a:lnTo>
                  <a:pt x="5416652" y="405181"/>
                </a:lnTo>
                <a:lnTo>
                  <a:pt x="5675719" y="207848"/>
                </a:lnTo>
                <a:lnTo>
                  <a:pt x="5930900" y="0"/>
                </a:lnTo>
                <a:lnTo>
                  <a:pt x="5601659" y="8211"/>
                </a:lnTo>
                <a:lnTo>
                  <a:pt x="5275859" y="27254"/>
                </a:lnTo>
                <a:lnTo>
                  <a:pt x="4953502" y="57131"/>
                </a:lnTo>
                <a:lnTo>
                  <a:pt x="4634586" y="97841"/>
                </a:lnTo>
                <a:lnTo>
                  <a:pt x="4319111" y="149384"/>
                </a:lnTo>
                <a:lnTo>
                  <a:pt x="4007079" y="211760"/>
                </a:lnTo>
                <a:lnTo>
                  <a:pt x="3698488" y="284969"/>
                </a:lnTo>
                <a:lnTo>
                  <a:pt x="3393338" y="369011"/>
                </a:lnTo>
                <a:lnTo>
                  <a:pt x="3091631" y="463887"/>
                </a:lnTo>
                <a:lnTo>
                  <a:pt x="2793365" y="569595"/>
                </a:lnTo>
                <a:lnTo>
                  <a:pt x="2498541" y="686137"/>
                </a:lnTo>
                <a:lnTo>
                  <a:pt x="2207158" y="813511"/>
                </a:lnTo>
                <a:lnTo>
                  <a:pt x="1919218" y="951719"/>
                </a:lnTo>
                <a:lnTo>
                  <a:pt x="1634719" y="1100760"/>
                </a:lnTo>
                <a:lnTo>
                  <a:pt x="1353661" y="1260634"/>
                </a:lnTo>
                <a:lnTo>
                  <a:pt x="1076046" y="1431341"/>
                </a:lnTo>
                <a:lnTo>
                  <a:pt x="801872" y="1612881"/>
                </a:lnTo>
                <a:lnTo>
                  <a:pt x="531139" y="1805254"/>
                </a:lnTo>
                <a:lnTo>
                  <a:pt x="263849" y="2008461"/>
                </a:lnTo>
                <a:lnTo>
                  <a:pt x="0" y="2222500"/>
                </a:lnTo>
              </a:path>
            </a:pathLst>
          </a:custGeom>
          <a:noFill/>
          <a:ln w="444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oop"/>
          <p:cNvSpPr/>
          <p:nvPr/>
        </p:nvSpPr>
        <p:spPr>
          <a:xfrm>
            <a:off x="2730500" y="2169954"/>
            <a:ext cx="8128000" cy="1823561"/>
          </a:xfrm>
          <a:custGeom>
            <a:avLst/>
            <a:gdLst/>
            <a:ahLst/>
            <a:cxnLst/>
            <a:rect l="l" t="t" r="r" b="b"/>
            <a:pathLst>
              <a:path w="8128000" h="1823561">
                <a:moveTo>
                  <a:pt x="0" y="1640046"/>
                </a:moveTo>
                <a:lnTo>
                  <a:pt x="431375" y="1706010"/>
                </a:lnTo>
                <a:lnTo>
                  <a:pt x="860120" y="1757343"/>
                </a:lnTo>
                <a:lnTo>
                  <a:pt x="1286237" y="1794046"/>
                </a:lnTo>
                <a:lnTo>
                  <a:pt x="1709725" y="1816119"/>
                </a:lnTo>
                <a:lnTo>
                  <a:pt x="2130584" y="1823561"/>
                </a:lnTo>
                <a:lnTo>
                  <a:pt x="2548814" y="1816373"/>
                </a:lnTo>
                <a:lnTo>
                  <a:pt x="2964415" y="1794554"/>
                </a:lnTo>
                <a:lnTo>
                  <a:pt x="3377387" y="1758105"/>
                </a:lnTo>
                <a:lnTo>
                  <a:pt x="3787731" y="1707026"/>
                </a:lnTo>
                <a:lnTo>
                  <a:pt x="4195445" y="1641316"/>
                </a:lnTo>
                <a:lnTo>
                  <a:pt x="4600531" y="1560976"/>
                </a:lnTo>
                <a:lnTo>
                  <a:pt x="5002987" y="1466005"/>
                </a:lnTo>
                <a:lnTo>
                  <a:pt x="5402815" y="1356404"/>
                </a:lnTo>
                <a:lnTo>
                  <a:pt x="5800014" y="1232173"/>
                </a:lnTo>
                <a:lnTo>
                  <a:pt x="6194584" y="1093311"/>
                </a:lnTo>
                <a:lnTo>
                  <a:pt x="6586525" y="939819"/>
                </a:lnTo>
                <a:lnTo>
                  <a:pt x="6975837" y="771696"/>
                </a:lnTo>
                <a:lnTo>
                  <a:pt x="7362520" y="588943"/>
                </a:lnTo>
                <a:lnTo>
                  <a:pt x="7746575" y="391560"/>
                </a:lnTo>
                <a:lnTo>
                  <a:pt x="8128000" y="179546"/>
                </a:lnTo>
                <a:lnTo>
                  <a:pt x="7696625" y="113741"/>
                </a:lnTo>
                <a:lnTo>
                  <a:pt x="7267880" y="62884"/>
                </a:lnTo>
                <a:lnTo>
                  <a:pt x="6841763" y="26975"/>
                </a:lnTo>
                <a:lnTo>
                  <a:pt x="6418275" y="6013"/>
                </a:lnTo>
                <a:lnTo>
                  <a:pt x="5997416" y="0"/>
                </a:lnTo>
                <a:lnTo>
                  <a:pt x="5579186" y="8934"/>
                </a:lnTo>
                <a:lnTo>
                  <a:pt x="5163585" y="32817"/>
                </a:lnTo>
                <a:lnTo>
                  <a:pt x="4750613" y="71647"/>
                </a:lnTo>
                <a:lnTo>
                  <a:pt x="4340269" y="125425"/>
                </a:lnTo>
                <a:lnTo>
                  <a:pt x="3932555" y="194151"/>
                </a:lnTo>
                <a:lnTo>
                  <a:pt x="3527469" y="277825"/>
                </a:lnTo>
                <a:lnTo>
                  <a:pt x="3125013" y="376447"/>
                </a:lnTo>
                <a:lnTo>
                  <a:pt x="2725185" y="490017"/>
                </a:lnTo>
                <a:lnTo>
                  <a:pt x="2327986" y="618534"/>
                </a:lnTo>
                <a:lnTo>
                  <a:pt x="1933416" y="762000"/>
                </a:lnTo>
                <a:lnTo>
                  <a:pt x="1541475" y="920413"/>
                </a:lnTo>
                <a:lnTo>
                  <a:pt x="1152163" y="1093775"/>
                </a:lnTo>
                <a:lnTo>
                  <a:pt x="765480" y="1282084"/>
                </a:lnTo>
                <a:lnTo>
                  <a:pt x="381425" y="1485341"/>
                </a:lnTo>
                <a:lnTo>
                  <a:pt x="0" y="1703546"/>
                </a:lnTo>
              </a:path>
            </a:pathLst>
          </a:custGeom>
          <a:noFill/>
          <a:ln w="444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oop"/>
          <p:cNvSpPr/>
          <p:nvPr/>
        </p:nvSpPr>
        <p:spPr>
          <a:xfrm>
            <a:off x="2730500" y="3509366"/>
            <a:ext cx="6096000" cy="1132128"/>
          </a:xfrm>
          <a:custGeom>
            <a:avLst/>
            <a:gdLst/>
            <a:ahLst/>
            <a:cxnLst/>
            <a:rect l="l" t="t" r="r" b="b"/>
            <a:pathLst>
              <a:path w="6096000" h="1132128">
                <a:moveTo>
                  <a:pt x="0" y="300634"/>
                </a:moveTo>
                <a:lnTo>
                  <a:pt x="296113" y="430276"/>
                </a:lnTo>
                <a:lnTo>
                  <a:pt x="593141" y="548944"/>
                </a:lnTo>
                <a:lnTo>
                  <a:pt x="891083" y="656640"/>
                </a:lnTo>
                <a:lnTo>
                  <a:pt x="1189939" y="753364"/>
                </a:lnTo>
                <a:lnTo>
                  <a:pt x="1489710" y="839114"/>
                </a:lnTo>
                <a:lnTo>
                  <a:pt x="1790395" y="913892"/>
                </a:lnTo>
                <a:lnTo>
                  <a:pt x="2091995" y="977696"/>
                </a:lnTo>
                <a:lnTo>
                  <a:pt x="2394509" y="1030528"/>
                </a:lnTo>
                <a:lnTo>
                  <a:pt x="2697937" y="1072388"/>
                </a:lnTo>
                <a:lnTo>
                  <a:pt x="3002280" y="1103274"/>
                </a:lnTo>
                <a:lnTo>
                  <a:pt x="3307537" y="1123188"/>
                </a:lnTo>
                <a:lnTo>
                  <a:pt x="3613709" y="1132128"/>
                </a:lnTo>
                <a:lnTo>
                  <a:pt x="3920795" y="1130096"/>
                </a:lnTo>
                <a:lnTo>
                  <a:pt x="4228795" y="1117092"/>
                </a:lnTo>
                <a:lnTo>
                  <a:pt x="4537710" y="1093114"/>
                </a:lnTo>
                <a:lnTo>
                  <a:pt x="4847539" y="1058164"/>
                </a:lnTo>
                <a:lnTo>
                  <a:pt x="5158283" y="1012240"/>
                </a:lnTo>
                <a:lnTo>
                  <a:pt x="5469941" y="955344"/>
                </a:lnTo>
                <a:lnTo>
                  <a:pt x="5782513" y="887476"/>
                </a:lnTo>
                <a:lnTo>
                  <a:pt x="6096000" y="808634"/>
                </a:lnTo>
                <a:lnTo>
                  <a:pt x="5800109" y="679151"/>
                </a:lnTo>
                <a:lnTo>
                  <a:pt x="5503748" y="560959"/>
                </a:lnTo>
                <a:lnTo>
                  <a:pt x="5206917" y="454056"/>
                </a:lnTo>
                <a:lnTo>
                  <a:pt x="4909617" y="358444"/>
                </a:lnTo>
                <a:lnTo>
                  <a:pt x="4611846" y="274123"/>
                </a:lnTo>
                <a:lnTo>
                  <a:pt x="4313606" y="201091"/>
                </a:lnTo>
                <a:lnTo>
                  <a:pt x="4014895" y="139350"/>
                </a:lnTo>
                <a:lnTo>
                  <a:pt x="3715715" y="88900"/>
                </a:lnTo>
                <a:lnTo>
                  <a:pt x="3416065" y="49739"/>
                </a:lnTo>
                <a:lnTo>
                  <a:pt x="3115945" y="21869"/>
                </a:lnTo>
                <a:lnTo>
                  <a:pt x="2815355" y="5289"/>
                </a:lnTo>
                <a:lnTo>
                  <a:pt x="2514295" y="0"/>
                </a:lnTo>
                <a:lnTo>
                  <a:pt x="2212765" y="6000"/>
                </a:lnTo>
                <a:lnTo>
                  <a:pt x="1910766" y="23291"/>
                </a:lnTo>
                <a:lnTo>
                  <a:pt x="1608296" y="51873"/>
                </a:lnTo>
                <a:lnTo>
                  <a:pt x="1305357" y="91744"/>
                </a:lnTo>
                <a:lnTo>
                  <a:pt x="1001947" y="142906"/>
                </a:lnTo>
                <a:lnTo>
                  <a:pt x="698068" y="205359"/>
                </a:lnTo>
                <a:lnTo>
                  <a:pt x="393719" y="279101"/>
                </a:lnTo>
                <a:lnTo>
                  <a:pt x="88900" y="364134"/>
                </a:lnTo>
              </a:path>
            </a:pathLst>
          </a:custGeom>
          <a:noFill/>
          <a:ln w="444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oop"/>
          <p:cNvSpPr/>
          <p:nvPr/>
        </p:nvSpPr>
        <p:spPr>
          <a:xfrm>
            <a:off x="2730500" y="3674567"/>
            <a:ext cx="3302000" cy="612242"/>
          </a:xfrm>
          <a:custGeom>
            <a:avLst/>
            <a:gdLst/>
            <a:ahLst/>
            <a:cxnLst/>
            <a:rect l="l" t="t" r="r" b="b"/>
            <a:pathLst>
              <a:path w="3302000" h="612242">
                <a:moveTo>
                  <a:pt x="0" y="135433"/>
                </a:moveTo>
                <a:lnTo>
                  <a:pt x="159671" y="207772"/>
                </a:lnTo>
                <a:lnTo>
                  <a:pt x="319913" y="274168"/>
                </a:lnTo>
                <a:lnTo>
                  <a:pt x="480727" y="334620"/>
                </a:lnTo>
                <a:lnTo>
                  <a:pt x="642112" y="389128"/>
                </a:lnTo>
                <a:lnTo>
                  <a:pt x="804069" y="437693"/>
                </a:lnTo>
                <a:lnTo>
                  <a:pt x="966597" y="480314"/>
                </a:lnTo>
                <a:lnTo>
                  <a:pt x="1129697" y="516992"/>
                </a:lnTo>
                <a:lnTo>
                  <a:pt x="1293368" y="547726"/>
                </a:lnTo>
                <a:lnTo>
                  <a:pt x="1457611" y="572516"/>
                </a:lnTo>
                <a:lnTo>
                  <a:pt x="1622425" y="591363"/>
                </a:lnTo>
                <a:lnTo>
                  <a:pt x="1787811" y="604266"/>
                </a:lnTo>
                <a:lnTo>
                  <a:pt x="1953768" y="611226"/>
                </a:lnTo>
                <a:lnTo>
                  <a:pt x="2120297" y="612242"/>
                </a:lnTo>
                <a:lnTo>
                  <a:pt x="2287397" y="607314"/>
                </a:lnTo>
                <a:lnTo>
                  <a:pt x="2455069" y="596443"/>
                </a:lnTo>
                <a:lnTo>
                  <a:pt x="2623312" y="579628"/>
                </a:lnTo>
                <a:lnTo>
                  <a:pt x="2792127" y="556870"/>
                </a:lnTo>
                <a:lnTo>
                  <a:pt x="2961513" y="528168"/>
                </a:lnTo>
                <a:lnTo>
                  <a:pt x="3131471" y="493522"/>
                </a:lnTo>
                <a:lnTo>
                  <a:pt x="3302000" y="452933"/>
                </a:lnTo>
                <a:lnTo>
                  <a:pt x="3142774" y="380753"/>
                </a:lnTo>
                <a:lnTo>
                  <a:pt x="2983865" y="314833"/>
                </a:lnTo>
                <a:lnTo>
                  <a:pt x="2825274" y="255175"/>
                </a:lnTo>
                <a:lnTo>
                  <a:pt x="2667000" y="201778"/>
                </a:lnTo>
                <a:lnTo>
                  <a:pt x="2509044" y="154642"/>
                </a:lnTo>
                <a:lnTo>
                  <a:pt x="2351405" y="113767"/>
                </a:lnTo>
                <a:lnTo>
                  <a:pt x="2194084" y="79153"/>
                </a:lnTo>
                <a:lnTo>
                  <a:pt x="2037080" y="50800"/>
                </a:lnTo>
                <a:lnTo>
                  <a:pt x="1880394" y="28709"/>
                </a:lnTo>
                <a:lnTo>
                  <a:pt x="1724025" y="12878"/>
                </a:lnTo>
                <a:lnTo>
                  <a:pt x="1567974" y="3309"/>
                </a:lnTo>
                <a:lnTo>
                  <a:pt x="1412240" y="0"/>
                </a:lnTo>
                <a:lnTo>
                  <a:pt x="1256824" y="2953"/>
                </a:lnTo>
                <a:lnTo>
                  <a:pt x="1101725" y="12167"/>
                </a:lnTo>
                <a:lnTo>
                  <a:pt x="946944" y="27642"/>
                </a:lnTo>
                <a:lnTo>
                  <a:pt x="792480" y="49378"/>
                </a:lnTo>
                <a:lnTo>
                  <a:pt x="638334" y="77375"/>
                </a:lnTo>
                <a:lnTo>
                  <a:pt x="484505" y="111633"/>
                </a:lnTo>
                <a:lnTo>
                  <a:pt x="330994" y="152153"/>
                </a:lnTo>
                <a:lnTo>
                  <a:pt x="177800" y="198933"/>
                </a:lnTo>
              </a:path>
            </a:pathLst>
          </a:custGeom>
          <a:noFill/>
          <a:ln w="4445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andering path"/>
          <p:cNvSpPr/>
          <p:nvPr/>
        </p:nvSpPr>
        <p:spPr>
          <a:xfrm>
            <a:off x="2224236" y="2159000"/>
            <a:ext cx="8696625" cy="5842000"/>
          </a:xfrm>
          <a:custGeom>
            <a:avLst/>
            <a:gdLst/>
            <a:ahLst/>
            <a:cxnLst/>
            <a:rect l="l" t="t" r="r" b="b"/>
            <a:pathLst>
              <a:path w="8696625" h="5842000">
                <a:moveTo>
                  <a:pt x="188764" y="3556000"/>
                </a:moveTo>
                <a:lnTo>
                  <a:pt x="74176" y="3412565"/>
                </a:lnTo>
                <a:lnTo>
                  <a:pt x="12890" y="3297517"/>
                </a:lnTo>
                <a:lnTo>
                  <a:pt x="0" y="3207494"/>
                </a:lnTo>
                <a:lnTo>
                  <a:pt x="30602" y="3139134"/>
                </a:lnTo>
                <a:lnTo>
                  <a:pt x="99789" y="3089075"/>
                </a:lnTo>
                <a:lnTo>
                  <a:pt x="202655" y="3053953"/>
                </a:lnTo>
                <a:lnTo>
                  <a:pt x="334294" y="3030407"/>
                </a:lnTo>
                <a:lnTo>
                  <a:pt x="489801" y="3015074"/>
                </a:lnTo>
                <a:lnTo>
                  <a:pt x="664270" y="3004592"/>
                </a:lnTo>
                <a:lnTo>
                  <a:pt x="852795" y="2995598"/>
                </a:lnTo>
                <a:lnTo>
                  <a:pt x="1050470" y="2984730"/>
                </a:lnTo>
                <a:lnTo>
                  <a:pt x="1252389" y="2968625"/>
                </a:lnTo>
                <a:lnTo>
                  <a:pt x="1453647" y="2943921"/>
                </a:lnTo>
                <a:lnTo>
                  <a:pt x="1649337" y="2907256"/>
                </a:lnTo>
                <a:lnTo>
                  <a:pt x="1834555" y="2855268"/>
                </a:lnTo>
                <a:lnTo>
                  <a:pt x="2004394" y="2784593"/>
                </a:lnTo>
                <a:lnTo>
                  <a:pt x="2153948" y="2691869"/>
                </a:lnTo>
                <a:lnTo>
                  <a:pt x="2278311" y="2573734"/>
                </a:lnTo>
                <a:lnTo>
                  <a:pt x="2372578" y="2426826"/>
                </a:lnTo>
                <a:lnTo>
                  <a:pt x="2431843" y="2247782"/>
                </a:lnTo>
                <a:lnTo>
                  <a:pt x="2451200" y="2033240"/>
                </a:lnTo>
                <a:lnTo>
                  <a:pt x="2425743" y="1779837"/>
                </a:lnTo>
                <a:lnTo>
                  <a:pt x="2350566" y="1484211"/>
                </a:lnTo>
                <a:lnTo>
                  <a:pt x="2220764" y="1143000"/>
                </a:lnTo>
                <a:lnTo>
                  <a:pt x="2100599" y="822900"/>
                </a:lnTo>
                <a:lnTo>
                  <a:pt x="2053195" y="587742"/>
                </a:lnTo>
                <a:lnTo>
                  <a:pt x="2071936" y="429865"/>
                </a:lnTo>
                <a:lnTo>
                  <a:pt x="2150208" y="341606"/>
                </a:lnTo>
                <a:lnTo>
                  <a:pt x="2281398" y="315304"/>
                </a:lnTo>
                <a:lnTo>
                  <a:pt x="2458889" y="343297"/>
                </a:lnTo>
                <a:lnTo>
                  <a:pt x="2676068" y="417922"/>
                </a:lnTo>
                <a:lnTo>
                  <a:pt x="2926320" y="531519"/>
                </a:lnTo>
                <a:lnTo>
                  <a:pt x="3203030" y="676424"/>
                </a:lnTo>
                <a:lnTo>
                  <a:pt x="3499583" y="844976"/>
                </a:lnTo>
                <a:lnTo>
                  <a:pt x="3809366" y="1029514"/>
                </a:lnTo>
                <a:lnTo>
                  <a:pt x="4125764" y="1222375"/>
                </a:lnTo>
                <a:lnTo>
                  <a:pt x="4442162" y="1415897"/>
                </a:lnTo>
                <a:lnTo>
                  <a:pt x="4751945" y="1602420"/>
                </a:lnTo>
                <a:lnTo>
                  <a:pt x="5048498" y="1774279"/>
                </a:lnTo>
                <a:lnTo>
                  <a:pt x="5325208" y="1923815"/>
                </a:lnTo>
                <a:lnTo>
                  <a:pt x="5575460" y="2043364"/>
                </a:lnTo>
                <a:lnTo>
                  <a:pt x="5792639" y="2125266"/>
                </a:lnTo>
                <a:lnTo>
                  <a:pt x="5970130" y="2161857"/>
                </a:lnTo>
                <a:lnTo>
                  <a:pt x="6101320" y="2145477"/>
                </a:lnTo>
                <a:lnTo>
                  <a:pt x="6179592" y="2068463"/>
                </a:lnTo>
                <a:lnTo>
                  <a:pt x="6198333" y="1923153"/>
                </a:lnTo>
                <a:lnTo>
                  <a:pt x="6150929" y="1701886"/>
                </a:lnTo>
                <a:lnTo>
                  <a:pt x="6030764" y="1397000"/>
                </a:lnTo>
                <a:lnTo>
                  <a:pt x="5902583" y="1070736"/>
                </a:lnTo>
                <a:lnTo>
                  <a:pt x="5832143" y="789781"/>
                </a:lnTo>
                <a:lnTo>
                  <a:pt x="5814343" y="553145"/>
                </a:lnTo>
                <a:lnTo>
                  <a:pt x="5844086" y="359833"/>
                </a:lnTo>
                <a:lnTo>
                  <a:pt x="5916272" y="208855"/>
                </a:lnTo>
                <a:lnTo>
                  <a:pt x="6025803" y="99219"/>
                </a:lnTo>
                <a:lnTo>
                  <a:pt x="6167580" y="29931"/>
                </a:lnTo>
                <a:lnTo>
                  <a:pt x="6336505" y="0"/>
                </a:lnTo>
                <a:lnTo>
                  <a:pt x="6527478" y="8434"/>
                </a:lnTo>
                <a:lnTo>
                  <a:pt x="6735401" y="54240"/>
                </a:lnTo>
                <a:lnTo>
                  <a:pt x="6955175" y="136426"/>
                </a:lnTo>
                <a:lnTo>
                  <a:pt x="7181702" y="254000"/>
                </a:lnTo>
                <a:lnTo>
                  <a:pt x="7409882" y="405970"/>
                </a:lnTo>
                <a:lnTo>
                  <a:pt x="7634617" y="591344"/>
                </a:lnTo>
                <a:lnTo>
                  <a:pt x="7850808" y="809129"/>
                </a:lnTo>
                <a:lnTo>
                  <a:pt x="8053357" y="1058333"/>
                </a:lnTo>
                <a:lnTo>
                  <a:pt x="8237164" y="1337965"/>
                </a:lnTo>
                <a:lnTo>
                  <a:pt x="8397131" y="1647031"/>
                </a:lnTo>
                <a:lnTo>
                  <a:pt x="8528160" y="1984540"/>
                </a:lnTo>
                <a:lnTo>
                  <a:pt x="8625151" y="2349500"/>
                </a:lnTo>
                <a:lnTo>
                  <a:pt x="8683005" y="2740918"/>
                </a:lnTo>
                <a:lnTo>
                  <a:pt x="8696625" y="3157802"/>
                </a:lnTo>
                <a:lnTo>
                  <a:pt x="8660911" y="3599160"/>
                </a:lnTo>
                <a:lnTo>
                  <a:pt x="8570764" y="4064000"/>
                </a:lnTo>
                <a:lnTo>
                  <a:pt x="8426185" y="4503870"/>
                </a:lnTo>
                <a:lnTo>
                  <a:pt x="8234339" y="4873625"/>
                </a:lnTo>
                <a:lnTo>
                  <a:pt x="8000876" y="5177234"/>
                </a:lnTo>
                <a:lnTo>
                  <a:pt x="7731447" y="5418667"/>
                </a:lnTo>
                <a:lnTo>
                  <a:pt x="7431701" y="5601891"/>
                </a:lnTo>
                <a:lnTo>
                  <a:pt x="7107287" y="5730875"/>
                </a:lnTo>
                <a:lnTo>
                  <a:pt x="6763857" y="5809589"/>
                </a:lnTo>
                <a:lnTo>
                  <a:pt x="6407060" y="5842000"/>
                </a:lnTo>
                <a:lnTo>
                  <a:pt x="6042546" y="5832078"/>
                </a:lnTo>
                <a:lnTo>
                  <a:pt x="5675965" y="5783792"/>
                </a:lnTo>
                <a:lnTo>
                  <a:pt x="5312967" y="5701109"/>
                </a:lnTo>
                <a:lnTo>
                  <a:pt x="4959202" y="5588000"/>
                </a:lnTo>
                <a:lnTo>
                  <a:pt x="4620319" y="5448432"/>
                </a:lnTo>
                <a:lnTo>
                  <a:pt x="4301969" y="5286375"/>
                </a:lnTo>
                <a:lnTo>
                  <a:pt x="4009802" y="5105797"/>
                </a:lnTo>
                <a:lnTo>
                  <a:pt x="3749468" y="4910667"/>
                </a:lnTo>
                <a:lnTo>
                  <a:pt x="3526616" y="4704953"/>
                </a:lnTo>
                <a:lnTo>
                  <a:pt x="3346897" y="4492625"/>
                </a:lnTo>
                <a:lnTo>
                  <a:pt x="3215960" y="4277651"/>
                </a:lnTo>
                <a:lnTo>
                  <a:pt x="3139456" y="4064000"/>
                </a:lnTo>
                <a:lnTo>
                  <a:pt x="3123035" y="3855641"/>
                </a:lnTo>
                <a:lnTo>
                  <a:pt x="3172345" y="3656542"/>
                </a:lnTo>
                <a:lnTo>
                  <a:pt x="3293038" y="3470672"/>
                </a:lnTo>
                <a:lnTo>
                  <a:pt x="3490764" y="3302000"/>
                </a:lnTo>
              </a:path>
            </a:pathLst>
          </a:custGeom>
          <a:noFill/>
          <a:ln w="31750" cap="rnd">
            <a:solidFill>
              <a:srgbClr val="0B0610">
                <a:alpha val="55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Cashier A04" descr="a04_sti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413000"/>
            <a:ext cx="3810000" cy="2707014"/>
          </a:xfrm>
          <a:prstGeom prst="rect">
            <a:avLst/>
          </a:prstGeom>
        </p:spPr>
      </p:pic>
      <p:sp>
        <p:nvSpPr>
          <p:cNvPr id="15" name="Still primarily a cashier"/>
          <p:cNvSpPr/>
          <p:nvPr/>
        </p:nvSpPr>
        <p:spPr>
          <a:xfrm>
            <a:off x="952500" y="5334000"/>
            <a:ext cx="3943965" cy="3302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1600" tIns="0" rIns="63500" bIns="0">
            <a:noAutofit/>
          </a:bodyPr>
          <a:lstStyle/>
          <a:p>
            <a:pPr algn="l">
              <a:lnSpc>
                <a:spcPts val="1725"/>
              </a:lnSpc>
            </a:pPr>
            <a:r>
              <a:rPr sz="1500" b="0" spc="210">
                <a:solidFill>
                  <a:srgbClr val="F4ECDD"/>
                </a:solidFill>
                <a:latin typeface="Archivo Label"/>
                <a:ea typeface="Archivo Label"/>
                <a:cs typeface="Archivo Label"/>
              </a:rPr>
              <a:t>STILL PRIMARILY A CASHIER</a:t>
            </a:r>
          </a:p>
        </p:txBody>
      </p:sp>
      <p:grpSp>
        <p:nvGrpSpPr>
          <p:cNvPr id="16" name="Note: Queue coordination"/>
          <p:cNvGrpSpPr/>
          <p:nvPr/>
        </p:nvGrpSpPr>
        <p:grpSpPr>
          <a:xfrm rot="21420000">
            <a:off x="4826000" y="1574800"/>
            <a:ext cx="2159000" cy="1841500"/>
            <a:chOff x="4826000" y="1574800"/>
            <a:chExt cx="2159000" cy="1841500"/>
          </a:xfrm>
        </p:grpSpPr>
        <p:sp>
          <p:nvSpPr>
            <p:cNvPr id="17" name="Note paper"/>
            <p:cNvSpPr/>
            <p:nvPr/>
          </p:nvSpPr>
          <p:spPr>
            <a:xfrm>
              <a:off x="4826000" y="1714500"/>
              <a:ext cx="2159000" cy="1701800"/>
            </a:xfrm>
            <a:prstGeom prst="rect">
              <a:avLst/>
            </a:prstGeom>
            <a:solidFill>
              <a:srgbClr val="F7F1E3"/>
            </a:solidFill>
            <a:ln>
              <a:noFill/>
            </a:ln>
            <a:effectLst>
              <a:outerShdw blurRad="0" dist="109249" dir="3267739" algn="tl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18" name="Photo m03" descr="m03.jpg"/>
            <p:cNvPicPr>
              <a:picLocks noChangeAspect="1"/>
            </p:cNvPicPr>
            <p:nvPr/>
          </p:nvPicPr>
          <p:blipFill>
            <a:blip r:embed="rId4"/>
            <a:srcRect t="7524" b="17556"/>
            <a:stretch>
              <a:fillRect/>
            </a:stretch>
          </p:blipFill>
          <p:spPr>
            <a:xfrm>
              <a:off x="4914900" y="1803400"/>
              <a:ext cx="1981200" cy="1079500"/>
            </a:xfrm>
            <a:prstGeom prst="rect">
              <a:avLst/>
            </a:prstGeom>
          </p:spPr>
        </p:pic>
        <p:sp>
          <p:nvSpPr>
            <p:cNvPr id="19" name="Queue coordination"/>
            <p:cNvSpPr txBox="1"/>
            <p:nvPr/>
          </p:nvSpPr>
          <p:spPr>
            <a:xfrm>
              <a:off x="4953000" y="2959100"/>
              <a:ext cx="1943100" cy="406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300" b="0">
                  <a:solidFill>
                    <a:srgbClr val="0B0610"/>
                  </a:solidFill>
                  <a:latin typeface="Archivo Expanded"/>
                  <a:ea typeface="Archivo Expanded"/>
                  <a:cs typeface="Archivo Expanded"/>
                </a:rPr>
                <a:t>QUEUE COORDINATION</a:t>
              </a:r>
            </a:p>
          </p:txBody>
        </p:sp>
        <p:sp>
          <p:nvSpPr>
            <p:cNvPr id="20" name="Tape"/>
            <p:cNvSpPr/>
            <p:nvPr/>
          </p:nvSpPr>
          <p:spPr>
            <a:xfrm rot="21240000">
              <a:off x="5524500" y="1574800"/>
              <a:ext cx="762000" cy="292100"/>
            </a:xfrm>
            <a:prstGeom prst="rect">
              <a:avLst/>
            </a:prstGeom>
            <a:solidFill>
              <a:srgbClr val="F0E4C8">
                <a:alpha val="85000"/>
              </a:srgbClr>
            </a:solidFill>
            <a:ln>
              <a:noFill/>
            </a:ln>
            <a:effectLst>
              <a:outerShdw blurRad="0" dist="12700" dir="5400000" algn="tl" rotWithShape="0">
                <a:srgbClr val="000000">
                  <a:alpha val="1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21" name="Note: Basic price-verification coordination"/>
          <p:cNvGrpSpPr/>
          <p:nvPr/>
        </p:nvGrpSpPr>
        <p:grpSpPr>
          <a:xfrm rot="150000">
            <a:off x="7429500" y="1257300"/>
            <a:ext cx="2286000" cy="2533650"/>
            <a:chOff x="7429500" y="1257300"/>
            <a:chExt cx="2286000" cy="2533650"/>
          </a:xfrm>
        </p:grpSpPr>
        <p:sp>
          <p:nvSpPr>
            <p:cNvPr id="22" name="Note paper"/>
            <p:cNvSpPr/>
            <p:nvPr/>
          </p:nvSpPr>
          <p:spPr>
            <a:xfrm>
              <a:off x="7429500" y="1397000"/>
              <a:ext cx="2286000" cy="2393950"/>
            </a:xfrm>
            <a:prstGeom prst="rect">
              <a:avLst/>
            </a:prstGeom>
            <a:solidFill>
              <a:srgbClr val="F7F1E3"/>
            </a:solidFill>
            <a:ln>
              <a:noFill/>
            </a:ln>
            <a:effectLst>
              <a:outerShdw blurRad="0" dist="109249" dir="3267739" algn="tl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23" name="Photo a10_cashier" descr="a10_cashier.jpg"/>
            <p:cNvPicPr>
              <a:picLocks noChangeAspect="1"/>
            </p:cNvPicPr>
            <p:nvPr/>
          </p:nvPicPr>
          <p:blipFill>
            <a:blip r:embed="rId5"/>
            <a:srcRect t="12941" b="30195"/>
            <a:stretch>
              <a:fillRect/>
            </a:stretch>
          </p:blipFill>
          <p:spPr>
            <a:xfrm>
              <a:off x="7518400" y="1485900"/>
              <a:ext cx="2108200" cy="1587500"/>
            </a:xfrm>
            <a:prstGeom prst="rect">
              <a:avLst/>
            </a:prstGeom>
          </p:spPr>
        </p:pic>
        <p:sp>
          <p:nvSpPr>
            <p:cNvPr id="24" name="Basic price-verification coordination"/>
            <p:cNvSpPr txBox="1"/>
            <p:nvPr/>
          </p:nvSpPr>
          <p:spPr>
            <a:xfrm>
              <a:off x="7556500" y="3149600"/>
              <a:ext cx="2070100" cy="5905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300" b="0">
                  <a:solidFill>
                    <a:srgbClr val="0B0610"/>
                  </a:solidFill>
                  <a:latin typeface="Archivo Expanded"/>
                  <a:ea typeface="Archivo Expanded"/>
                  <a:cs typeface="Archivo Expanded"/>
                </a:rPr>
                <a:t>BASIC PRICE-VERIFICATION COORDINATION</a:t>
              </a:r>
            </a:p>
          </p:txBody>
        </p:sp>
        <p:sp>
          <p:nvSpPr>
            <p:cNvPr id="25" name="Tape"/>
            <p:cNvSpPr/>
            <p:nvPr/>
          </p:nvSpPr>
          <p:spPr>
            <a:xfrm rot="300000">
              <a:off x="8191500" y="1257300"/>
              <a:ext cx="762000" cy="292100"/>
            </a:xfrm>
            <a:prstGeom prst="rect">
              <a:avLst/>
            </a:prstGeom>
            <a:solidFill>
              <a:srgbClr val="F0E4C8">
                <a:alpha val="85000"/>
              </a:srgbClr>
            </a:solidFill>
            <a:ln>
              <a:noFill/>
            </a:ln>
            <a:effectLst>
              <a:outerShdw blurRad="0" dist="12700" dir="5400000" algn="tl" rotWithShape="0">
                <a:srgbClr val="000000">
                  <a:alpha val="1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26" name="Note: Checkout-area readiness checks"/>
          <p:cNvGrpSpPr/>
          <p:nvPr/>
        </p:nvGrpSpPr>
        <p:grpSpPr>
          <a:xfrm rot="21480000">
            <a:off x="9906000" y="1955800"/>
            <a:ext cx="1905000" cy="1155700"/>
            <a:chOff x="9906000" y="1955800"/>
            <a:chExt cx="1905000" cy="1155700"/>
          </a:xfrm>
        </p:grpSpPr>
        <p:sp>
          <p:nvSpPr>
            <p:cNvPr id="27" name="Note paper"/>
            <p:cNvSpPr/>
            <p:nvPr/>
          </p:nvSpPr>
          <p:spPr>
            <a:xfrm>
              <a:off x="9906000" y="2095500"/>
              <a:ext cx="1905000" cy="1016000"/>
            </a:xfrm>
            <a:prstGeom prst="rect">
              <a:avLst/>
            </a:prstGeom>
            <a:solidFill>
              <a:srgbClr val="F7F1E3"/>
            </a:solidFill>
            <a:ln>
              <a:noFill/>
            </a:ln>
            <a:effectLst>
              <a:outerShdw blurRad="0" dist="109249" dir="3267739" algn="tl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8" name="Marker tab"/>
            <p:cNvSpPr/>
            <p:nvPr/>
          </p:nvSpPr>
          <p:spPr>
            <a:xfrm>
              <a:off x="10045700" y="2235200"/>
              <a:ext cx="76200" cy="736600"/>
            </a:xfrm>
            <a:prstGeom prst="rect">
              <a:avLst/>
            </a:prstGeom>
            <a:solidFill>
              <a:srgbClr val="FF2E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9" name="Checkout-area readiness checks"/>
            <p:cNvSpPr txBox="1"/>
            <p:nvPr/>
          </p:nvSpPr>
          <p:spPr>
            <a:xfrm>
              <a:off x="10223500" y="2235200"/>
              <a:ext cx="1498600" cy="7747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300" b="0">
                  <a:solidFill>
                    <a:srgbClr val="0B0610"/>
                  </a:solidFill>
                  <a:latin typeface="Archivo Expanded"/>
                  <a:ea typeface="Archivo Expanded"/>
                  <a:cs typeface="Archivo Expanded"/>
                </a:rPr>
                <a:t>CHECKOUT-AREA READINESS CHECKS</a:t>
              </a:r>
            </a:p>
          </p:txBody>
        </p:sp>
        <p:sp>
          <p:nvSpPr>
            <p:cNvPr id="30" name="Tape"/>
            <p:cNvSpPr/>
            <p:nvPr/>
          </p:nvSpPr>
          <p:spPr>
            <a:xfrm rot="21360000">
              <a:off x="10477500" y="1955800"/>
              <a:ext cx="762000" cy="292100"/>
            </a:xfrm>
            <a:prstGeom prst="rect">
              <a:avLst/>
            </a:prstGeom>
            <a:solidFill>
              <a:srgbClr val="F0E4C8">
                <a:alpha val="85000"/>
              </a:srgbClr>
            </a:solidFill>
            <a:ln>
              <a:noFill/>
            </a:ln>
            <a:effectLst>
              <a:outerShdw blurRad="0" dist="12700" dir="5400000" algn="tl" rotWithShape="0">
                <a:srgbClr val="000000">
                  <a:alpha val="1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31" name="Note: Onboarding / shadow support"/>
          <p:cNvGrpSpPr/>
          <p:nvPr/>
        </p:nvGrpSpPr>
        <p:grpSpPr>
          <a:xfrm rot="120000">
            <a:off x="7747000" y="3924300"/>
            <a:ext cx="2159000" cy="971550"/>
            <a:chOff x="7747000" y="3924300"/>
            <a:chExt cx="2159000" cy="971550"/>
          </a:xfrm>
        </p:grpSpPr>
        <p:sp>
          <p:nvSpPr>
            <p:cNvPr id="32" name="Note paper"/>
            <p:cNvSpPr/>
            <p:nvPr/>
          </p:nvSpPr>
          <p:spPr>
            <a:xfrm>
              <a:off x="7747000" y="4064000"/>
              <a:ext cx="2159000" cy="831850"/>
            </a:xfrm>
            <a:prstGeom prst="rect">
              <a:avLst/>
            </a:prstGeom>
            <a:solidFill>
              <a:srgbClr val="F7F1E3"/>
            </a:solidFill>
            <a:ln>
              <a:noFill/>
            </a:ln>
            <a:effectLst>
              <a:outerShdw blurRad="0" dist="109249" dir="3267739" algn="tl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3" name="Marker tab"/>
            <p:cNvSpPr/>
            <p:nvPr/>
          </p:nvSpPr>
          <p:spPr>
            <a:xfrm>
              <a:off x="7886700" y="4203700"/>
              <a:ext cx="76200" cy="552450"/>
            </a:xfrm>
            <a:prstGeom prst="rect">
              <a:avLst/>
            </a:prstGeom>
            <a:solidFill>
              <a:srgbClr val="FF2E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4" name="Onboarding / shadow support"/>
            <p:cNvSpPr txBox="1"/>
            <p:nvPr/>
          </p:nvSpPr>
          <p:spPr>
            <a:xfrm>
              <a:off x="8064500" y="4203700"/>
              <a:ext cx="1752600" cy="5905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300" b="0">
                  <a:solidFill>
                    <a:srgbClr val="0B0610"/>
                  </a:solidFill>
                  <a:latin typeface="Archivo Expanded"/>
                  <a:ea typeface="Archivo Expanded"/>
                  <a:cs typeface="Archivo Expanded"/>
                </a:rPr>
                <a:t>ONBOARDING / SHADOW SUPPORT</a:t>
              </a:r>
            </a:p>
          </p:txBody>
        </p:sp>
        <p:sp>
          <p:nvSpPr>
            <p:cNvPr id="35" name="Tape"/>
            <p:cNvSpPr/>
            <p:nvPr/>
          </p:nvSpPr>
          <p:spPr>
            <a:xfrm rot="240000">
              <a:off x="8445500" y="3924300"/>
              <a:ext cx="762000" cy="292100"/>
            </a:xfrm>
            <a:prstGeom prst="rect">
              <a:avLst/>
            </a:prstGeom>
            <a:solidFill>
              <a:srgbClr val="F0E4C8">
                <a:alpha val="85000"/>
              </a:srgbClr>
            </a:solidFill>
            <a:ln>
              <a:noFill/>
            </a:ln>
            <a:effectLst>
              <a:outerShdw blurRad="0" dist="12700" dir="5400000" algn="tl" rotWithShape="0">
                <a:srgbClr val="000000">
                  <a:alpha val="1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36" name="Note: Customer checkout guidance"/>
          <p:cNvGrpSpPr/>
          <p:nvPr/>
        </p:nvGrpSpPr>
        <p:grpSpPr>
          <a:xfrm rot="21480000">
            <a:off x="4953000" y="3733800"/>
            <a:ext cx="2159000" cy="2025650"/>
            <a:chOff x="4953000" y="3733800"/>
            <a:chExt cx="2159000" cy="2025650"/>
          </a:xfrm>
        </p:grpSpPr>
        <p:sp>
          <p:nvSpPr>
            <p:cNvPr id="37" name="Note paper"/>
            <p:cNvSpPr/>
            <p:nvPr/>
          </p:nvSpPr>
          <p:spPr>
            <a:xfrm>
              <a:off x="4953000" y="3873500"/>
              <a:ext cx="2159000" cy="1885950"/>
            </a:xfrm>
            <a:prstGeom prst="rect">
              <a:avLst/>
            </a:prstGeom>
            <a:solidFill>
              <a:srgbClr val="F7F1E3"/>
            </a:solidFill>
            <a:ln>
              <a:noFill/>
            </a:ln>
            <a:effectLst>
              <a:outerShdw blurRad="0" dist="109249" dir="3267739" algn="tl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pic>
          <p:nvPicPr>
            <p:cNvPr id="38" name="Photo m22" descr="m22.jpg"/>
            <p:cNvPicPr>
              <a:picLocks noChangeAspect="1"/>
            </p:cNvPicPr>
            <p:nvPr/>
          </p:nvPicPr>
          <p:blipFill>
            <a:blip r:embed="rId6"/>
            <a:srcRect t="7524" b="17556"/>
            <a:stretch>
              <a:fillRect/>
            </a:stretch>
          </p:blipFill>
          <p:spPr>
            <a:xfrm>
              <a:off x="5041900" y="3962400"/>
              <a:ext cx="1981200" cy="1079500"/>
            </a:xfrm>
            <a:prstGeom prst="rect">
              <a:avLst/>
            </a:prstGeom>
          </p:spPr>
        </p:pic>
        <p:sp>
          <p:nvSpPr>
            <p:cNvPr id="39" name="Customer checkout guidance"/>
            <p:cNvSpPr txBox="1"/>
            <p:nvPr/>
          </p:nvSpPr>
          <p:spPr>
            <a:xfrm>
              <a:off x="5080000" y="5118100"/>
              <a:ext cx="1943100" cy="5905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450"/>
                </a:lnSpc>
              </a:pPr>
              <a:r>
                <a:rPr sz="1300" b="0">
                  <a:solidFill>
                    <a:srgbClr val="0B0610"/>
                  </a:solidFill>
                  <a:latin typeface="Archivo Expanded"/>
                  <a:ea typeface="Archivo Expanded"/>
                  <a:cs typeface="Archivo Expanded"/>
                </a:rPr>
                <a:t>CUSTOMER CHECKOUT GUIDANCE</a:t>
              </a:r>
            </a:p>
          </p:txBody>
        </p:sp>
        <p:sp>
          <p:nvSpPr>
            <p:cNvPr id="40" name="Tape"/>
            <p:cNvSpPr/>
            <p:nvPr/>
          </p:nvSpPr>
          <p:spPr>
            <a:xfrm rot="21360000">
              <a:off x="5651500" y="3733800"/>
              <a:ext cx="762000" cy="292100"/>
            </a:xfrm>
            <a:prstGeom prst="rect">
              <a:avLst/>
            </a:prstGeom>
            <a:solidFill>
              <a:srgbClr val="F0E4C8">
                <a:alpha val="85000"/>
              </a:srgbClr>
            </a:solidFill>
            <a:ln>
              <a:noFill/>
            </a:ln>
            <a:effectLst>
              <a:outerShdw blurRad="0" dist="12700" dir="5400000" algn="tl" rotWithShape="0">
                <a:srgbClr val="000000">
                  <a:alpha val="1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sp>
        <p:nvSpPr>
          <p:cNvPr id="41" name="Stamp"/>
          <p:cNvSpPr/>
          <p:nvPr/>
        </p:nvSpPr>
        <p:spPr>
          <a:xfrm rot="21480000">
            <a:off x="2639070" y="5810250"/>
            <a:ext cx="6913860" cy="558800"/>
          </a:xfrm>
          <a:prstGeom prst="roundRect">
            <a:avLst>
              <a:gd name="adj" fmla="val 18181"/>
            </a:avLst>
          </a:prstGeom>
          <a:solidFill>
            <a:srgbClr val="F4ECDD">
              <a:alpha val="90000"/>
            </a:srgbClr>
          </a:solidFill>
          <a:ln w="63500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0800" rIns="190500" bIns="38100">
            <a:noAutofit/>
          </a:bodyPr>
          <a:lstStyle/>
          <a:p>
            <a:pPr algn="ctr">
              <a:lnSpc>
                <a:spcPts val="2500"/>
              </a:lnSpc>
            </a:pPr>
            <a:r>
              <a:rPr sz="2500" b="0" spc="50">
                <a:solidFill>
                  <a:srgbClr val="FF2E88"/>
                </a:solidFill>
                <a:latin typeface="Archivo Condensed"/>
                <a:ea typeface="Archivo Condensed"/>
                <a:cs typeface="Archivo Condensed"/>
              </a:rPr>
              <a:t>NOT RANDOM MOVEMENT AROUND THE STORE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400" y="6502400"/>
            <a:ext cx="8147764" cy="2057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0">
                <a:solidFill>
                  <a:srgbClr val="2E292F"/>
                </a:solidFill>
                <a:latin typeface="JetBrains Mono"/>
                <a:ea typeface="JetBrains Mono"/>
                <a:cs typeface="JetBrains Mono"/>
              </a:rPr>
              <a:t>Checkout-adjacent only · subject to training &amp; staffing · checkout coverage protected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6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 A05 (queue)" descr="a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hoto d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Shad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0610">
                  <a:alpha val="60000"/>
                </a:srgbClr>
              </a:gs>
              <a:gs pos="100000">
                <a:srgbClr val="0B0610">
                  <a:alpha val="85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Texture: film grain" descr="grain.png"/>
          <p:cNvPicPr>
            <a:picLocks noChangeAspect="1" noSel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VI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REDESIGN</a:t>
            </a:r>
          </a:p>
        </p:txBody>
      </p:sp>
      <p:sp>
        <p:nvSpPr>
          <p:cNvPr id="7" name="Tape: proposed redesign"/>
          <p:cNvSpPr/>
          <p:nvPr/>
        </p:nvSpPr>
        <p:spPr>
          <a:xfrm rot="120000">
            <a:off x="9402231" y="254000"/>
            <a:ext cx="2383369" cy="317500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625"/>
              </a:lnSpc>
            </a:pPr>
            <a:r>
              <a:rPr sz="1300" b="1" spc="182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PROPOSED REDESIGN</a:t>
            </a:r>
          </a:p>
        </p:txBody>
      </p:sp>
      <p:sp>
        <p:nvSpPr>
          <p:cNvPr id="8" name="Header"/>
          <p:cNvSpPr txBox="1"/>
          <p:nvPr/>
        </p:nvSpPr>
        <p:spPr>
          <a:xfrm>
            <a:off x="698500" y="603250"/>
            <a:ext cx="9910762" cy="5699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048"/>
              </a:lnSpc>
            </a:pPr>
            <a:r>
              <a:rPr sz="4400" b="0">
                <a:solidFill>
                  <a:srgbClr val="F4ECDD"/>
                </a:solidFill>
                <a:effectLst>
                  <a:outerShdw blurRad="0" dist="38100" dir="5400000" algn="tl" rotWithShape="0">
                    <a:srgbClr val="000000">
                      <a:alpha val="40000"/>
                    </a:srgbClr>
                  </a:outerShdw>
                </a:effectLst>
                <a:latin typeface="Archivo Condensed"/>
                <a:ea typeface="Archivo Condensed"/>
                <a:cs typeface="Archivo Condensed"/>
              </a:rPr>
              <a:t>02 · CONTROLLED DECISION AUTHORITY</a:t>
            </a:r>
          </a:p>
        </p:txBody>
      </p:sp>
      <p:sp>
        <p:nvSpPr>
          <p:cNvPr id="9" name="Header target"/>
          <p:cNvSpPr txBox="1"/>
          <p:nvPr/>
        </p:nvSpPr>
        <p:spPr>
          <a:xfrm>
            <a:off x="698500" y="1206500"/>
            <a:ext cx="76200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4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TARGET </a:t>
            </a:r>
            <a:r>
              <a:rPr sz="1400" b="0">
                <a:solidFill>
                  <a:srgbClr val="F4ECDD"/>
                </a:solidFill>
                <a:latin typeface="Arial"/>
                <a:ea typeface="Arial"/>
                <a:cs typeface="Arial"/>
              </a:rPr>
              <a:t>→ </a:t>
            </a:r>
            <a:r>
              <a:rPr sz="1400" b="1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Autonomy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" y="1524000"/>
            <a:ext cx="4717807" cy="206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95"/>
              </a:lnSpc>
            </a:pPr>
            <a:r>
              <a:rPr sz="1300" b="0" spc="182">
                <a:solidFill>
                  <a:srgbClr val="793A14"/>
                </a:solidFill>
                <a:latin typeface="Archivo Label"/>
                <a:ea typeface="Archivo Label"/>
                <a:cs typeface="Archivo Label"/>
              </a:rPr>
              <a:t>CURRENT · ROUTINE ISSUES ESCALATE</a:t>
            </a:r>
          </a:p>
        </p:txBody>
      </p:sp>
      <p:sp>
        <p:nvSpPr>
          <p:cNvPr id="11" name="Current: Customer"/>
          <p:cNvSpPr/>
          <p:nvPr/>
        </p:nvSpPr>
        <p:spPr>
          <a:xfrm rot="21540000">
            <a:off x="698500" y="1809750"/>
            <a:ext cx="1397000" cy="533400"/>
          </a:xfrm>
          <a:prstGeom prst="rect">
            <a:avLst/>
          </a:prstGeom>
          <a:solidFill>
            <a:srgbClr val="F4ECDD">
              <a:alpha val="25000"/>
            </a:srgbClr>
          </a:solidFill>
          <a:ln>
            <a:noFill/>
          </a:ln>
          <a:effectLst>
            <a:outerShdw blurRad="0" dist="63500" dir="3187806" algn="tl" rotWithShape="0">
              <a:srgbClr val="000000">
                <a:alpha val="1375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050" b="0">
                <a:solidFill>
                  <a:srgbClr val="BAB2AA"/>
                </a:solidFill>
                <a:latin typeface="Archivo Expanded"/>
                <a:ea typeface="Archivo Expanded"/>
                <a:cs typeface="Archivo Expanded"/>
              </a:rPr>
              <a:t>CUSTOMER</a:t>
            </a:r>
          </a:p>
        </p:txBody>
      </p:sp>
      <p:sp>
        <p:nvSpPr>
          <p:cNvPr id="12" name="Current: Cashier"/>
          <p:cNvSpPr/>
          <p:nvPr/>
        </p:nvSpPr>
        <p:spPr>
          <a:xfrm rot="60000">
            <a:off x="2336800" y="1809750"/>
            <a:ext cx="1397000" cy="533400"/>
          </a:xfrm>
          <a:prstGeom prst="rect">
            <a:avLst/>
          </a:prstGeom>
          <a:solidFill>
            <a:srgbClr val="F4ECDD">
              <a:alpha val="25000"/>
            </a:srgbClr>
          </a:solidFill>
          <a:ln>
            <a:noFill/>
          </a:ln>
          <a:effectLst>
            <a:outerShdw blurRad="0" dist="63500" dir="3187806" algn="tl" rotWithShape="0">
              <a:srgbClr val="000000">
                <a:alpha val="1375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050" b="0">
                <a:solidFill>
                  <a:srgbClr val="BAB2AA"/>
                </a:solidFill>
                <a:latin typeface="Archivo Expanded"/>
                <a:ea typeface="Archivo Expanded"/>
                <a:cs typeface="Archivo Expanded"/>
              </a:rPr>
              <a:t>CASHIER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3745" y="1949450"/>
            <a:ext cx="197510" cy="243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0">
                <a:solidFill>
                  <a:srgbClr val="6D582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Current: Wait"/>
          <p:cNvSpPr/>
          <p:nvPr/>
        </p:nvSpPr>
        <p:spPr>
          <a:xfrm>
            <a:off x="3975100" y="1809750"/>
            <a:ext cx="1397000" cy="533400"/>
          </a:xfrm>
          <a:prstGeom prst="rect">
            <a:avLst/>
          </a:prstGeom>
          <a:solidFill>
            <a:srgbClr val="FF7A1A">
              <a:alpha val="25000"/>
            </a:srgbClr>
          </a:solidFill>
          <a:ln>
            <a:noFill/>
          </a:ln>
          <a:effectLst>
            <a:outerShdw blurRad="0" dist="63500" dir="3187806" algn="tl" rotWithShape="0">
              <a:srgbClr val="000000">
                <a:alpha val="1375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050" b="0">
                <a:solidFill>
                  <a:srgbClr val="BAB2AA"/>
                </a:solidFill>
                <a:latin typeface="Segoe UI Symbol"/>
                <a:ea typeface="Segoe UI Symbol"/>
                <a:cs typeface="Segoe UI Symbol"/>
              </a:rPr>
              <a:t>◷ </a:t>
            </a:r>
            <a:r>
              <a:rPr sz="1050" b="0">
                <a:solidFill>
                  <a:srgbClr val="BAB2AA"/>
                </a:solidFill>
                <a:latin typeface="Archivo Expanded"/>
                <a:ea typeface="Archivo Expanded"/>
                <a:cs typeface="Archivo Expanded"/>
              </a:rPr>
              <a:t>WAIT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2045" y="1949450"/>
            <a:ext cx="197510" cy="243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0">
                <a:solidFill>
                  <a:srgbClr val="6D582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Current: Supervisor"/>
          <p:cNvSpPr/>
          <p:nvPr/>
        </p:nvSpPr>
        <p:spPr>
          <a:xfrm rot="21540000">
            <a:off x="5613400" y="1809750"/>
            <a:ext cx="1397000" cy="533400"/>
          </a:xfrm>
          <a:prstGeom prst="rect">
            <a:avLst/>
          </a:prstGeom>
          <a:solidFill>
            <a:srgbClr val="8A4DFF">
              <a:alpha val="25000"/>
            </a:srgbClr>
          </a:solidFill>
          <a:ln>
            <a:noFill/>
          </a:ln>
          <a:effectLst>
            <a:outerShdw blurRad="0" dist="63500" dir="3187806" algn="tl" rotWithShape="0">
              <a:srgbClr val="000000">
                <a:alpha val="1375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050" b="0">
                <a:solidFill>
                  <a:srgbClr val="454043"/>
                </a:solidFill>
                <a:latin typeface="Archivo Expanded"/>
                <a:ea typeface="Archivo Expanded"/>
                <a:cs typeface="Archivo Expanded"/>
              </a:rPr>
              <a:t>SUPERVISOR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345" y="1949450"/>
            <a:ext cx="197510" cy="243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0">
                <a:solidFill>
                  <a:srgbClr val="6D582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Current: Decision"/>
          <p:cNvSpPr/>
          <p:nvPr/>
        </p:nvSpPr>
        <p:spPr>
          <a:xfrm rot="60000">
            <a:off x="7251700" y="1809750"/>
            <a:ext cx="1397000" cy="533400"/>
          </a:xfrm>
          <a:prstGeom prst="rect">
            <a:avLst/>
          </a:prstGeom>
          <a:solidFill>
            <a:srgbClr val="8A4DFF">
              <a:alpha val="25000"/>
            </a:srgbClr>
          </a:solidFill>
          <a:ln>
            <a:noFill/>
          </a:ln>
          <a:effectLst>
            <a:outerShdw blurRad="0" dist="63500" dir="3187806" algn="tl" rotWithShape="0">
              <a:srgbClr val="000000">
                <a:alpha val="1375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050" b="0">
                <a:solidFill>
                  <a:srgbClr val="454043"/>
                </a:solidFill>
                <a:latin typeface="Archivo Expanded"/>
                <a:ea typeface="Archivo Expanded"/>
                <a:cs typeface="Archivo Expanded"/>
              </a:rP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8645" y="1949450"/>
            <a:ext cx="197510" cy="243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0">
                <a:solidFill>
                  <a:srgbClr val="6D582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Current: Cashier"/>
          <p:cNvSpPr/>
          <p:nvPr/>
        </p:nvSpPr>
        <p:spPr>
          <a:xfrm>
            <a:off x="8890000" y="1809750"/>
            <a:ext cx="1397000" cy="533400"/>
          </a:xfrm>
          <a:prstGeom prst="rect">
            <a:avLst/>
          </a:prstGeom>
          <a:solidFill>
            <a:srgbClr val="F4ECDD">
              <a:alpha val="25000"/>
            </a:srgbClr>
          </a:solidFill>
          <a:ln>
            <a:noFill/>
          </a:ln>
          <a:effectLst>
            <a:outerShdw blurRad="0" dist="63500" dir="3187806" algn="tl" rotWithShape="0">
              <a:srgbClr val="000000">
                <a:alpha val="1375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050" b="0">
                <a:solidFill>
                  <a:srgbClr val="BAB2AA"/>
                </a:solidFill>
                <a:latin typeface="Archivo Expanded"/>
                <a:ea typeface="Archivo Expanded"/>
                <a:cs typeface="Archivo Expanded"/>
              </a:rPr>
              <a:t>CASHIER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6945" y="1949450"/>
            <a:ext cx="197510" cy="243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0">
                <a:solidFill>
                  <a:srgbClr val="6D582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Current: Customer"/>
          <p:cNvSpPr/>
          <p:nvPr/>
        </p:nvSpPr>
        <p:spPr>
          <a:xfrm rot="21540000">
            <a:off x="10528300" y="1809750"/>
            <a:ext cx="1397000" cy="533400"/>
          </a:xfrm>
          <a:prstGeom prst="rect">
            <a:avLst/>
          </a:prstGeom>
          <a:solidFill>
            <a:srgbClr val="F4ECDD">
              <a:alpha val="25000"/>
            </a:srgbClr>
          </a:solidFill>
          <a:ln>
            <a:noFill/>
          </a:ln>
          <a:effectLst>
            <a:outerShdw blurRad="0" dist="63500" dir="3187806" algn="tl" rotWithShape="0">
              <a:srgbClr val="000000">
                <a:alpha val="1375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050" b="0">
                <a:solidFill>
                  <a:srgbClr val="BAB2AA"/>
                </a:solidFill>
                <a:latin typeface="Archivo Expanded"/>
                <a:ea typeface="Archivo Expanded"/>
                <a:cs typeface="Archivo Expanded"/>
              </a:rPr>
              <a:t>CUSTOMER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5245" y="1949450"/>
            <a:ext cx="197510" cy="243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0">
                <a:solidFill>
                  <a:srgbClr val="6D582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500" y="2489200"/>
            <a:ext cx="536654" cy="2057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QUEUE</a:t>
            </a:r>
          </a:p>
        </p:txBody>
      </p:sp>
      <p:sp>
        <p:nvSpPr>
          <p:cNvPr id="25" name="Queue dot"/>
          <p:cNvSpPr/>
          <p:nvPr/>
        </p:nvSpPr>
        <p:spPr>
          <a:xfrm>
            <a:off x="1333500" y="2508250"/>
            <a:ext cx="139700" cy="139700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Queue dot"/>
          <p:cNvSpPr/>
          <p:nvPr/>
        </p:nvSpPr>
        <p:spPr>
          <a:xfrm>
            <a:off x="1536700" y="2508250"/>
            <a:ext cx="139700" cy="139700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98500" y="2984500"/>
            <a:ext cx="6388672" cy="206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95"/>
              </a:lnSpc>
            </a:pPr>
            <a:r>
              <a:rPr sz="1300" b="0" spc="182">
                <a:solidFill>
                  <a:srgbClr val="FFD23F"/>
                </a:solidFill>
                <a:latin typeface="Archivo Label"/>
                <a:ea typeface="Archivo Label"/>
                <a:cs typeface="Archivo Label"/>
              </a:rPr>
              <a:t>PROPOSED · PREDEFINED LOW-RISK ROUTINE ISSUES</a:t>
            </a:r>
          </a:p>
        </p:txBody>
      </p:sp>
      <p:sp>
        <p:nvSpPr>
          <p:cNvPr id="28" name="Proposed: Customer"/>
          <p:cNvSpPr/>
          <p:nvPr/>
        </p:nvSpPr>
        <p:spPr>
          <a:xfrm rot="21540000">
            <a:off x="698500" y="3270250"/>
            <a:ext cx="1397000" cy="533400"/>
          </a:xfrm>
          <a:prstGeom prst="rect">
            <a:avLst/>
          </a:prstGeom>
          <a:solidFill>
            <a:srgbClr val="F4ECDD"/>
          </a:solidFill>
          <a:ln>
            <a:noFill/>
          </a:ln>
          <a:effectLst>
            <a:outerShdw blurRad="0" dist="63500" dir="3187806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05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CUSTOMER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17395" y="3409950"/>
            <a:ext cx="197510" cy="243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0">
                <a:solidFill>
                  <a:srgbClr val="FFD23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Proposed: Trained cashier"/>
          <p:cNvSpPr/>
          <p:nvPr/>
        </p:nvSpPr>
        <p:spPr>
          <a:xfrm rot="60000">
            <a:off x="2336800" y="3270250"/>
            <a:ext cx="1905000" cy="533400"/>
          </a:xfrm>
          <a:prstGeom prst="rect">
            <a:avLst/>
          </a:prstGeom>
          <a:solidFill>
            <a:srgbClr val="FFD23F"/>
          </a:solidFill>
          <a:ln>
            <a:noFill/>
          </a:ln>
          <a:effectLst>
            <a:outerShdw blurRad="0" dist="63500" dir="3187806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30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TRAINED CASHIER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63695" y="3409950"/>
            <a:ext cx="197510" cy="243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0">
                <a:solidFill>
                  <a:srgbClr val="FFD23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Proposed: Resolved"/>
          <p:cNvSpPr/>
          <p:nvPr/>
        </p:nvSpPr>
        <p:spPr>
          <a:xfrm rot="21540000">
            <a:off x="4483100" y="3270250"/>
            <a:ext cx="1651000" cy="533400"/>
          </a:xfrm>
          <a:prstGeom prst="rect">
            <a:avLst/>
          </a:prstGeom>
          <a:solidFill>
            <a:srgbClr val="F4ECDD"/>
          </a:solidFill>
          <a:ln>
            <a:noFill/>
          </a:ln>
          <a:effectLst>
            <a:outerShdw blurRad="0" dist="63500" dir="3187806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30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RESOLVED </a:t>
            </a:r>
            <a:r>
              <a:rPr sz="1200" b="0">
                <a:solidFill>
                  <a:srgbClr val="3D6B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33" name="Customer problem token"/>
          <p:cNvSpPr/>
          <p:nvPr/>
        </p:nvSpPr>
        <p:spPr>
          <a:xfrm>
            <a:off x="5181600" y="3098800"/>
            <a:ext cx="254000" cy="254000"/>
          </a:xfrm>
          <a:prstGeom prst="ellipse">
            <a:avLst/>
          </a:prstGeom>
          <a:solidFill>
            <a:srgbClr val="FF2E88"/>
          </a:solidFill>
          <a:ln w="25400">
            <a:solidFill>
              <a:srgbClr val="0B061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98500" y="4381500"/>
            <a:ext cx="5734583" cy="206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95"/>
              </a:lnSpc>
            </a:pPr>
            <a:r>
              <a:rPr sz="1300" b="0" spc="182">
                <a:solidFill>
                  <a:srgbClr val="B892FF"/>
                </a:solidFill>
                <a:latin typeface="Archivo Label"/>
                <a:ea typeface="Archivo Label"/>
                <a:cs typeface="Archivo Label"/>
              </a:rPr>
              <a:t>HIGH-RISK EXCEPTIONS · SUPERVISOR RETAINS</a:t>
            </a:r>
          </a:p>
        </p:txBody>
      </p:sp>
      <p:sp>
        <p:nvSpPr>
          <p:cNvPr id="35" name="High-risk path"/>
          <p:cNvSpPr/>
          <p:nvPr/>
        </p:nvSpPr>
        <p:spPr>
          <a:xfrm>
            <a:off x="3175000" y="3803650"/>
            <a:ext cx="38100" cy="863600"/>
          </a:xfrm>
          <a:prstGeom prst="rect">
            <a:avLst/>
          </a:prstGeom>
          <a:solidFill>
            <a:srgbClr val="8A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High-risk: Trained cashier"/>
          <p:cNvSpPr/>
          <p:nvPr/>
        </p:nvSpPr>
        <p:spPr>
          <a:xfrm rot="60000">
            <a:off x="2336800" y="4667250"/>
            <a:ext cx="1905000" cy="533400"/>
          </a:xfrm>
          <a:prstGeom prst="rect">
            <a:avLst/>
          </a:prstGeom>
          <a:solidFill>
            <a:srgbClr val="FFD23F"/>
          </a:solidFill>
          <a:ln>
            <a:noFill/>
          </a:ln>
          <a:effectLst>
            <a:outerShdw blurRad="0" dist="63500" dir="3187806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30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TRAINED CASHIER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63695" y="4806950"/>
            <a:ext cx="197510" cy="243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0">
                <a:solidFill>
                  <a:srgbClr val="FFD23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8" name="High-risk: Supervisor"/>
          <p:cNvSpPr/>
          <p:nvPr/>
        </p:nvSpPr>
        <p:spPr>
          <a:xfrm rot="21540000">
            <a:off x="4483100" y="4667250"/>
            <a:ext cx="1651000" cy="533400"/>
          </a:xfrm>
          <a:prstGeom prst="rect">
            <a:avLst/>
          </a:prstGeom>
          <a:solidFill>
            <a:srgbClr val="8A4DFF"/>
          </a:solidFill>
          <a:ln>
            <a:noFill/>
          </a:ln>
          <a:effectLst>
            <a:outerShdw blurRad="0" dist="63500" dir="3187806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3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SUPERVISOR</a:t>
            </a:r>
          </a:p>
        </p:txBody>
      </p:sp>
      <p:sp>
        <p:nvSpPr>
          <p:cNvPr id="39" name="Supervisor retains: Significant refunds"/>
          <p:cNvSpPr/>
          <p:nvPr/>
        </p:nvSpPr>
        <p:spPr>
          <a:xfrm rot="21540000">
            <a:off x="6413500" y="3556000"/>
            <a:ext cx="3175000" cy="304800"/>
          </a:xfrm>
          <a:prstGeom prst="rect">
            <a:avLst/>
          </a:prstGeom>
          <a:solidFill>
            <a:srgbClr val="F7F1E3"/>
          </a:solidFill>
          <a:ln>
            <a:noFill/>
          </a:ln>
          <a:effectLst>
            <a:outerShdw blurRad="0" dist="49595" dir="3011665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5100" tIns="0" rIns="63500" bIns="0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Significant refunds</a:t>
            </a:r>
          </a:p>
        </p:txBody>
      </p:sp>
      <p:sp>
        <p:nvSpPr>
          <p:cNvPr id="40" name="Tab"/>
          <p:cNvSpPr/>
          <p:nvPr/>
        </p:nvSpPr>
        <p:spPr>
          <a:xfrm rot="21540000">
            <a:off x="6413500" y="3556000"/>
            <a:ext cx="63500" cy="304800"/>
          </a:xfrm>
          <a:prstGeom prst="rect">
            <a:avLst/>
          </a:prstGeom>
          <a:solidFill>
            <a:srgbClr val="8A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Supervisor retains: Discretionary discounts"/>
          <p:cNvSpPr/>
          <p:nvPr/>
        </p:nvSpPr>
        <p:spPr>
          <a:xfrm rot="21540000">
            <a:off x="6413500" y="3924300"/>
            <a:ext cx="3175000" cy="304800"/>
          </a:xfrm>
          <a:prstGeom prst="rect">
            <a:avLst/>
          </a:prstGeom>
          <a:solidFill>
            <a:srgbClr val="F7F1E3"/>
          </a:solidFill>
          <a:ln>
            <a:noFill/>
          </a:ln>
          <a:effectLst>
            <a:outerShdw blurRad="0" dist="49595" dir="3011665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5100" tIns="0" rIns="63500" bIns="0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Discretionary discounts</a:t>
            </a:r>
          </a:p>
        </p:txBody>
      </p:sp>
      <p:sp>
        <p:nvSpPr>
          <p:cNvPr id="42" name="Tab"/>
          <p:cNvSpPr/>
          <p:nvPr/>
        </p:nvSpPr>
        <p:spPr>
          <a:xfrm rot="21540000">
            <a:off x="6413500" y="3924300"/>
            <a:ext cx="63500" cy="304800"/>
          </a:xfrm>
          <a:prstGeom prst="rect">
            <a:avLst/>
          </a:prstGeom>
          <a:solidFill>
            <a:srgbClr val="8A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Supervisor retains: Suspected fraud"/>
          <p:cNvSpPr/>
          <p:nvPr/>
        </p:nvSpPr>
        <p:spPr>
          <a:xfrm rot="21540000">
            <a:off x="6413500" y="4292600"/>
            <a:ext cx="3175000" cy="304800"/>
          </a:xfrm>
          <a:prstGeom prst="rect">
            <a:avLst/>
          </a:prstGeom>
          <a:solidFill>
            <a:srgbClr val="F7F1E3"/>
          </a:solidFill>
          <a:ln>
            <a:noFill/>
          </a:ln>
          <a:effectLst>
            <a:outerShdw blurRad="0" dist="49595" dir="3011665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5100" tIns="0" rIns="63500" bIns="0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Suspected fraud</a:t>
            </a:r>
          </a:p>
        </p:txBody>
      </p:sp>
      <p:sp>
        <p:nvSpPr>
          <p:cNvPr id="44" name="Tab"/>
          <p:cNvSpPr/>
          <p:nvPr/>
        </p:nvSpPr>
        <p:spPr>
          <a:xfrm rot="21540000">
            <a:off x="6413500" y="4292600"/>
            <a:ext cx="63500" cy="304800"/>
          </a:xfrm>
          <a:prstGeom prst="rect">
            <a:avLst/>
          </a:prstGeom>
          <a:solidFill>
            <a:srgbClr val="8A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Supervisor retains: Security issues"/>
          <p:cNvSpPr/>
          <p:nvPr/>
        </p:nvSpPr>
        <p:spPr>
          <a:xfrm rot="21540000">
            <a:off x="6413500" y="4660900"/>
            <a:ext cx="3175000" cy="304800"/>
          </a:xfrm>
          <a:prstGeom prst="rect">
            <a:avLst/>
          </a:prstGeom>
          <a:solidFill>
            <a:srgbClr val="F7F1E3"/>
          </a:solidFill>
          <a:ln>
            <a:noFill/>
          </a:ln>
          <a:effectLst>
            <a:outerShdw blurRad="0" dist="49595" dir="3011665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5100" tIns="0" rIns="63500" bIns="0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Security issues</a:t>
            </a:r>
          </a:p>
        </p:txBody>
      </p:sp>
      <p:sp>
        <p:nvSpPr>
          <p:cNvPr id="46" name="Tab"/>
          <p:cNvSpPr/>
          <p:nvPr/>
        </p:nvSpPr>
        <p:spPr>
          <a:xfrm rot="21540000">
            <a:off x="6413500" y="4660900"/>
            <a:ext cx="63500" cy="304800"/>
          </a:xfrm>
          <a:prstGeom prst="rect">
            <a:avLst/>
          </a:prstGeom>
          <a:solidFill>
            <a:srgbClr val="8A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Supervisor retains: Major price disputes"/>
          <p:cNvSpPr/>
          <p:nvPr/>
        </p:nvSpPr>
        <p:spPr>
          <a:xfrm rot="21540000">
            <a:off x="6413500" y="5029200"/>
            <a:ext cx="3175000" cy="304800"/>
          </a:xfrm>
          <a:prstGeom prst="rect">
            <a:avLst/>
          </a:prstGeom>
          <a:solidFill>
            <a:srgbClr val="F7F1E3"/>
          </a:solidFill>
          <a:ln>
            <a:noFill/>
          </a:ln>
          <a:effectLst>
            <a:outerShdw blurRad="0" dist="49595" dir="3011665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5100" tIns="0" rIns="63500" bIns="0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Major price disputes</a:t>
            </a:r>
          </a:p>
        </p:txBody>
      </p:sp>
      <p:sp>
        <p:nvSpPr>
          <p:cNvPr id="48" name="Tab"/>
          <p:cNvSpPr/>
          <p:nvPr/>
        </p:nvSpPr>
        <p:spPr>
          <a:xfrm rot="21540000">
            <a:off x="6413500" y="5029200"/>
            <a:ext cx="63500" cy="304800"/>
          </a:xfrm>
          <a:prstGeom prst="rect">
            <a:avLst/>
          </a:prstGeom>
          <a:solidFill>
            <a:srgbClr val="8A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Supervisor retains: Unusual exceptions"/>
          <p:cNvSpPr/>
          <p:nvPr/>
        </p:nvSpPr>
        <p:spPr>
          <a:xfrm rot="21540000">
            <a:off x="6413500" y="5397500"/>
            <a:ext cx="3175000" cy="304800"/>
          </a:xfrm>
          <a:prstGeom prst="rect">
            <a:avLst/>
          </a:prstGeom>
          <a:solidFill>
            <a:srgbClr val="F7F1E3"/>
          </a:solidFill>
          <a:ln>
            <a:noFill/>
          </a:ln>
          <a:effectLst>
            <a:outerShdw blurRad="0" dist="49595" dir="3011665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5100" tIns="0" rIns="63500" bIns="0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Unusual exceptions</a:t>
            </a:r>
          </a:p>
        </p:txBody>
      </p:sp>
      <p:sp>
        <p:nvSpPr>
          <p:cNvPr id="50" name="Tab"/>
          <p:cNvSpPr/>
          <p:nvPr/>
        </p:nvSpPr>
        <p:spPr>
          <a:xfrm rot="21540000">
            <a:off x="6413500" y="5397500"/>
            <a:ext cx="63500" cy="304800"/>
          </a:xfrm>
          <a:prstGeom prst="rect">
            <a:avLst/>
          </a:prstGeom>
          <a:solidFill>
            <a:srgbClr val="8A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1" name="Supervisor (A10, torn)" descr="torn_a10_su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9906000" y="3302000"/>
            <a:ext cx="1905000" cy="2540000"/>
          </a:xfrm>
          <a:prstGeom prst="rect">
            <a:avLst/>
          </a:prstGeom>
          <a:effectLst>
            <a:outerShdw blurRad="0" dist="109249" dir="3267739" algn="tl" rotWithShape="0">
              <a:srgbClr val="000000">
                <a:alpha val="45000"/>
              </a:srgbClr>
            </a:outerShdw>
          </a:effectLst>
        </p:spPr>
      </p:pic>
      <p:sp>
        <p:nvSpPr>
          <p:cNvPr id="52" name="TextBox 51"/>
          <p:cNvSpPr txBox="1"/>
          <p:nvPr/>
        </p:nvSpPr>
        <p:spPr>
          <a:xfrm>
            <a:off x="406400" y="6464300"/>
            <a:ext cx="9004014" cy="2057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0">
                <a:solidFill>
                  <a:srgbClr val="C5BEB4"/>
                </a:solidFill>
                <a:latin typeface="JetBrains Mono"/>
                <a:ea typeface="JetBrains Mono"/>
                <a:cs typeface="JetBrains Mono"/>
              </a:rPr>
              <a:t>Proposed design principle — exact permissions &amp; any thresholds would be defined by management.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6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 A05 (queue)" descr="a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hoto d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Shad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0610">
                  <a:alpha val="60000"/>
                </a:srgbClr>
              </a:gs>
              <a:gs pos="100000">
                <a:srgbClr val="0B0610">
                  <a:alpha val="85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Texture: film grain" descr="grain.png"/>
          <p:cNvPicPr>
            <a:picLocks noChangeAspect="1" noSel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VI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REDESIGN</a:t>
            </a:r>
          </a:p>
        </p:txBody>
      </p:sp>
      <p:sp>
        <p:nvSpPr>
          <p:cNvPr id="7" name="Tape: proposed redesign"/>
          <p:cNvSpPr/>
          <p:nvPr/>
        </p:nvSpPr>
        <p:spPr>
          <a:xfrm rot="120000">
            <a:off x="9402231" y="254000"/>
            <a:ext cx="2383369" cy="317500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625"/>
              </a:lnSpc>
            </a:pPr>
            <a:r>
              <a:rPr sz="1300" b="1" spc="182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PROPOSED REDESIGN</a:t>
            </a:r>
          </a:p>
        </p:txBody>
      </p:sp>
      <p:sp>
        <p:nvSpPr>
          <p:cNvPr id="8" name="Header"/>
          <p:cNvSpPr txBox="1"/>
          <p:nvPr/>
        </p:nvSpPr>
        <p:spPr>
          <a:xfrm>
            <a:off x="698500" y="603250"/>
            <a:ext cx="9910762" cy="5699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048"/>
              </a:lnSpc>
            </a:pPr>
            <a:r>
              <a:rPr sz="4400" b="0">
                <a:solidFill>
                  <a:srgbClr val="F4ECDD"/>
                </a:solidFill>
                <a:effectLst>
                  <a:outerShdw blurRad="0" dist="38100" dir="5400000" algn="tl" rotWithShape="0">
                    <a:srgbClr val="000000">
                      <a:alpha val="40000"/>
                    </a:srgbClr>
                  </a:outerShdw>
                </a:effectLst>
                <a:latin typeface="Archivo Condensed"/>
                <a:ea typeface="Archivo Condensed"/>
                <a:cs typeface="Archivo Condensed"/>
              </a:rPr>
              <a:t>02 · CONTROLLED DECISION AUTHORITY</a:t>
            </a:r>
          </a:p>
        </p:txBody>
      </p:sp>
      <p:sp>
        <p:nvSpPr>
          <p:cNvPr id="9" name="Header target"/>
          <p:cNvSpPr txBox="1"/>
          <p:nvPr/>
        </p:nvSpPr>
        <p:spPr>
          <a:xfrm>
            <a:off x="698500" y="1206500"/>
            <a:ext cx="76200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4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TARGET </a:t>
            </a:r>
            <a:r>
              <a:rPr sz="1400" b="0">
                <a:solidFill>
                  <a:srgbClr val="F4ECDD"/>
                </a:solidFill>
                <a:latin typeface="Arial"/>
                <a:ea typeface="Arial"/>
                <a:cs typeface="Arial"/>
              </a:rPr>
              <a:t>→ </a:t>
            </a:r>
            <a:r>
              <a:rPr sz="1400" b="1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Autonomy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" y="1524000"/>
            <a:ext cx="4717807" cy="206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95"/>
              </a:lnSpc>
            </a:pPr>
            <a:r>
              <a:rPr sz="1300" b="0" spc="182">
                <a:solidFill>
                  <a:srgbClr val="793A14"/>
                </a:solidFill>
                <a:latin typeface="Archivo Label"/>
                <a:ea typeface="Archivo Label"/>
                <a:cs typeface="Archivo Label"/>
              </a:rPr>
              <a:t>CURRENT · ROUTINE ISSUES ESCALATE</a:t>
            </a:r>
          </a:p>
        </p:txBody>
      </p:sp>
      <p:sp>
        <p:nvSpPr>
          <p:cNvPr id="11" name="Current: Customer"/>
          <p:cNvSpPr/>
          <p:nvPr/>
        </p:nvSpPr>
        <p:spPr>
          <a:xfrm rot="21540000">
            <a:off x="698500" y="1809750"/>
            <a:ext cx="1397000" cy="533400"/>
          </a:xfrm>
          <a:prstGeom prst="rect">
            <a:avLst/>
          </a:prstGeom>
          <a:solidFill>
            <a:srgbClr val="F4ECDD">
              <a:alpha val="25000"/>
            </a:srgbClr>
          </a:solidFill>
          <a:ln>
            <a:noFill/>
          </a:ln>
          <a:effectLst>
            <a:outerShdw blurRad="0" dist="63500" dir="3187806" algn="tl" rotWithShape="0">
              <a:srgbClr val="000000">
                <a:alpha val="1375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050" b="0">
                <a:solidFill>
                  <a:srgbClr val="BAB2AA"/>
                </a:solidFill>
                <a:latin typeface="Archivo Expanded"/>
                <a:ea typeface="Archivo Expanded"/>
                <a:cs typeface="Archivo Expanded"/>
              </a:rPr>
              <a:t>CUSTOMER</a:t>
            </a:r>
          </a:p>
        </p:txBody>
      </p:sp>
      <p:sp>
        <p:nvSpPr>
          <p:cNvPr id="12" name="Current: Cashier"/>
          <p:cNvSpPr/>
          <p:nvPr/>
        </p:nvSpPr>
        <p:spPr>
          <a:xfrm rot="60000">
            <a:off x="2336800" y="1809750"/>
            <a:ext cx="1397000" cy="533400"/>
          </a:xfrm>
          <a:prstGeom prst="rect">
            <a:avLst/>
          </a:prstGeom>
          <a:solidFill>
            <a:srgbClr val="F4ECDD">
              <a:alpha val="25000"/>
            </a:srgbClr>
          </a:solidFill>
          <a:ln>
            <a:noFill/>
          </a:ln>
          <a:effectLst>
            <a:outerShdw blurRad="0" dist="63500" dir="3187806" algn="tl" rotWithShape="0">
              <a:srgbClr val="000000">
                <a:alpha val="1375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050" b="0">
                <a:solidFill>
                  <a:srgbClr val="BAB2AA"/>
                </a:solidFill>
                <a:latin typeface="Archivo Expanded"/>
                <a:ea typeface="Archivo Expanded"/>
                <a:cs typeface="Archivo Expanded"/>
              </a:rPr>
              <a:t>CASHIER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3745" y="1949450"/>
            <a:ext cx="197510" cy="243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0">
                <a:solidFill>
                  <a:srgbClr val="6D582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Current: Wait"/>
          <p:cNvSpPr/>
          <p:nvPr/>
        </p:nvSpPr>
        <p:spPr>
          <a:xfrm>
            <a:off x="3975100" y="1809750"/>
            <a:ext cx="1397000" cy="533400"/>
          </a:xfrm>
          <a:prstGeom prst="rect">
            <a:avLst/>
          </a:prstGeom>
          <a:solidFill>
            <a:srgbClr val="FF7A1A">
              <a:alpha val="25000"/>
            </a:srgbClr>
          </a:solidFill>
          <a:ln>
            <a:noFill/>
          </a:ln>
          <a:effectLst>
            <a:outerShdw blurRad="0" dist="63500" dir="3187806" algn="tl" rotWithShape="0">
              <a:srgbClr val="000000">
                <a:alpha val="1375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050" b="0">
                <a:solidFill>
                  <a:srgbClr val="BAB2AA"/>
                </a:solidFill>
                <a:latin typeface="Segoe UI Symbol"/>
                <a:ea typeface="Segoe UI Symbol"/>
                <a:cs typeface="Segoe UI Symbol"/>
              </a:rPr>
              <a:t>◷ </a:t>
            </a:r>
            <a:r>
              <a:rPr sz="1050" b="0">
                <a:solidFill>
                  <a:srgbClr val="BAB2AA"/>
                </a:solidFill>
                <a:latin typeface="Archivo Expanded"/>
                <a:ea typeface="Archivo Expanded"/>
                <a:cs typeface="Archivo Expanded"/>
              </a:rPr>
              <a:t>WAIT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2045" y="1949450"/>
            <a:ext cx="197510" cy="243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0">
                <a:solidFill>
                  <a:srgbClr val="6D582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Current: Supervisor"/>
          <p:cNvSpPr/>
          <p:nvPr/>
        </p:nvSpPr>
        <p:spPr>
          <a:xfrm rot="21540000">
            <a:off x="5613400" y="1809750"/>
            <a:ext cx="1397000" cy="533400"/>
          </a:xfrm>
          <a:prstGeom prst="rect">
            <a:avLst/>
          </a:prstGeom>
          <a:solidFill>
            <a:srgbClr val="8A4DFF">
              <a:alpha val="25000"/>
            </a:srgbClr>
          </a:solidFill>
          <a:ln>
            <a:noFill/>
          </a:ln>
          <a:effectLst>
            <a:outerShdw blurRad="0" dist="63500" dir="3187806" algn="tl" rotWithShape="0">
              <a:srgbClr val="000000">
                <a:alpha val="1375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050" b="0">
                <a:solidFill>
                  <a:srgbClr val="454043"/>
                </a:solidFill>
                <a:latin typeface="Archivo Expanded"/>
                <a:ea typeface="Archivo Expanded"/>
                <a:cs typeface="Archivo Expanded"/>
              </a:rPr>
              <a:t>SUPERVISOR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345" y="1949450"/>
            <a:ext cx="197510" cy="243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0">
                <a:solidFill>
                  <a:srgbClr val="6D582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Current: Decision"/>
          <p:cNvSpPr/>
          <p:nvPr/>
        </p:nvSpPr>
        <p:spPr>
          <a:xfrm rot="60000">
            <a:off x="7251700" y="1809750"/>
            <a:ext cx="1397000" cy="533400"/>
          </a:xfrm>
          <a:prstGeom prst="rect">
            <a:avLst/>
          </a:prstGeom>
          <a:solidFill>
            <a:srgbClr val="8A4DFF">
              <a:alpha val="25000"/>
            </a:srgbClr>
          </a:solidFill>
          <a:ln>
            <a:noFill/>
          </a:ln>
          <a:effectLst>
            <a:outerShdw blurRad="0" dist="63500" dir="3187806" algn="tl" rotWithShape="0">
              <a:srgbClr val="000000">
                <a:alpha val="1375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050" b="0">
                <a:solidFill>
                  <a:srgbClr val="454043"/>
                </a:solidFill>
                <a:latin typeface="Archivo Expanded"/>
                <a:ea typeface="Archivo Expanded"/>
                <a:cs typeface="Archivo Expanded"/>
              </a:rP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8645" y="1949450"/>
            <a:ext cx="197510" cy="243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0">
                <a:solidFill>
                  <a:srgbClr val="6D582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Current: Cashier"/>
          <p:cNvSpPr/>
          <p:nvPr/>
        </p:nvSpPr>
        <p:spPr>
          <a:xfrm>
            <a:off x="8890000" y="1809750"/>
            <a:ext cx="1397000" cy="533400"/>
          </a:xfrm>
          <a:prstGeom prst="rect">
            <a:avLst/>
          </a:prstGeom>
          <a:solidFill>
            <a:srgbClr val="F4ECDD">
              <a:alpha val="25000"/>
            </a:srgbClr>
          </a:solidFill>
          <a:ln>
            <a:noFill/>
          </a:ln>
          <a:effectLst>
            <a:outerShdw blurRad="0" dist="63500" dir="3187806" algn="tl" rotWithShape="0">
              <a:srgbClr val="000000">
                <a:alpha val="1375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050" b="0">
                <a:solidFill>
                  <a:srgbClr val="BAB2AA"/>
                </a:solidFill>
                <a:latin typeface="Archivo Expanded"/>
                <a:ea typeface="Archivo Expanded"/>
                <a:cs typeface="Archivo Expanded"/>
              </a:rPr>
              <a:t>CASHIER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6945" y="1949450"/>
            <a:ext cx="197510" cy="243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0">
                <a:solidFill>
                  <a:srgbClr val="6D582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Current: Customer"/>
          <p:cNvSpPr/>
          <p:nvPr/>
        </p:nvSpPr>
        <p:spPr>
          <a:xfrm rot="21540000">
            <a:off x="10528300" y="1809750"/>
            <a:ext cx="1397000" cy="533400"/>
          </a:xfrm>
          <a:prstGeom prst="rect">
            <a:avLst/>
          </a:prstGeom>
          <a:solidFill>
            <a:srgbClr val="F4ECDD">
              <a:alpha val="25000"/>
            </a:srgbClr>
          </a:solidFill>
          <a:ln>
            <a:noFill/>
          </a:ln>
          <a:effectLst>
            <a:outerShdw blurRad="0" dist="63500" dir="3187806" algn="tl" rotWithShape="0">
              <a:srgbClr val="000000">
                <a:alpha val="1375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050" b="0">
                <a:solidFill>
                  <a:srgbClr val="BAB2AA"/>
                </a:solidFill>
                <a:latin typeface="Archivo Expanded"/>
                <a:ea typeface="Archivo Expanded"/>
                <a:cs typeface="Archivo Expanded"/>
              </a:rPr>
              <a:t>CUSTOMER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5245" y="1949450"/>
            <a:ext cx="197510" cy="243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0">
                <a:solidFill>
                  <a:srgbClr val="6D582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500" y="2489200"/>
            <a:ext cx="536654" cy="2057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QUEUE</a:t>
            </a:r>
          </a:p>
        </p:txBody>
      </p:sp>
      <p:sp>
        <p:nvSpPr>
          <p:cNvPr id="25" name="Queue dot"/>
          <p:cNvSpPr/>
          <p:nvPr/>
        </p:nvSpPr>
        <p:spPr>
          <a:xfrm>
            <a:off x="1333500" y="2508250"/>
            <a:ext cx="139700" cy="139700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Queue dot"/>
          <p:cNvSpPr/>
          <p:nvPr/>
        </p:nvSpPr>
        <p:spPr>
          <a:xfrm>
            <a:off x="1536700" y="2508250"/>
            <a:ext cx="139700" cy="139700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98500" y="2984500"/>
            <a:ext cx="6388672" cy="206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95"/>
              </a:lnSpc>
            </a:pPr>
            <a:r>
              <a:rPr sz="1300" b="0" spc="182">
                <a:solidFill>
                  <a:srgbClr val="FFD23F"/>
                </a:solidFill>
                <a:latin typeface="Archivo Label"/>
                <a:ea typeface="Archivo Label"/>
                <a:cs typeface="Archivo Label"/>
              </a:rPr>
              <a:t>PROPOSED · PREDEFINED LOW-RISK ROUTINE ISSUES</a:t>
            </a:r>
          </a:p>
        </p:txBody>
      </p:sp>
      <p:sp>
        <p:nvSpPr>
          <p:cNvPr id="28" name="Proposed: Customer"/>
          <p:cNvSpPr/>
          <p:nvPr/>
        </p:nvSpPr>
        <p:spPr>
          <a:xfrm rot="21540000">
            <a:off x="698500" y="3270250"/>
            <a:ext cx="1397000" cy="533400"/>
          </a:xfrm>
          <a:prstGeom prst="rect">
            <a:avLst/>
          </a:prstGeom>
          <a:solidFill>
            <a:srgbClr val="F4ECDD"/>
          </a:solidFill>
          <a:ln>
            <a:noFill/>
          </a:ln>
          <a:effectLst>
            <a:outerShdw blurRad="0" dist="63500" dir="3187806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05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CUSTOMER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17395" y="3409950"/>
            <a:ext cx="197510" cy="243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0">
                <a:solidFill>
                  <a:srgbClr val="FFD23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Proposed: Trained cashier"/>
          <p:cNvSpPr/>
          <p:nvPr/>
        </p:nvSpPr>
        <p:spPr>
          <a:xfrm rot="60000">
            <a:off x="2336800" y="3270250"/>
            <a:ext cx="1905000" cy="533400"/>
          </a:xfrm>
          <a:prstGeom prst="rect">
            <a:avLst/>
          </a:prstGeom>
          <a:solidFill>
            <a:srgbClr val="FFD23F"/>
          </a:solidFill>
          <a:ln>
            <a:noFill/>
          </a:ln>
          <a:effectLst>
            <a:outerShdw blurRad="0" dist="63500" dir="3187806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30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TRAINED CASHIER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63695" y="3409950"/>
            <a:ext cx="197510" cy="243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0">
                <a:solidFill>
                  <a:srgbClr val="FFD23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Proposed: Resolved"/>
          <p:cNvSpPr/>
          <p:nvPr/>
        </p:nvSpPr>
        <p:spPr>
          <a:xfrm rot="21540000">
            <a:off x="4483100" y="3270250"/>
            <a:ext cx="1651000" cy="533400"/>
          </a:xfrm>
          <a:prstGeom prst="rect">
            <a:avLst/>
          </a:prstGeom>
          <a:solidFill>
            <a:srgbClr val="F4ECDD"/>
          </a:solidFill>
          <a:ln>
            <a:noFill/>
          </a:ln>
          <a:effectLst>
            <a:outerShdw blurRad="0" dist="63500" dir="3187806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30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RESOLVED </a:t>
            </a:r>
            <a:r>
              <a:rPr sz="1200" b="0">
                <a:solidFill>
                  <a:srgbClr val="3D6B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33" name="Customer problem token"/>
          <p:cNvSpPr/>
          <p:nvPr/>
        </p:nvSpPr>
        <p:spPr>
          <a:xfrm>
            <a:off x="5181600" y="3098800"/>
            <a:ext cx="254000" cy="254000"/>
          </a:xfrm>
          <a:prstGeom prst="ellipse">
            <a:avLst/>
          </a:prstGeom>
          <a:solidFill>
            <a:srgbClr val="FF2E88"/>
          </a:solidFill>
          <a:ln w="25400">
            <a:solidFill>
              <a:srgbClr val="0B061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98500" y="4381500"/>
            <a:ext cx="5734583" cy="206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95"/>
              </a:lnSpc>
            </a:pPr>
            <a:r>
              <a:rPr sz="1300" b="0" spc="182">
                <a:solidFill>
                  <a:srgbClr val="B892FF"/>
                </a:solidFill>
                <a:latin typeface="Archivo Label"/>
                <a:ea typeface="Archivo Label"/>
                <a:cs typeface="Archivo Label"/>
              </a:rPr>
              <a:t>HIGH-RISK EXCEPTIONS · SUPERVISOR RETAINS</a:t>
            </a:r>
          </a:p>
        </p:txBody>
      </p:sp>
      <p:sp>
        <p:nvSpPr>
          <p:cNvPr id="35" name="High-risk path"/>
          <p:cNvSpPr/>
          <p:nvPr/>
        </p:nvSpPr>
        <p:spPr>
          <a:xfrm>
            <a:off x="3175000" y="3803650"/>
            <a:ext cx="38100" cy="863600"/>
          </a:xfrm>
          <a:prstGeom prst="rect">
            <a:avLst/>
          </a:prstGeom>
          <a:solidFill>
            <a:srgbClr val="8A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High-risk: Trained cashier"/>
          <p:cNvSpPr/>
          <p:nvPr/>
        </p:nvSpPr>
        <p:spPr>
          <a:xfrm rot="60000">
            <a:off x="2336800" y="4667250"/>
            <a:ext cx="1905000" cy="533400"/>
          </a:xfrm>
          <a:prstGeom prst="rect">
            <a:avLst/>
          </a:prstGeom>
          <a:solidFill>
            <a:srgbClr val="FFD23F"/>
          </a:solidFill>
          <a:ln>
            <a:noFill/>
          </a:ln>
          <a:effectLst>
            <a:outerShdw blurRad="0" dist="63500" dir="3187806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30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TRAINED CASHIER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63695" y="4806950"/>
            <a:ext cx="197510" cy="2438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0">
                <a:solidFill>
                  <a:srgbClr val="FFD23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8" name="High-risk: Supervisor"/>
          <p:cNvSpPr/>
          <p:nvPr/>
        </p:nvSpPr>
        <p:spPr>
          <a:xfrm rot="21540000">
            <a:off x="4483100" y="4667250"/>
            <a:ext cx="1651000" cy="533400"/>
          </a:xfrm>
          <a:prstGeom prst="rect">
            <a:avLst/>
          </a:prstGeom>
          <a:solidFill>
            <a:srgbClr val="8A4DFF"/>
          </a:solidFill>
          <a:ln>
            <a:noFill/>
          </a:ln>
          <a:effectLst>
            <a:outerShdw blurRad="0" dist="63500" dir="3187806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400"/>
              </a:lnSpc>
            </a:pPr>
            <a:r>
              <a:rPr sz="13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SUPERVISOR</a:t>
            </a:r>
          </a:p>
        </p:txBody>
      </p:sp>
      <p:sp>
        <p:nvSpPr>
          <p:cNvPr id="39" name="Supervisor retains: Significant refunds"/>
          <p:cNvSpPr/>
          <p:nvPr/>
        </p:nvSpPr>
        <p:spPr>
          <a:xfrm rot="21540000">
            <a:off x="6413500" y="3556000"/>
            <a:ext cx="3175000" cy="304800"/>
          </a:xfrm>
          <a:prstGeom prst="rect">
            <a:avLst/>
          </a:prstGeom>
          <a:solidFill>
            <a:srgbClr val="F7F1E3"/>
          </a:solidFill>
          <a:ln>
            <a:noFill/>
          </a:ln>
          <a:effectLst>
            <a:outerShdw blurRad="0" dist="49595" dir="3011665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5100" tIns="0" rIns="63500" bIns="0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Significant refunds</a:t>
            </a:r>
          </a:p>
        </p:txBody>
      </p:sp>
      <p:sp>
        <p:nvSpPr>
          <p:cNvPr id="40" name="Tab"/>
          <p:cNvSpPr/>
          <p:nvPr/>
        </p:nvSpPr>
        <p:spPr>
          <a:xfrm rot="21540000">
            <a:off x="6413500" y="3556000"/>
            <a:ext cx="63500" cy="304800"/>
          </a:xfrm>
          <a:prstGeom prst="rect">
            <a:avLst/>
          </a:prstGeom>
          <a:solidFill>
            <a:srgbClr val="8A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Supervisor retains: Discretionary discounts"/>
          <p:cNvSpPr/>
          <p:nvPr/>
        </p:nvSpPr>
        <p:spPr>
          <a:xfrm rot="21540000">
            <a:off x="6413500" y="3924300"/>
            <a:ext cx="3175000" cy="304800"/>
          </a:xfrm>
          <a:prstGeom prst="rect">
            <a:avLst/>
          </a:prstGeom>
          <a:solidFill>
            <a:srgbClr val="F7F1E3"/>
          </a:solidFill>
          <a:ln>
            <a:noFill/>
          </a:ln>
          <a:effectLst>
            <a:outerShdw blurRad="0" dist="49595" dir="3011665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5100" tIns="0" rIns="63500" bIns="0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Discretionary discounts</a:t>
            </a:r>
          </a:p>
        </p:txBody>
      </p:sp>
      <p:sp>
        <p:nvSpPr>
          <p:cNvPr id="42" name="Tab"/>
          <p:cNvSpPr/>
          <p:nvPr/>
        </p:nvSpPr>
        <p:spPr>
          <a:xfrm rot="21540000">
            <a:off x="6413500" y="3924300"/>
            <a:ext cx="63500" cy="304800"/>
          </a:xfrm>
          <a:prstGeom prst="rect">
            <a:avLst/>
          </a:prstGeom>
          <a:solidFill>
            <a:srgbClr val="8A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Supervisor retains: Suspected fraud"/>
          <p:cNvSpPr/>
          <p:nvPr/>
        </p:nvSpPr>
        <p:spPr>
          <a:xfrm rot="21540000">
            <a:off x="6413500" y="4292600"/>
            <a:ext cx="3175000" cy="304800"/>
          </a:xfrm>
          <a:prstGeom prst="rect">
            <a:avLst/>
          </a:prstGeom>
          <a:solidFill>
            <a:srgbClr val="F7F1E3"/>
          </a:solidFill>
          <a:ln>
            <a:noFill/>
          </a:ln>
          <a:effectLst>
            <a:outerShdw blurRad="0" dist="49595" dir="3011665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5100" tIns="0" rIns="63500" bIns="0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Suspected fraud</a:t>
            </a:r>
          </a:p>
        </p:txBody>
      </p:sp>
      <p:sp>
        <p:nvSpPr>
          <p:cNvPr id="44" name="Tab"/>
          <p:cNvSpPr/>
          <p:nvPr/>
        </p:nvSpPr>
        <p:spPr>
          <a:xfrm rot="21540000">
            <a:off x="6413500" y="4292600"/>
            <a:ext cx="63500" cy="304800"/>
          </a:xfrm>
          <a:prstGeom prst="rect">
            <a:avLst/>
          </a:prstGeom>
          <a:solidFill>
            <a:srgbClr val="8A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Supervisor retains: Security issues"/>
          <p:cNvSpPr/>
          <p:nvPr/>
        </p:nvSpPr>
        <p:spPr>
          <a:xfrm rot="21540000">
            <a:off x="6413500" y="4660900"/>
            <a:ext cx="3175000" cy="304800"/>
          </a:xfrm>
          <a:prstGeom prst="rect">
            <a:avLst/>
          </a:prstGeom>
          <a:solidFill>
            <a:srgbClr val="F7F1E3"/>
          </a:solidFill>
          <a:ln>
            <a:noFill/>
          </a:ln>
          <a:effectLst>
            <a:outerShdw blurRad="0" dist="49595" dir="3011665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5100" tIns="0" rIns="63500" bIns="0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Security issues</a:t>
            </a:r>
          </a:p>
        </p:txBody>
      </p:sp>
      <p:sp>
        <p:nvSpPr>
          <p:cNvPr id="46" name="Tab"/>
          <p:cNvSpPr/>
          <p:nvPr/>
        </p:nvSpPr>
        <p:spPr>
          <a:xfrm rot="21540000">
            <a:off x="6413500" y="4660900"/>
            <a:ext cx="63500" cy="304800"/>
          </a:xfrm>
          <a:prstGeom prst="rect">
            <a:avLst/>
          </a:prstGeom>
          <a:solidFill>
            <a:srgbClr val="8A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Supervisor retains: Major price disputes"/>
          <p:cNvSpPr/>
          <p:nvPr/>
        </p:nvSpPr>
        <p:spPr>
          <a:xfrm rot="21540000">
            <a:off x="6413500" y="5029200"/>
            <a:ext cx="3175000" cy="304800"/>
          </a:xfrm>
          <a:prstGeom prst="rect">
            <a:avLst/>
          </a:prstGeom>
          <a:solidFill>
            <a:srgbClr val="F7F1E3"/>
          </a:solidFill>
          <a:ln>
            <a:noFill/>
          </a:ln>
          <a:effectLst>
            <a:outerShdw blurRad="0" dist="49595" dir="3011665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5100" tIns="0" rIns="63500" bIns="0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Major price disputes</a:t>
            </a:r>
          </a:p>
        </p:txBody>
      </p:sp>
      <p:sp>
        <p:nvSpPr>
          <p:cNvPr id="48" name="Tab"/>
          <p:cNvSpPr/>
          <p:nvPr/>
        </p:nvSpPr>
        <p:spPr>
          <a:xfrm rot="21540000">
            <a:off x="6413500" y="5029200"/>
            <a:ext cx="63500" cy="304800"/>
          </a:xfrm>
          <a:prstGeom prst="rect">
            <a:avLst/>
          </a:prstGeom>
          <a:solidFill>
            <a:srgbClr val="8A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Supervisor retains: Unusual exceptions"/>
          <p:cNvSpPr/>
          <p:nvPr/>
        </p:nvSpPr>
        <p:spPr>
          <a:xfrm rot="21540000">
            <a:off x="6413500" y="5397500"/>
            <a:ext cx="3175000" cy="304800"/>
          </a:xfrm>
          <a:prstGeom prst="rect">
            <a:avLst/>
          </a:prstGeom>
          <a:solidFill>
            <a:srgbClr val="F7F1E3"/>
          </a:solidFill>
          <a:ln>
            <a:noFill/>
          </a:ln>
          <a:effectLst>
            <a:outerShdw blurRad="0" dist="49595" dir="3011665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5100" tIns="0" rIns="63500" bIns="0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Unusual exceptions</a:t>
            </a:r>
          </a:p>
        </p:txBody>
      </p:sp>
      <p:sp>
        <p:nvSpPr>
          <p:cNvPr id="50" name="Tab"/>
          <p:cNvSpPr/>
          <p:nvPr/>
        </p:nvSpPr>
        <p:spPr>
          <a:xfrm rot="21540000">
            <a:off x="6413500" y="5397500"/>
            <a:ext cx="63500" cy="304800"/>
          </a:xfrm>
          <a:prstGeom prst="rect">
            <a:avLst/>
          </a:prstGeom>
          <a:solidFill>
            <a:srgbClr val="8A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1" name="Supervisor (A10, torn)" descr="torn_a10_su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9906000" y="3302000"/>
            <a:ext cx="1905000" cy="2540000"/>
          </a:xfrm>
          <a:prstGeom prst="rect">
            <a:avLst/>
          </a:prstGeom>
          <a:effectLst>
            <a:outerShdw blurRad="0" dist="109249" dir="3267739" algn="tl" rotWithShape="0">
              <a:srgbClr val="000000">
                <a:alpha val="45000"/>
              </a:srgbClr>
            </a:outerShdw>
          </a:effectLst>
        </p:spPr>
      </p:pic>
      <p:sp>
        <p:nvSpPr>
          <p:cNvPr id="52" name="TextBox 51"/>
          <p:cNvSpPr txBox="1"/>
          <p:nvPr/>
        </p:nvSpPr>
        <p:spPr>
          <a:xfrm>
            <a:off x="406400" y="6464300"/>
            <a:ext cx="9004014" cy="2057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0">
                <a:solidFill>
                  <a:srgbClr val="C5BEB4"/>
                </a:solidFill>
                <a:latin typeface="JetBrains Mono"/>
                <a:ea typeface="JetBrains Mono"/>
                <a:cs typeface="JetBrains Mono"/>
              </a:rPr>
              <a:t>Proposed design principle — exact permissions &amp; any thresholds would be defined by management.</a:t>
            </a:r>
          </a:p>
        </p:txBody>
      </p:sp>
      <p:sp>
        <p:nvSpPr>
          <p:cNvPr id="53" name="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610">
              <a:alpha val="9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Statement"/>
          <p:cNvSpPr txBox="1"/>
          <p:nvPr/>
        </p:nvSpPr>
        <p:spPr>
          <a:xfrm>
            <a:off x="952500" y="1333500"/>
            <a:ext cx="10795000" cy="444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600"/>
              </a:lnSpc>
            </a:pPr>
            <a:r>
              <a:rPr sz="10000" b="0">
                <a:solidFill>
                  <a:srgbClr val="FFD23F"/>
                </a:solidFill>
                <a:latin typeface="Archivo Display"/>
                <a:ea typeface="Archivo Display"/>
                <a:cs typeface="Archivo Display"/>
              </a:rPr>
              <a:t>CONTROLLED AUTONOMY</a:t>
            </a:r>
          </a:p>
          <a:p>
            <a:pPr algn="l">
              <a:lnSpc>
                <a:spcPts val="8250"/>
              </a:lnSpc>
              <a:spcBef>
                <a:spcPts val="500"/>
              </a:spcBef>
            </a:pPr>
            <a:r>
              <a:rPr sz="7500" b="0">
                <a:solidFill>
                  <a:srgbClr val="FF2E88"/>
                </a:solidFill>
                <a:latin typeface="Arial"/>
                <a:ea typeface="Arial"/>
                <a:cs typeface="Arial"/>
              </a:rPr>
              <a:t>≠</a:t>
            </a:r>
          </a:p>
          <a:p>
            <a:pPr algn="l">
              <a:lnSpc>
                <a:spcPts val="8600"/>
              </a:lnSpc>
              <a:spcBef>
                <a:spcPts val="500"/>
              </a:spcBef>
            </a:pPr>
            <a:r>
              <a:rPr sz="10000" b="0">
                <a:solidFill>
                  <a:srgbClr val="F4ECDD"/>
                </a:solidFill>
                <a:latin typeface="Archivo Display"/>
                <a:ea typeface="Archivo Display"/>
                <a:cs typeface="Archivo Display"/>
              </a:rPr>
              <a:t>UNRESTRICTED AUTONOMY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6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 A09 (stamp)" descr="a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hoto d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Texture: film grain" descr="grain.png"/>
          <p:cNvPicPr>
            <a:picLocks noChangeAspect="1" noSel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VI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REDESIGN</a:t>
            </a:r>
          </a:p>
        </p:txBody>
      </p:sp>
      <p:sp>
        <p:nvSpPr>
          <p:cNvPr id="6" name="Decision line"/>
          <p:cNvSpPr/>
          <p:nvPr/>
        </p:nvSpPr>
        <p:spPr>
          <a:xfrm>
            <a:off x="1270000" y="1905000"/>
            <a:ext cx="9652000" cy="50800"/>
          </a:xfrm>
          <a:prstGeom prst="rect">
            <a:avLst/>
          </a:prstGeom>
          <a:solidFill>
            <a:srgbClr val="F4ECDD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55151" y="1270000"/>
            <a:ext cx="2591699" cy="206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495"/>
              </a:lnSpc>
            </a:pPr>
            <a:r>
              <a:rPr sz="1300" b="0" spc="182">
                <a:solidFill>
                  <a:srgbClr val="F4ECDD"/>
                </a:solidFill>
                <a:latin typeface="Archivo Label"/>
                <a:ea typeface="Archivo Label"/>
                <a:cs typeface="Archivo Label"/>
              </a:rPr>
              <a:t>CUSTOMER PROBLEM</a:t>
            </a:r>
          </a:p>
        </p:txBody>
      </p:sp>
      <p:sp>
        <p:nvSpPr>
          <p:cNvPr id="8" name="Problem token"/>
          <p:cNvSpPr/>
          <p:nvPr/>
        </p:nvSpPr>
        <p:spPr>
          <a:xfrm>
            <a:off x="1181100" y="1790700"/>
            <a:ext cx="279400" cy="279400"/>
          </a:xfrm>
          <a:prstGeom prst="ellipse">
            <a:avLst/>
          </a:prstGeom>
          <a:solidFill>
            <a:srgbClr val="FF2E88"/>
          </a:solidFill>
          <a:ln w="25400">
            <a:solidFill>
              <a:srgbClr val="0B061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87235" y="1270000"/>
            <a:ext cx="2223530" cy="206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495"/>
              </a:lnSpc>
            </a:pPr>
            <a:r>
              <a:rPr sz="1300" b="0" spc="182">
                <a:solidFill>
                  <a:srgbClr val="FFD23F"/>
                </a:solidFill>
                <a:latin typeface="Archivo Label"/>
                <a:ea typeface="Archivo Label"/>
                <a:cs typeface="Archivo Label"/>
              </a:rPr>
              <a:t>TRAINED CASHIER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33051" y="1270000"/>
            <a:ext cx="1580899" cy="206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1495"/>
              </a:lnSpc>
            </a:pPr>
            <a:r>
              <a:rPr sz="1300" b="0" spc="182">
                <a:solidFill>
                  <a:srgbClr val="B892FF"/>
                </a:solidFill>
                <a:latin typeface="Archivo Label"/>
                <a:ea typeface="Archivo Label"/>
                <a:cs typeface="Archivo Label"/>
              </a:rPr>
              <a:t>SUPERVISOR</a:t>
            </a:r>
          </a:p>
        </p:txBody>
      </p:sp>
      <p:pic>
        <p:nvPicPr>
          <p:cNvPr id="11" name="The decision stamp (moved to the cashier)" descr="a09.jpg"/>
          <p:cNvPicPr>
            <a:picLocks noChangeAspect="1"/>
          </p:cNvPicPr>
          <p:nvPr/>
        </p:nvPicPr>
        <p:blipFill>
          <a:blip r:embed="rId2"/>
          <a:srcRect l="15340" t="36800" r="54360" b="26640"/>
          <a:stretch>
            <a:fillRect/>
          </a:stretch>
        </p:blipFill>
        <p:spPr>
          <a:xfrm rot="21300000">
            <a:off x="4064000" y="1587500"/>
            <a:ext cx="1778000" cy="1206500"/>
          </a:xfrm>
          <a:prstGeom prst="rect">
            <a:avLst/>
          </a:prstGeom>
          <a:ln w="63500">
            <a:solidFill>
              <a:srgbClr val="FFD23F"/>
            </a:solidFill>
            <a:round/>
          </a:ln>
          <a:effectLst>
            <a:outerShdw blurRad="0" dist="99190" dir="3011665" algn="tl" rotWithShape="0">
              <a:srgbClr val="000000">
                <a:alpha val="60000"/>
              </a:srgbClr>
            </a:outerShdw>
          </a:effectLst>
        </p:spPr>
      </p:pic>
      <p:sp>
        <p:nvSpPr>
          <p:cNvPr id="12" name="Statement"/>
          <p:cNvSpPr txBox="1"/>
          <p:nvPr/>
        </p:nvSpPr>
        <p:spPr>
          <a:xfrm>
            <a:off x="952500" y="3175000"/>
            <a:ext cx="10795000" cy="317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6020"/>
              </a:lnSpc>
            </a:pPr>
            <a:r>
              <a:rPr sz="7000" b="0">
                <a:solidFill>
                  <a:srgbClr val="F4ECDD"/>
                </a:solidFill>
                <a:latin typeface="Archivo Display"/>
                <a:ea typeface="Archivo Display"/>
                <a:cs typeface="Archivo Display"/>
              </a:rPr>
              <a:t>MOVE APPROPRIATE DECISIONS </a:t>
            </a:r>
            <a:r>
              <a:rPr sz="7000" b="0">
                <a:solidFill>
                  <a:srgbClr val="FFD23F"/>
                </a:solidFill>
                <a:latin typeface="Archivo Display"/>
                <a:ea typeface="Archivo Display"/>
                <a:cs typeface="Archivo Display"/>
              </a:rPr>
              <a:t>CLOSER TO WHERE THE CUSTOMER PROBLEM OCCURS.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xture: film grain" descr="grain.png"/>
          <p:cNvPicPr>
            <a:picLocks noChangeAspect="1" noSel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ct tag box"/>
          <p:cNvSpPr/>
          <p:nvPr/>
        </p:nvSpPr>
        <p:spPr>
          <a:xfrm>
            <a:off x="393700" y="304800"/>
            <a:ext cx="296751" cy="203200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VI</a:t>
            </a:r>
            <a:r>
              <a:rPr sz="1200" b="0" spc="96">
                <a:solidFill>
                  <a:srgbClr val="454043"/>
                </a:solidFill>
                <a:latin typeface="JetBrains Mono"/>
                <a:ea typeface="JetBrains Mono"/>
                <a:cs typeface="JetBrains Mono"/>
              </a:rPr>
              <a:t>  REDESIGN</a:t>
            </a:r>
          </a:p>
        </p:txBody>
      </p:sp>
      <p:sp>
        <p:nvSpPr>
          <p:cNvPr id="5" name="Tape: proposed redesign"/>
          <p:cNvSpPr/>
          <p:nvPr/>
        </p:nvSpPr>
        <p:spPr>
          <a:xfrm rot="120000">
            <a:off x="9402231" y="254000"/>
            <a:ext cx="2383369" cy="317500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625"/>
              </a:lnSpc>
            </a:pPr>
            <a:r>
              <a:rPr sz="1300" b="1" spc="182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PROPOSED REDESIGN</a:t>
            </a:r>
          </a:p>
        </p:txBody>
      </p:sp>
      <p:sp>
        <p:nvSpPr>
          <p:cNvPr id="6" name="Header"/>
          <p:cNvSpPr txBox="1"/>
          <p:nvPr/>
        </p:nvSpPr>
        <p:spPr>
          <a:xfrm>
            <a:off x="698500" y="603250"/>
            <a:ext cx="8472019" cy="5699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048"/>
              </a:lnSpc>
            </a:pPr>
            <a:r>
              <a:rPr sz="4400" b="0">
                <a:solidFill>
                  <a:srgbClr val="0B0610"/>
                </a:solidFill>
                <a:latin typeface="Archivo Condensed"/>
                <a:ea typeface="Archivo Condensed"/>
                <a:cs typeface="Archivo Condensed"/>
              </a:rPr>
              <a:t>03 · CHECKOUT-ZONE OWNERSHIP</a:t>
            </a:r>
          </a:p>
        </p:txBody>
      </p:sp>
      <p:sp>
        <p:nvSpPr>
          <p:cNvPr id="7" name="Header target"/>
          <p:cNvSpPr txBox="1"/>
          <p:nvPr/>
        </p:nvSpPr>
        <p:spPr>
          <a:xfrm>
            <a:off x="698500" y="1206500"/>
            <a:ext cx="76200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400" b="0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TARGET </a:t>
            </a:r>
            <a:r>
              <a:rPr sz="1400" b="0">
                <a:solidFill>
                  <a:srgbClr val="0B0610"/>
                </a:solidFill>
                <a:latin typeface="Arial"/>
                <a:ea typeface="Arial"/>
                <a:cs typeface="Arial"/>
              </a:rPr>
              <a:t>→ </a:t>
            </a:r>
            <a:r>
              <a:rPr sz="14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Responsibility &amp; ownership</a:t>
            </a:r>
          </a:p>
        </p:txBody>
      </p:sp>
      <p:sp>
        <p:nvSpPr>
          <p:cNvPr id="8" name="Divider"/>
          <p:cNvSpPr/>
          <p:nvPr/>
        </p:nvSpPr>
        <p:spPr>
          <a:xfrm>
            <a:off x="6083300" y="1778000"/>
            <a:ext cx="31750" cy="3810000"/>
          </a:xfrm>
          <a:prstGeom prst="rect">
            <a:avLst/>
          </a:prstGeom>
          <a:solidFill>
            <a:srgbClr val="0B0610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35000" y="1587500"/>
            <a:ext cx="4633143" cy="518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80"/>
              </a:lnSpc>
            </a:pPr>
            <a:r>
              <a:rPr sz="4000" b="0">
                <a:solidFill>
                  <a:srgbClr val="AEA7A0"/>
                </a:solidFill>
                <a:latin typeface="Archivo Condensed"/>
                <a:ea typeface="Archivo Condensed"/>
                <a:cs typeface="Archivo Condensed"/>
              </a:rPr>
              <a:t>JOB ENLARGEMENT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2127250"/>
            <a:ext cx="2963386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500" b="0">
                <a:solidFill>
                  <a:srgbClr val="AEA7A0"/>
                </a:solidFill>
                <a:latin typeface="Archivo Expanded"/>
                <a:ea typeface="Archivo Expanded"/>
                <a:cs typeface="Archivo Expanded"/>
              </a:rPr>
              <a:t>= SIMPLY MORE TASKS</a:t>
            </a:r>
          </a:p>
        </p:txBody>
      </p:sp>
      <p:sp>
        <p:nvSpPr>
          <p:cNvPr id="11" name="Floor"/>
          <p:cNvSpPr/>
          <p:nvPr/>
        </p:nvSpPr>
        <p:spPr>
          <a:xfrm>
            <a:off x="571500" y="5588000"/>
            <a:ext cx="5207000" cy="63500"/>
          </a:xfrm>
          <a:prstGeom prst="rect">
            <a:avLst/>
          </a:prstGeom>
          <a:solidFill>
            <a:srgbClr val="0B061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+task 1" descr="box.png"/>
          <p:cNvPicPr>
            <a:picLocks noChangeAspect="1"/>
          </p:cNvPicPr>
          <p:nvPr/>
        </p:nvPicPr>
        <p:blipFill>
          <a:blip r:embed="rId3">
            <a:alphaModFix amt="30000"/>
            <a:grayscl/>
          </a:blip>
          <a:stretch>
            <a:fillRect/>
          </a:stretch>
        </p:blipFill>
        <p:spPr>
          <a:xfrm>
            <a:off x="635000" y="4882064"/>
            <a:ext cx="1079500" cy="7059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 rot="21360000">
            <a:off x="824528" y="4551864"/>
            <a:ext cx="700445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156"/>
              </a:lnSpc>
            </a:pPr>
            <a:r>
              <a:rPr sz="2200" b="0">
                <a:solidFill>
                  <a:srgbClr val="AEA7A0"/>
                </a:solidFill>
                <a:latin typeface="Caveat Brush"/>
                <a:ea typeface="Caveat Brush"/>
                <a:cs typeface="Caveat Brush"/>
              </a:rPr>
              <a:t>+task</a:t>
            </a:r>
          </a:p>
        </p:txBody>
      </p:sp>
      <p:pic>
        <p:nvPicPr>
          <p:cNvPr id="14" name="+task 2" descr="obj_sv.png"/>
          <p:cNvPicPr>
            <a:picLocks noChangeAspect="1"/>
          </p:cNvPicPr>
          <p:nvPr/>
        </p:nvPicPr>
        <p:blipFill>
          <a:blip r:embed="rId4">
            <a:alphaModFix amt="30000"/>
            <a:grayscl/>
          </a:blip>
          <a:stretch>
            <a:fillRect/>
          </a:stretch>
        </p:blipFill>
        <p:spPr>
          <a:xfrm>
            <a:off x="1574800" y="4794692"/>
            <a:ext cx="1143000" cy="7933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 rot="240000">
            <a:off x="1796078" y="4464492"/>
            <a:ext cx="700445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156"/>
              </a:lnSpc>
            </a:pPr>
            <a:r>
              <a:rPr sz="2200" b="0">
                <a:solidFill>
                  <a:srgbClr val="AEA7A0"/>
                </a:solidFill>
                <a:latin typeface="Caveat Brush"/>
                <a:ea typeface="Caveat Brush"/>
                <a:cs typeface="Caveat Brush"/>
              </a:rPr>
              <a:t>+task</a:t>
            </a:r>
          </a:p>
        </p:txBody>
      </p:sp>
      <p:pic>
        <p:nvPicPr>
          <p:cNvPr id="16" name="+task 3" descr="obj_ts.png"/>
          <p:cNvPicPr>
            <a:picLocks noChangeAspect="1"/>
          </p:cNvPicPr>
          <p:nvPr/>
        </p:nvPicPr>
        <p:blipFill>
          <a:blip r:embed="rId5">
            <a:alphaModFix amt="30000"/>
            <a:grayscl/>
          </a:blip>
          <a:stretch>
            <a:fillRect/>
          </a:stretch>
        </p:blipFill>
        <p:spPr>
          <a:xfrm>
            <a:off x="2578100" y="4684856"/>
            <a:ext cx="730250" cy="9031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 rot="21360000">
            <a:off x="2593003" y="4354656"/>
            <a:ext cx="700445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156"/>
              </a:lnSpc>
            </a:pPr>
            <a:r>
              <a:rPr sz="2200" b="0">
                <a:solidFill>
                  <a:srgbClr val="AEA7A0"/>
                </a:solidFill>
                <a:latin typeface="Caveat Brush"/>
                <a:ea typeface="Caveat Brush"/>
                <a:cs typeface="Caveat Brush"/>
              </a:rPr>
              <a:t>+task</a:t>
            </a:r>
          </a:p>
        </p:txBody>
      </p:sp>
      <p:pic>
        <p:nvPicPr>
          <p:cNvPr id="18" name="+task 4" descr="box.png"/>
          <p:cNvPicPr>
            <a:picLocks noChangeAspect="1"/>
          </p:cNvPicPr>
          <p:nvPr/>
        </p:nvPicPr>
        <p:blipFill>
          <a:blip r:embed="rId3">
            <a:alphaModFix amt="30000"/>
            <a:grayscl/>
          </a:blip>
          <a:stretch>
            <a:fillRect/>
          </a:stretch>
        </p:blipFill>
        <p:spPr>
          <a:xfrm>
            <a:off x="3168650" y="4923589"/>
            <a:ext cx="1016000" cy="6644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 rot="240000">
            <a:off x="3326428" y="4593389"/>
            <a:ext cx="700445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156"/>
              </a:lnSpc>
            </a:pPr>
            <a:r>
              <a:rPr sz="2200" b="0">
                <a:solidFill>
                  <a:srgbClr val="AEA7A0"/>
                </a:solidFill>
                <a:latin typeface="Caveat Brush"/>
                <a:ea typeface="Caveat Brush"/>
                <a:cs typeface="Caveat Brush"/>
              </a:rPr>
              <a:t>+task</a:t>
            </a:r>
          </a:p>
        </p:txBody>
      </p:sp>
      <p:pic>
        <p:nvPicPr>
          <p:cNvPr id="20" name="+task 5" descr="obj_sv.png"/>
          <p:cNvPicPr>
            <a:picLocks noChangeAspect="1"/>
          </p:cNvPicPr>
          <p:nvPr/>
        </p:nvPicPr>
        <p:blipFill>
          <a:blip r:embed="rId4">
            <a:alphaModFix amt="30000"/>
            <a:grayscl/>
          </a:blip>
          <a:stretch>
            <a:fillRect/>
          </a:stretch>
        </p:blipFill>
        <p:spPr>
          <a:xfrm>
            <a:off x="4044950" y="4860801"/>
            <a:ext cx="1047750" cy="7271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 rot="21360000">
            <a:off x="4218603" y="4530601"/>
            <a:ext cx="700445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156"/>
              </a:lnSpc>
            </a:pPr>
            <a:r>
              <a:rPr sz="2200" b="0">
                <a:solidFill>
                  <a:srgbClr val="AEA7A0"/>
                </a:solidFill>
                <a:latin typeface="Caveat Brush"/>
                <a:ea typeface="Caveat Brush"/>
                <a:cs typeface="Caveat Brush"/>
              </a:rPr>
              <a:t>+task</a:t>
            </a:r>
          </a:p>
        </p:txBody>
      </p:sp>
      <p:pic>
        <p:nvPicPr>
          <p:cNvPr id="22" name="+task 6" descr="obj_ts.png"/>
          <p:cNvPicPr>
            <a:picLocks noChangeAspect="1"/>
          </p:cNvPicPr>
          <p:nvPr/>
        </p:nvPicPr>
        <p:blipFill>
          <a:blip r:embed="rId5">
            <a:alphaModFix amt="30000"/>
            <a:grayscl/>
          </a:blip>
          <a:stretch>
            <a:fillRect/>
          </a:stretch>
        </p:blipFill>
        <p:spPr>
          <a:xfrm>
            <a:off x="4953000" y="4763390"/>
            <a:ext cx="666750" cy="82461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 rot="240000">
            <a:off x="4936153" y="4433190"/>
            <a:ext cx="700445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ts val="2156"/>
              </a:lnSpc>
            </a:pPr>
            <a:r>
              <a:rPr sz="2200" b="0">
                <a:solidFill>
                  <a:srgbClr val="AEA7A0"/>
                </a:solidFill>
                <a:latin typeface="Caveat Brush"/>
                <a:ea typeface="Caveat Brush"/>
                <a:cs typeface="Caveat Brush"/>
              </a:rPr>
              <a:t>+task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3500" y="1174750"/>
            <a:ext cx="4219980" cy="5181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80"/>
              </a:lnSpc>
            </a:pPr>
            <a:r>
              <a:rPr sz="4000" b="0">
                <a:solidFill>
                  <a:srgbClr val="0B0610"/>
                </a:solidFill>
                <a:latin typeface="Archivo Condensed"/>
                <a:ea typeface="Archivo Condensed"/>
                <a:cs typeface="Archivo Condensed"/>
              </a:rPr>
              <a:t>JOB ENRICHMENT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3500" y="1714500"/>
            <a:ext cx="5187077" cy="2190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75"/>
              </a:lnSpc>
            </a:pPr>
            <a:r>
              <a:rPr sz="150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= MORE RESPONSIBILITY &amp; OWNERSHIP</a:t>
            </a:r>
          </a:p>
        </p:txBody>
      </p:sp>
      <p:sp>
        <p:nvSpPr>
          <p:cNvPr id="26" name="Floor"/>
          <p:cNvSpPr/>
          <p:nvPr/>
        </p:nvSpPr>
        <p:spPr>
          <a:xfrm>
            <a:off x="6286500" y="5588000"/>
            <a:ext cx="1524000" cy="63500"/>
          </a:xfrm>
          <a:prstGeom prst="rect">
            <a:avLst/>
          </a:prstGeom>
          <a:solidFill>
            <a:srgbClr val="0B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Stack 1" descr="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4795587"/>
            <a:ext cx="1270000" cy="830513"/>
          </a:xfrm>
          <a:prstGeom prst="rect">
            <a:avLst/>
          </a:prstGeom>
        </p:spPr>
      </p:pic>
      <p:sp>
        <p:nvSpPr>
          <p:cNvPr id="28" name="Tape"/>
          <p:cNvSpPr/>
          <p:nvPr/>
        </p:nvSpPr>
        <p:spPr>
          <a:xfrm rot="21510000">
            <a:off x="7810500" y="5048250"/>
            <a:ext cx="3810000" cy="292100"/>
          </a:xfrm>
          <a:prstGeom prst="rect">
            <a:avLst/>
          </a:prstGeom>
          <a:solidFill>
            <a:srgbClr val="F0E4C8">
              <a:alpha val="85000"/>
            </a:srgbClr>
          </a:solidFill>
          <a:ln>
            <a:noFill/>
          </a:ln>
          <a:effectLst>
            <a:outerShdw blurRad="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wnership: Queue buildup"/>
          <p:cNvSpPr txBox="1"/>
          <p:nvPr/>
        </p:nvSpPr>
        <p:spPr>
          <a:xfrm rot="21510000">
            <a:off x="7950200" y="5099050"/>
            <a:ext cx="1351280" cy="2143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QUEUE BUILDUP</a:t>
            </a:r>
          </a:p>
        </p:txBody>
      </p:sp>
      <p:pic>
        <p:nvPicPr>
          <p:cNvPr id="30" name="Stack 2" descr="cr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900" y="4263858"/>
            <a:ext cx="1270000" cy="574842"/>
          </a:xfrm>
          <a:prstGeom prst="rect">
            <a:avLst/>
          </a:prstGeom>
        </p:spPr>
      </p:pic>
      <p:sp>
        <p:nvSpPr>
          <p:cNvPr id="31" name="Tape"/>
          <p:cNvSpPr/>
          <p:nvPr/>
        </p:nvSpPr>
        <p:spPr>
          <a:xfrm rot="90000">
            <a:off x="7810500" y="4381500"/>
            <a:ext cx="3810000" cy="292100"/>
          </a:xfrm>
          <a:prstGeom prst="rect">
            <a:avLst/>
          </a:prstGeom>
          <a:solidFill>
            <a:srgbClr val="F0E4C8">
              <a:alpha val="85000"/>
            </a:srgbClr>
          </a:solidFill>
          <a:ln>
            <a:noFill/>
          </a:ln>
          <a:effectLst>
            <a:outerShdw blurRad="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wnership: Recurring POS / pricing issues"/>
          <p:cNvSpPr txBox="1"/>
          <p:nvPr/>
        </p:nvSpPr>
        <p:spPr>
          <a:xfrm rot="90000">
            <a:off x="7950200" y="4432300"/>
            <a:ext cx="3035300" cy="2143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RECURRING POS / PRICING ISSUES</a:t>
            </a:r>
          </a:p>
        </p:txBody>
      </p:sp>
      <p:pic>
        <p:nvPicPr>
          <p:cNvPr id="33" name="Stack 3" descr="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3462087"/>
            <a:ext cx="1270000" cy="830513"/>
          </a:xfrm>
          <a:prstGeom prst="rect">
            <a:avLst/>
          </a:prstGeom>
        </p:spPr>
      </p:pic>
      <p:sp>
        <p:nvSpPr>
          <p:cNvPr id="34" name="Tape"/>
          <p:cNvSpPr/>
          <p:nvPr/>
        </p:nvSpPr>
        <p:spPr>
          <a:xfrm rot="21510000">
            <a:off x="7810500" y="3714750"/>
            <a:ext cx="3810000" cy="292100"/>
          </a:xfrm>
          <a:prstGeom prst="rect">
            <a:avLst/>
          </a:prstGeom>
          <a:solidFill>
            <a:srgbClr val="F0E4C8">
              <a:alpha val="85000"/>
            </a:srgbClr>
          </a:solidFill>
          <a:ln>
            <a:noFill/>
          </a:ln>
          <a:effectLst>
            <a:outerShdw blurRad="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wnership: Checkout-area readiness"/>
          <p:cNvSpPr txBox="1"/>
          <p:nvPr/>
        </p:nvSpPr>
        <p:spPr>
          <a:xfrm rot="21510000">
            <a:off x="7950200" y="3765550"/>
            <a:ext cx="2341880" cy="2143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CHECKOUT-AREA READINESS</a:t>
            </a:r>
          </a:p>
        </p:txBody>
      </p:sp>
      <p:pic>
        <p:nvPicPr>
          <p:cNvPr id="36" name="Stack 4" descr="cr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900" y="2930358"/>
            <a:ext cx="1270000" cy="574842"/>
          </a:xfrm>
          <a:prstGeom prst="rect">
            <a:avLst/>
          </a:prstGeom>
        </p:spPr>
      </p:pic>
      <p:sp>
        <p:nvSpPr>
          <p:cNvPr id="37" name="Tape"/>
          <p:cNvSpPr/>
          <p:nvPr/>
        </p:nvSpPr>
        <p:spPr>
          <a:xfrm rot="90000">
            <a:off x="7810500" y="3048000"/>
            <a:ext cx="3810000" cy="292100"/>
          </a:xfrm>
          <a:prstGeom prst="rect">
            <a:avLst/>
          </a:prstGeom>
          <a:solidFill>
            <a:srgbClr val="F0E4C8">
              <a:alpha val="85000"/>
            </a:srgbClr>
          </a:solidFill>
          <a:ln>
            <a:noFill/>
          </a:ln>
          <a:effectLst>
            <a:outerShdw blurRad="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wnership: Customer concerns"/>
          <p:cNvSpPr txBox="1"/>
          <p:nvPr/>
        </p:nvSpPr>
        <p:spPr>
          <a:xfrm rot="90000">
            <a:off x="7950200" y="3098800"/>
            <a:ext cx="1747520" cy="2143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CUSTOMER CONCERNS</a:t>
            </a:r>
          </a:p>
        </p:txBody>
      </p:sp>
      <p:pic>
        <p:nvPicPr>
          <p:cNvPr id="39" name="Stack 5" descr="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2128587"/>
            <a:ext cx="1270000" cy="830513"/>
          </a:xfrm>
          <a:prstGeom prst="rect">
            <a:avLst/>
          </a:prstGeom>
        </p:spPr>
      </p:pic>
      <p:sp>
        <p:nvSpPr>
          <p:cNvPr id="40" name="Tape"/>
          <p:cNvSpPr/>
          <p:nvPr/>
        </p:nvSpPr>
        <p:spPr>
          <a:xfrm rot="21510000">
            <a:off x="7810500" y="2381250"/>
            <a:ext cx="3810000" cy="292100"/>
          </a:xfrm>
          <a:prstGeom prst="rect">
            <a:avLst/>
          </a:prstGeom>
          <a:solidFill>
            <a:srgbClr val="F0E4C8">
              <a:alpha val="85000"/>
            </a:srgbClr>
          </a:solidFill>
          <a:ln>
            <a:noFill/>
          </a:ln>
          <a:effectLst>
            <a:outerShdw blurRad="0" dist="127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wnership: Handover communication"/>
          <p:cNvSpPr txBox="1"/>
          <p:nvPr/>
        </p:nvSpPr>
        <p:spPr>
          <a:xfrm rot="21510000">
            <a:off x="7950200" y="2432050"/>
            <a:ext cx="2242820" cy="21431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HANDOVER COMMUNICATION</a:t>
            </a:r>
          </a:p>
        </p:txBody>
      </p:sp>
      <p:sp>
        <p:nvSpPr>
          <p:cNvPr id="42" name="Banner"/>
          <p:cNvSpPr/>
          <p:nvPr/>
        </p:nvSpPr>
        <p:spPr>
          <a:xfrm>
            <a:off x="0" y="5905500"/>
            <a:ext cx="12192000" cy="762000"/>
          </a:xfrm>
          <a:prstGeom prst="rect">
            <a:avLst/>
          </a:prstGeom>
          <a:solidFill>
            <a:srgbClr val="FFD23F"/>
          </a:solidFill>
          <a:ln w="38100">
            <a:solidFill>
              <a:srgbClr val="0B061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4300"/>
              </a:lnSpc>
            </a:pPr>
            <a:r>
              <a:rPr sz="5000" b="0">
                <a:solidFill>
                  <a:srgbClr val="0B0610"/>
                </a:solidFill>
                <a:latin typeface="Archivo Display"/>
                <a:ea typeface="Archivo Display"/>
                <a:cs typeface="Archivo Display"/>
              </a:rPr>
              <a:t>WE AIM FOR ENRICHMENT.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D1243"/>
            </a:gs>
            <a:gs pos="52000">
              <a:srgbClr val="1C0A29"/>
            </a:gs>
            <a:gs pos="100000">
              <a:srgbClr val="0B0610"/>
            </a:gs>
          </a:gsLst>
          <a:path path="circle">
            <a:fillToRect l="50000" t="38000" r="50000" b="62000"/>
          </a:path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Texture: film grain" descr="grain.png"/>
          <p:cNvPicPr>
            <a:picLocks noChangeAspect="1" noSel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VI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REDESIGN</a:t>
            </a:r>
          </a:p>
        </p:txBody>
      </p:sp>
      <p:sp>
        <p:nvSpPr>
          <p:cNvPr id="4" name="Tape: proposed redesign"/>
          <p:cNvSpPr/>
          <p:nvPr/>
        </p:nvSpPr>
        <p:spPr>
          <a:xfrm rot="120000">
            <a:off x="9402231" y="254000"/>
            <a:ext cx="2383369" cy="317500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625"/>
              </a:lnSpc>
            </a:pPr>
            <a:r>
              <a:rPr sz="1300" b="1" spc="182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PROPOSED REDESIGN</a:t>
            </a:r>
          </a:p>
        </p:txBody>
      </p:sp>
      <p:sp>
        <p:nvSpPr>
          <p:cNvPr id="5" name="Header"/>
          <p:cNvSpPr txBox="1"/>
          <p:nvPr/>
        </p:nvSpPr>
        <p:spPr>
          <a:xfrm>
            <a:off x="698500" y="603250"/>
            <a:ext cx="7177945" cy="5699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048"/>
              </a:lnSpc>
            </a:pPr>
            <a:r>
              <a:rPr sz="4400" b="0">
                <a:solidFill>
                  <a:srgbClr val="F4ECDD"/>
                </a:solidFill>
                <a:effectLst>
                  <a:outerShdw blurRad="0" dist="38100" dir="5400000" algn="tl" rotWithShape="0">
                    <a:srgbClr val="000000">
                      <a:alpha val="40000"/>
                    </a:srgbClr>
                  </a:outerShdw>
                </a:effectLst>
                <a:latin typeface="Archivo Condensed"/>
                <a:ea typeface="Archivo Condensed"/>
                <a:cs typeface="Archivo Condensed"/>
              </a:rPr>
              <a:t>04 · STRUCTURED FEEDBACK</a:t>
            </a:r>
          </a:p>
        </p:txBody>
      </p:sp>
      <p:sp>
        <p:nvSpPr>
          <p:cNvPr id="6" name="Header target"/>
          <p:cNvSpPr txBox="1"/>
          <p:nvPr/>
        </p:nvSpPr>
        <p:spPr>
          <a:xfrm>
            <a:off x="698500" y="1206500"/>
            <a:ext cx="76200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4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TARGET </a:t>
            </a:r>
            <a:r>
              <a:rPr sz="1400" b="0">
                <a:solidFill>
                  <a:srgbClr val="F4ECDD"/>
                </a:solidFill>
                <a:latin typeface="Arial"/>
                <a:ea typeface="Arial"/>
                <a:cs typeface="Arial"/>
              </a:rPr>
              <a:t>→ </a:t>
            </a:r>
            <a:r>
              <a:rPr sz="1400" b="1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Feedback</a:t>
            </a:r>
          </a:p>
        </p:txBody>
      </p:sp>
      <p:pic>
        <p:nvPicPr>
          <p:cNvPr id="7" name="Photo A18 (card terminal ✓)" descr="torn_a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635000" y="1905000"/>
            <a:ext cx="5207000" cy="3302000"/>
          </a:xfrm>
          <a:prstGeom prst="rect">
            <a:avLst/>
          </a:prstGeom>
          <a:effectLst>
            <a:outerShdw blurRad="0" dist="109249" dir="3267739" algn="tl" rotWithShape="0">
              <a:srgbClr val="000000">
                <a:alpha val="45000"/>
              </a:srgbClr>
            </a:outerShdw>
          </a:effectLst>
        </p:spPr>
      </p:pic>
      <p:sp>
        <p:nvSpPr>
          <p:cNvPr id="8" name="Lower third"/>
          <p:cNvSpPr/>
          <p:nvPr/>
        </p:nvSpPr>
        <p:spPr>
          <a:xfrm>
            <a:off x="571500" y="1778000"/>
            <a:ext cx="2170906" cy="274320"/>
          </a:xfrm>
          <a:prstGeom prst="rect">
            <a:avLst/>
          </a:prstGeom>
          <a:solidFill>
            <a:srgbClr val="FF7A1A"/>
          </a:solidFill>
          <a:ln>
            <a:noFill/>
          </a:ln>
          <a:effectLst>
            <a:outerShdw blurRad="0" dist="53881" dir="2700000" algn="tl" rotWithShape="0">
              <a:srgbClr val="0B061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tIns="12700" rIns="63500" bIns="12700">
            <a:no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OPERATIONAL FEEDBACK</a:t>
            </a:r>
          </a:p>
        </p:txBody>
      </p:sp>
      <p:sp>
        <p:nvSpPr>
          <p:cNvPr id="9" name="Marker note"/>
          <p:cNvSpPr txBox="1"/>
          <p:nvPr/>
        </p:nvSpPr>
        <p:spPr>
          <a:xfrm rot="21300000">
            <a:off x="2984500" y="4889500"/>
            <a:ext cx="3302000" cy="7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704"/>
              </a:lnSpc>
            </a:pPr>
            <a:r>
              <a:rPr sz="4800" b="0">
                <a:solidFill>
                  <a:srgbClr val="FFD23F"/>
                </a:solidFill>
                <a:latin typeface="Caveat Brush"/>
                <a:ea typeface="Caveat Brush"/>
                <a:cs typeface="Caveat Brush"/>
              </a:rPr>
              <a:t>did it work? </a:t>
            </a:r>
            <a:r>
              <a:rPr sz="3500" b="0">
                <a:solidFill>
                  <a:srgbClr val="FFD23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pic>
        <p:nvPicPr>
          <p:cNvPr id="10" name="Photo A10 (conversation)" descr="torn_a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6413500" y="1841500"/>
            <a:ext cx="5207000" cy="3429000"/>
          </a:xfrm>
          <a:prstGeom prst="rect">
            <a:avLst/>
          </a:prstGeom>
          <a:effectLst>
            <a:outerShdw blurRad="0" dist="109249" dir="3267739" algn="tl" rotWithShape="0">
              <a:srgbClr val="000000">
                <a:alpha val="45000"/>
              </a:srgbClr>
            </a:outerShdw>
          </a:effectLst>
        </p:spPr>
      </p:pic>
      <p:sp>
        <p:nvSpPr>
          <p:cNvPr id="11" name="Lower third"/>
          <p:cNvSpPr/>
          <p:nvPr/>
        </p:nvSpPr>
        <p:spPr>
          <a:xfrm>
            <a:off x="6350000" y="1714500"/>
            <a:ext cx="2368947" cy="274320"/>
          </a:xfrm>
          <a:prstGeom prst="rect">
            <a:avLst/>
          </a:prstGeom>
          <a:solidFill>
            <a:srgbClr val="FFD23F"/>
          </a:solidFill>
          <a:ln>
            <a:noFill/>
          </a:ln>
          <a:effectLst>
            <a:outerShdw blurRad="0" dist="53881" dir="2700000" algn="tl" rotWithShape="0">
              <a:srgbClr val="0B061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tIns="12700" rIns="63500" bIns="12700">
            <a:no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DEVELOPMENTAL FEEDBACK</a:t>
            </a:r>
          </a:p>
        </p:txBody>
      </p:sp>
      <p:sp>
        <p:nvSpPr>
          <p:cNvPr id="12" name="Marker note"/>
          <p:cNvSpPr txBox="1"/>
          <p:nvPr/>
        </p:nvSpPr>
        <p:spPr>
          <a:xfrm rot="240000">
            <a:off x="7937500" y="4953000"/>
            <a:ext cx="3810000" cy="7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704"/>
              </a:lnSpc>
            </a:pPr>
            <a:r>
              <a:rPr sz="4800" b="0">
                <a:solidFill>
                  <a:srgbClr val="FFD23F"/>
                </a:solidFill>
                <a:latin typeface="Caveat Brush"/>
                <a:ea typeface="Caveat Brush"/>
                <a:cs typeface="Caveat Brush"/>
              </a:rPr>
              <a:t>am I growing? </a:t>
            </a:r>
            <a:r>
              <a:rPr sz="3500" b="0">
                <a:solidFill>
                  <a:srgbClr val="FFD23F"/>
                </a:solidFill>
                <a:latin typeface="Arial"/>
                <a:ea typeface="Arial"/>
                <a:cs typeface="Arial"/>
              </a:rPr>
              <a:t>↑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D1243"/>
            </a:gs>
            <a:gs pos="52000">
              <a:srgbClr val="1C0A29"/>
            </a:gs>
            <a:gs pos="100000">
              <a:srgbClr val="0B0610"/>
            </a:gs>
          </a:gsLst>
          <a:path path="circle">
            <a:fillToRect l="50000" t="38000" r="50000" b="62000"/>
          </a:path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Texture: film grain" descr="grain.png"/>
          <p:cNvPicPr>
            <a:picLocks noChangeAspect="1" noSel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VI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REDESIGN</a:t>
            </a:r>
          </a:p>
        </p:txBody>
      </p:sp>
      <p:sp>
        <p:nvSpPr>
          <p:cNvPr id="4" name="Tape: proposed redesign"/>
          <p:cNvSpPr/>
          <p:nvPr/>
        </p:nvSpPr>
        <p:spPr>
          <a:xfrm rot="120000">
            <a:off x="9402231" y="254000"/>
            <a:ext cx="2383369" cy="317500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625"/>
              </a:lnSpc>
            </a:pPr>
            <a:r>
              <a:rPr sz="1300" b="1" spc="182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PROPOSED REDESIGN</a:t>
            </a:r>
          </a:p>
        </p:txBody>
      </p:sp>
      <p:sp>
        <p:nvSpPr>
          <p:cNvPr id="5" name="Header"/>
          <p:cNvSpPr txBox="1"/>
          <p:nvPr/>
        </p:nvSpPr>
        <p:spPr>
          <a:xfrm>
            <a:off x="698500" y="603250"/>
            <a:ext cx="7177945" cy="5699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048"/>
              </a:lnSpc>
            </a:pPr>
            <a:r>
              <a:rPr sz="4400" b="0">
                <a:solidFill>
                  <a:srgbClr val="F4ECDD"/>
                </a:solidFill>
                <a:effectLst>
                  <a:outerShdw blurRad="0" dist="38100" dir="5400000" algn="tl" rotWithShape="0">
                    <a:srgbClr val="000000">
                      <a:alpha val="40000"/>
                    </a:srgbClr>
                  </a:outerShdw>
                </a:effectLst>
                <a:latin typeface="Archivo Condensed"/>
                <a:ea typeface="Archivo Condensed"/>
                <a:cs typeface="Archivo Condensed"/>
              </a:rPr>
              <a:t>04 · STRUCTURED FEEDBACK</a:t>
            </a:r>
          </a:p>
        </p:txBody>
      </p:sp>
      <p:sp>
        <p:nvSpPr>
          <p:cNvPr id="6" name="Header target"/>
          <p:cNvSpPr txBox="1"/>
          <p:nvPr/>
        </p:nvSpPr>
        <p:spPr>
          <a:xfrm>
            <a:off x="698500" y="1206500"/>
            <a:ext cx="76200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4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TARGET </a:t>
            </a:r>
            <a:r>
              <a:rPr sz="1400" b="0">
                <a:solidFill>
                  <a:srgbClr val="F4ECDD"/>
                </a:solidFill>
                <a:latin typeface="Arial"/>
                <a:ea typeface="Arial"/>
                <a:cs typeface="Arial"/>
              </a:rPr>
              <a:t>→ </a:t>
            </a:r>
            <a:r>
              <a:rPr sz="1400" b="1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Feedback</a:t>
            </a:r>
          </a:p>
        </p:txBody>
      </p:sp>
      <p:sp>
        <p:nvSpPr>
          <p:cNvPr id="7" name="Statement"/>
          <p:cNvSpPr txBox="1"/>
          <p:nvPr/>
        </p:nvSpPr>
        <p:spPr>
          <a:xfrm>
            <a:off x="698500" y="1841500"/>
            <a:ext cx="10795000" cy="190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39"/>
              </a:lnSpc>
            </a:pPr>
            <a:r>
              <a:rPr sz="3650" b="0">
                <a:solidFill>
                  <a:srgbClr val="F4ECDD"/>
                </a:solidFill>
                <a:latin typeface="Archivo Display"/>
                <a:ea typeface="Archivo Display"/>
                <a:cs typeface="Archivo Display"/>
              </a:rPr>
              <a:t>OPERATIONAL FEEDBACK TELLS YOU</a:t>
            </a:r>
          </a:p>
          <a:p>
            <a:pPr algn="l">
              <a:lnSpc>
                <a:spcPts val="3139"/>
              </a:lnSpc>
            </a:pPr>
            <a:r>
              <a:rPr sz="3650" b="0">
                <a:solidFill>
                  <a:srgbClr val="F4ECDD"/>
                </a:solidFill>
                <a:latin typeface="Archivo Display"/>
                <a:ea typeface="Archivo Display"/>
                <a:cs typeface="Archivo Display"/>
              </a:rPr>
              <a:t>WHETHER THE TRANSACTION WORKED.</a:t>
            </a:r>
          </a:p>
          <a:p>
            <a:pPr algn="l">
              <a:lnSpc>
                <a:spcPts val="3139"/>
              </a:lnSpc>
              <a:spcBef>
                <a:spcPts val="1350"/>
              </a:spcBef>
            </a:pPr>
            <a:r>
              <a:rPr sz="3650" b="0">
                <a:solidFill>
                  <a:srgbClr val="FFD23F"/>
                </a:solidFill>
                <a:latin typeface="Archivo Display"/>
                <a:ea typeface="Archivo Display"/>
                <a:cs typeface="Archivo Display"/>
              </a:rPr>
              <a:t>DEVELOPMENTAL FEEDBACK TELLS YOU</a:t>
            </a:r>
          </a:p>
          <a:p>
            <a:pPr algn="l">
              <a:lnSpc>
                <a:spcPts val="3139"/>
              </a:lnSpc>
            </a:pPr>
            <a:r>
              <a:rPr sz="3650" b="0">
                <a:solidFill>
                  <a:srgbClr val="FFD23F"/>
                </a:solidFill>
                <a:latin typeface="Archivo Display"/>
                <a:ea typeface="Archivo Display"/>
                <a:cs typeface="Archivo Display"/>
              </a:rPr>
              <a:t>WHETHER YOU ARE GROWING.</a:t>
            </a:r>
          </a:p>
        </p:txBody>
      </p:sp>
      <p:sp>
        <p:nvSpPr>
          <p:cNvPr id="8" name="Topic: Accuracy"/>
          <p:cNvSpPr/>
          <p:nvPr/>
        </p:nvSpPr>
        <p:spPr>
          <a:xfrm rot="21540000">
            <a:off x="698500" y="5016500"/>
            <a:ext cx="2077720" cy="762000"/>
          </a:xfrm>
          <a:prstGeom prst="round2SameRect">
            <a:avLst>
              <a:gd name="adj1" fmla="val 15000"/>
              <a:gd name="adj2" fmla="val 0"/>
            </a:avLst>
          </a:prstGeom>
          <a:solidFill>
            <a:srgbClr val="F4ECDD"/>
          </a:solidFill>
          <a:ln>
            <a:noFill/>
          </a:ln>
          <a:effectLst>
            <a:outerShdw blurRad="0" dist="63500" dir="3187806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600"/>
              </a:lnSpc>
            </a:pPr>
            <a:r>
              <a:rPr sz="150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ACCURACY</a:t>
            </a:r>
          </a:p>
        </p:txBody>
      </p:sp>
      <p:sp>
        <p:nvSpPr>
          <p:cNvPr id="9" name="Topic: Customer Service"/>
          <p:cNvSpPr/>
          <p:nvPr/>
        </p:nvSpPr>
        <p:spPr>
          <a:xfrm rot="60000">
            <a:off x="2877820" y="5016500"/>
            <a:ext cx="2077720" cy="762000"/>
          </a:xfrm>
          <a:prstGeom prst="round2SameRect">
            <a:avLst>
              <a:gd name="adj1" fmla="val 15000"/>
              <a:gd name="adj2" fmla="val 0"/>
            </a:avLst>
          </a:prstGeom>
          <a:solidFill>
            <a:srgbClr val="FFD23F"/>
          </a:solidFill>
          <a:ln>
            <a:noFill/>
          </a:ln>
          <a:effectLst>
            <a:outerShdw blurRad="0" dist="63500" dir="3187806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600"/>
              </a:lnSpc>
            </a:pPr>
            <a:r>
              <a:rPr sz="150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CUSTOMER SERVICE</a:t>
            </a:r>
          </a:p>
        </p:txBody>
      </p:sp>
      <p:sp>
        <p:nvSpPr>
          <p:cNvPr id="10" name="Topic: Reliability"/>
          <p:cNvSpPr/>
          <p:nvPr/>
        </p:nvSpPr>
        <p:spPr>
          <a:xfrm rot="21570000">
            <a:off x="5057140" y="5016500"/>
            <a:ext cx="2077720" cy="762000"/>
          </a:xfrm>
          <a:prstGeom prst="round2SameRect">
            <a:avLst>
              <a:gd name="adj1" fmla="val 15000"/>
              <a:gd name="adj2" fmla="val 0"/>
            </a:avLst>
          </a:prstGeom>
          <a:solidFill>
            <a:srgbClr val="FF7A1A"/>
          </a:solidFill>
          <a:ln>
            <a:noFill/>
          </a:ln>
          <a:effectLst>
            <a:outerShdw blurRad="0" dist="63500" dir="3187806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600"/>
              </a:lnSpc>
            </a:pPr>
            <a:r>
              <a:rPr sz="150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RELIABILITY</a:t>
            </a:r>
          </a:p>
        </p:txBody>
      </p:sp>
      <p:sp>
        <p:nvSpPr>
          <p:cNvPr id="11" name="Topic: Improvement"/>
          <p:cNvSpPr/>
          <p:nvPr/>
        </p:nvSpPr>
        <p:spPr>
          <a:xfrm rot="72000">
            <a:off x="7236460" y="5016500"/>
            <a:ext cx="2077720" cy="762000"/>
          </a:xfrm>
          <a:prstGeom prst="round2SameRect">
            <a:avLst>
              <a:gd name="adj1" fmla="val 15000"/>
              <a:gd name="adj2" fmla="val 0"/>
            </a:avLst>
          </a:prstGeom>
          <a:solidFill>
            <a:srgbClr val="3D6BFF"/>
          </a:solidFill>
          <a:ln>
            <a:noFill/>
          </a:ln>
          <a:effectLst>
            <a:outerShdw blurRad="0" dist="63500" dir="3187806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600"/>
              </a:lnSpc>
            </a:pPr>
            <a:r>
              <a:rPr sz="150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IMPROVEMENT</a:t>
            </a:r>
          </a:p>
        </p:txBody>
      </p:sp>
      <p:sp>
        <p:nvSpPr>
          <p:cNvPr id="12" name="Topic: Recognition"/>
          <p:cNvSpPr/>
          <p:nvPr/>
        </p:nvSpPr>
        <p:spPr>
          <a:xfrm rot="21540000">
            <a:off x="9415780" y="5016500"/>
            <a:ext cx="2077720" cy="762000"/>
          </a:xfrm>
          <a:prstGeom prst="round2SameRect">
            <a:avLst>
              <a:gd name="adj1" fmla="val 15000"/>
              <a:gd name="adj2" fmla="val 0"/>
            </a:avLst>
          </a:prstGeom>
          <a:solidFill>
            <a:srgbClr val="FF2E88"/>
          </a:solidFill>
          <a:ln>
            <a:noFill/>
          </a:ln>
          <a:effectLst>
            <a:outerShdw blurRad="0" dist="63500" dir="3187806" algn="tl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ts val="1600"/>
              </a:lnSpc>
            </a:pPr>
            <a:r>
              <a:rPr sz="150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RECOGNITION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" y="5969000"/>
            <a:ext cx="5173742" cy="24003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4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Short · regular · supervisor-led conversations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D6C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1397000"/>
            <a:ext cx="11341410" cy="42354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045"/>
              </a:lnSpc>
            </a:pPr>
            <a:r>
              <a:rPr sz="2900" b="0">
                <a:solidFill>
                  <a:srgbClr val="333333"/>
                </a:solidFill>
                <a:latin typeface="Archivo Expanded"/>
                <a:ea typeface="Archivo Expanded"/>
                <a:cs typeface="Archivo Expanded"/>
              </a:rPr>
              <a:t>EVERYTHING WE HAVE PROPOSED SO FAR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000" y="1968500"/>
            <a:ext cx="11670570" cy="1828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900"/>
              </a:lnSpc>
            </a:pPr>
            <a:r>
              <a:rPr sz="15000" b="0">
                <a:solidFill>
                  <a:srgbClr val="111111"/>
                </a:solidFill>
                <a:latin typeface="Archivo Display"/>
                <a:ea typeface="Archivo Display"/>
                <a:cs typeface="Archivo Display"/>
              </a:rPr>
              <a:t>A HYPOTHESIS.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4064000"/>
            <a:ext cx="6509441" cy="1828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2900"/>
              </a:lnSpc>
            </a:pPr>
            <a:r>
              <a:rPr sz="15000" b="0">
                <a:solidFill>
                  <a:srgbClr val="111111"/>
                </a:solidFill>
                <a:latin typeface="Archivo Display"/>
                <a:ea typeface="Archivo Display"/>
                <a:cs typeface="Archivo Display"/>
              </a:rPr>
              <a:t>TEST IT.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6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 A20 (clipboard)" descr="a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Vignett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0610">
                  <a:alpha val="0"/>
                </a:srgbClr>
              </a:gs>
              <a:gs pos="40000">
                <a:srgbClr val="0B0610">
                  <a:alpha val="0"/>
                </a:srgbClr>
              </a:gs>
              <a:gs pos="100000">
                <a:srgbClr val="0B0610">
                  <a:alpha val="60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Texture: film grain" descr="grain.png"/>
          <p:cNvPicPr>
            <a:picLocks noChangeAspect="1" noSel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VII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TEST</a:t>
            </a:r>
          </a:p>
        </p:txBody>
      </p:sp>
      <p:sp>
        <p:nvSpPr>
          <p:cNvPr id="6" name="Paper: header"/>
          <p:cNvSpPr txBox="1"/>
          <p:nvPr/>
        </p:nvSpPr>
        <p:spPr>
          <a:xfrm rot="20847676">
            <a:off x="3164686" y="1734670"/>
            <a:ext cx="3506943" cy="1856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60"/>
              </a:lnSpc>
            </a:pPr>
            <a:r>
              <a:rPr sz="1168" b="1" spc="186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PROPOSED PILOT · PLAN</a:t>
            </a:r>
          </a:p>
        </p:txBody>
      </p:sp>
      <p:sp>
        <p:nvSpPr>
          <p:cNvPr id="7" name="Paper: 6 weeks"/>
          <p:cNvSpPr txBox="1"/>
          <p:nvPr/>
        </p:nvSpPr>
        <p:spPr>
          <a:xfrm rot="20819038">
            <a:off x="3387409" y="2247783"/>
            <a:ext cx="791520" cy="8598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45"/>
              </a:lnSpc>
            </a:pPr>
            <a:r>
              <a:rPr sz="5401" b="0">
                <a:solidFill>
                  <a:srgbClr val="0B0610"/>
                </a:solidFill>
                <a:latin typeface="Archivo Display"/>
                <a:ea typeface="Archivo Display"/>
                <a:cs typeface="Archivo Display"/>
              </a:rPr>
              <a:t>6</a:t>
            </a:r>
          </a:p>
          <a:p>
            <a:pPr algn="l">
              <a:lnSpc>
                <a:spcPts val="1237"/>
              </a:lnSpc>
            </a:pPr>
            <a:r>
              <a:rPr sz="1125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WEEKS</a:t>
            </a:r>
          </a:p>
        </p:txBody>
      </p:sp>
      <p:sp>
        <p:nvSpPr>
          <p:cNvPr id="8" name="Paper: 1 karachi branch"/>
          <p:cNvSpPr txBox="1"/>
          <p:nvPr/>
        </p:nvSpPr>
        <p:spPr>
          <a:xfrm rot="20819038">
            <a:off x="4323458" y="2016980"/>
            <a:ext cx="947125" cy="8526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508"/>
              </a:lnSpc>
            </a:pPr>
            <a:r>
              <a:rPr sz="5242" b="0">
                <a:solidFill>
                  <a:srgbClr val="0B0610"/>
                </a:solidFill>
                <a:latin typeface="Archivo Display"/>
                <a:ea typeface="Archivo Display"/>
                <a:cs typeface="Archivo Display"/>
              </a:rPr>
              <a:t>1</a:t>
            </a:r>
          </a:p>
          <a:p>
            <a:pPr algn="l">
              <a:lnSpc>
                <a:spcPts val="1201"/>
              </a:lnSpc>
            </a:pPr>
            <a:r>
              <a:rPr sz="1092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KARACHI BRANCH</a:t>
            </a:r>
          </a:p>
        </p:txBody>
      </p:sp>
      <p:sp>
        <p:nvSpPr>
          <p:cNvPr id="9" name="Paper: ~10–12 cashiers"/>
          <p:cNvSpPr txBox="1"/>
          <p:nvPr/>
        </p:nvSpPr>
        <p:spPr>
          <a:xfrm rot="20819038">
            <a:off x="5405079" y="1673927"/>
            <a:ext cx="1792346" cy="8433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308"/>
              </a:lnSpc>
            </a:pPr>
            <a:r>
              <a:rPr sz="5010" b="0">
                <a:solidFill>
                  <a:srgbClr val="0B0610"/>
                </a:solidFill>
                <a:latin typeface="Archivo Display"/>
                <a:ea typeface="Archivo Display"/>
                <a:cs typeface="Archivo Display"/>
              </a:rPr>
              <a:t>~10–12</a:t>
            </a:r>
          </a:p>
          <a:p>
            <a:pPr algn="l">
              <a:lnSpc>
                <a:spcPts val="1148"/>
              </a:lnSpc>
            </a:pPr>
            <a:r>
              <a:rPr sz="1043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CASHIERS</a:t>
            </a:r>
          </a:p>
        </p:txBody>
      </p:sp>
      <p:sp>
        <p:nvSpPr>
          <p:cNvPr id="10" name="Paper: W0"/>
          <p:cNvSpPr txBox="1"/>
          <p:nvPr/>
        </p:nvSpPr>
        <p:spPr>
          <a:xfrm rot="20785439">
            <a:off x="3662394" y="3210163"/>
            <a:ext cx="671883" cy="2395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56"/>
              </a:lnSpc>
            </a:pPr>
            <a:r>
              <a:rPr sz="1725" b="1">
                <a:solidFill>
                  <a:srgbClr val="3D6BFF"/>
                </a:solidFill>
                <a:latin typeface="JetBrains Mono"/>
                <a:ea typeface="JetBrains Mono"/>
                <a:cs typeface="JetBrains Mono"/>
              </a:rPr>
              <a:t>W0</a:t>
            </a:r>
          </a:p>
        </p:txBody>
      </p:sp>
      <p:sp>
        <p:nvSpPr>
          <p:cNvPr id="11" name="Paper: Baseline"/>
          <p:cNvSpPr txBox="1"/>
          <p:nvPr/>
        </p:nvSpPr>
        <p:spPr>
          <a:xfrm rot="20773343">
            <a:off x="4515576" y="2762519"/>
            <a:ext cx="2854060" cy="6884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96"/>
              </a:lnSpc>
            </a:pPr>
            <a:r>
              <a:rPr sz="1425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BASELINE</a:t>
            </a:r>
          </a:p>
          <a:p>
            <a:pPr algn="l">
              <a:lnSpc>
                <a:spcPts val="1425"/>
              </a:lnSpc>
              <a:spcBef>
                <a:spcPts val="282"/>
              </a:spcBef>
            </a:pPr>
            <a:r>
              <a:rPr sz="1151" b="0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Same JCM, motivation &amp; satisfaction survey + operational indicators</a:t>
            </a:r>
          </a:p>
        </p:txBody>
      </p:sp>
      <p:sp>
        <p:nvSpPr>
          <p:cNvPr id="12" name="Paper: W1–6"/>
          <p:cNvSpPr txBox="1"/>
          <p:nvPr/>
        </p:nvSpPr>
        <p:spPr>
          <a:xfrm rot="20739825">
            <a:off x="4032875" y="4064549"/>
            <a:ext cx="689775" cy="2537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13"/>
              </a:lnSpc>
            </a:pPr>
            <a:r>
              <a:rPr sz="1771" b="1">
                <a:solidFill>
                  <a:srgbClr val="C98A00"/>
                </a:solidFill>
                <a:latin typeface="JetBrains Mono"/>
                <a:ea typeface="JetBrains Mono"/>
                <a:cs typeface="JetBrains Mono"/>
              </a:rPr>
              <a:t>W1–6</a:t>
            </a:r>
          </a:p>
        </p:txBody>
      </p:sp>
      <p:sp>
        <p:nvSpPr>
          <p:cNvPr id="13" name="Paper: Intervention"/>
          <p:cNvSpPr txBox="1"/>
          <p:nvPr/>
        </p:nvSpPr>
        <p:spPr>
          <a:xfrm rot="20735353">
            <a:off x="4835988" y="3601965"/>
            <a:ext cx="2913096" cy="3824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27"/>
              </a:lnSpc>
            </a:pPr>
            <a:r>
              <a:rPr sz="1454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INTERVENTION</a:t>
            </a:r>
          </a:p>
          <a:p>
            <a:pPr algn="l">
              <a:lnSpc>
                <a:spcPts val="1454"/>
              </a:lnSpc>
              <a:spcBef>
                <a:spcPts val="296"/>
              </a:spcBef>
            </a:pPr>
            <a:r>
              <a:rPr sz="1174" b="0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The four proposed changes</a:t>
            </a:r>
          </a:p>
        </p:txBody>
      </p:sp>
      <p:sp>
        <p:nvSpPr>
          <p:cNvPr id="14" name="Paper: W3"/>
          <p:cNvSpPr txBox="1"/>
          <p:nvPr/>
        </p:nvSpPr>
        <p:spPr>
          <a:xfrm rot="20708756">
            <a:off x="4284265" y="4644203"/>
            <a:ext cx="701936" cy="26352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52"/>
              </a:lnSpc>
            </a:pPr>
            <a:r>
              <a:rPr sz="1802" b="1">
                <a:solidFill>
                  <a:srgbClr val="FF7A1A"/>
                </a:solidFill>
                <a:latin typeface="JetBrains Mono"/>
                <a:ea typeface="JetBrains Mono"/>
                <a:cs typeface="JetBrains Mono"/>
              </a:rPr>
              <a:t>W3</a:t>
            </a:r>
          </a:p>
        </p:txBody>
      </p:sp>
      <p:sp>
        <p:nvSpPr>
          <p:cNvPr id="15" name="Paper: Midpoint Check"/>
          <p:cNvSpPr txBox="1"/>
          <p:nvPr/>
        </p:nvSpPr>
        <p:spPr>
          <a:xfrm rot="20699735">
            <a:off x="5134943" y="4145963"/>
            <a:ext cx="2968205" cy="5753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6"/>
              </a:lnSpc>
            </a:pPr>
            <a:r>
              <a:rPr sz="1482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MIDPOINT CHECK</a:t>
            </a:r>
          </a:p>
          <a:p>
            <a:pPr algn="l">
              <a:lnSpc>
                <a:spcPts val="1482"/>
              </a:lnSpc>
              <a:spcBef>
                <a:spcPts val="308"/>
              </a:spcBef>
            </a:pPr>
            <a:r>
              <a:rPr sz="1197" b="0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Catch operational problems early</a:t>
            </a:r>
          </a:p>
        </p:txBody>
      </p:sp>
      <p:sp>
        <p:nvSpPr>
          <p:cNvPr id="16" name="Marker ring (W3)"/>
          <p:cNvSpPr/>
          <p:nvPr/>
        </p:nvSpPr>
        <p:spPr>
          <a:xfrm>
            <a:off x="4110733" y="4551590"/>
            <a:ext cx="928297" cy="449457"/>
          </a:xfrm>
          <a:custGeom>
            <a:avLst/>
            <a:gdLst/>
            <a:ahLst/>
            <a:cxnLst/>
            <a:rect l="l" t="t" r="r" b="b"/>
            <a:pathLst>
              <a:path w="928297" h="449457">
                <a:moveTo>
                  <a:pt x="854704" y="41699"/>
                </a:moveTo>
                <a:lnTo>
                  <a:pt x="910269" y="79540"/>
                </a:lnTo>
                <a:lnTo>
                  <a:pt x="924451" y="130568"/>
                </a:lnTo>
                <a:lnTo>
                  <a:pt x="918910" y="185060"/>
                </a:lnTo>
                <a:lnTo>
                  <a:pt x="887747" y="243184"/>
                </a:lnTo>
                <a:lnTo>
                  <a:pt x="825374" y="301911"/>
                </a:lnTo>
                <a:lnTo>
                  <a:pt x="732213" y="354738"/>
                </a:lnTo>
                <a:lnTo>
                  <a:pt x="623694" y="400462"/>
                </a:lnTo>
                <a:lnTo>
                  <a:pt x="502667" y="433065"/>
                </a:lnTo>
                <a:lnTo>
                  <a:pt x="381497" y="446971"/>
                </a:lnTo>
                <a:lnTo>
                  <a:pt x="267450" y="449457"/>
                </a:lnTo>
                <a:lnTo>
                  <a:pt x="153893" y="446197"/>
                </a:lnTo>
                <a:lnTo>
                  <a:pt x="86269" y="410710"/>
                </a:lnTo>
                <a:lnTo>
                  <a:pt x="34528" y="370295"/>
                </a:lnTo>
                <a:lnTo>
                  <a:pt x="0" y="322881"/>
                </a:lnTo>
                <a:lnTo>
                  <a:pt x="27525" y="263415"/>
                </a:lnTo>
                <a:lnTo>
                  <a:pt x="56533" y="204743"/>
                </a:lnTo>
                <a:lnTo>
                  <a:pt x="126993" y="146845"/>
                </a:lnTo>
                <a:lnTo>
                  <a:pt x="212242" y="90741"/>
                </a:lnTo>
                <a:lnTo>
                  <a:pt x="330666" y="53151"/>
                </a:lnTo>
                <a:lnTo>
                  <a:pt x="447165" y="15526"/>
                </a:lnTo>
                <a:lnTo>
                  <a:pt x="566902" y="4500"/>
                </a:lnTo>
                <a:lnTo>
                  <a:pt x="681153" y="0"/>
                </a:lnTo>
                <a:lnTo>
                  <a:pt x="774441" y="16820"/>
                </a:lnTo>
                <a:lnTo>
                  <a:pt x="858846" y="39710"/>
                </a:lnTo>
                <a:lnTo>
                  <a:pt x="915500" y="77803"/>
                </a:lnTo>
                <a:lnTo>
                  <a:pt x="928297" y="129768"/>
                </a:lnTo>
              </a:path>
            </a:pathLst>
          </a:custGeom>
          <a:noFill/>
          <a:ln w="38100" cap="rnd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per: W6"/>
          <p:cNvSpPr txBox="1"/>
          <p:nvPr/>
        </p:nvSpPr>
        <p:spPr>
          <a:xfrm rot="20667315">
            <a:off x="4618465" y="5414688"/>
            <a:ext cx="718134" cy="2768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43" b="1">
                <a:solidFill>
                  <a:srgbClr val="3D6BFF"/>
                </a:solidFill>
                <a:latin typeface="JetBrains Mono"/>
                <a:ea typeface="JetBrains Mono"/>
                <a:cs typeface="JetBrains Mono"/>
              </a:rPr>
              <a:t>W6</a:t>
            </a:r>
          </a:p>
        </p:txBody>
      </p:sp>
      <p:sp>
        <p:nvSpPr>
          <p:cNvPr id="18" name="Paper: Post-Measurement"/>
          <p:cNvSpPr txBox="1"/>
          <p:nvPr/>
        </p:nvSpPr>
        <p:spPr>
          <a:xfrm rot="20662403">
            <a:off x="5446854" y="4893763"/>
            <a:ext cx="3025754" cy="4163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86"/>
              </a:lnSpc>
            </a:pPr>
            <a:r>
              <a:rPr sz="1510" b="0">
                <a:solidFill>
                  <a:srgbClr val="0B0610"/>
                </a:solidFill>
                <a:latin typeface="Archivo Expanded"/>
                <a:ea typeface="Archivo Expanded"/>
                <a:cs typeface="Archivo Expanded"/>
              </a:rPr>
              <a:t>POST-MEASUREMENT</a:t>
            </a:r>
          </a:p>
          <a:p>
            <a:pPr algn="l">
              <a:lnSpc>
                <a:spcPts val="1510"/>
              </a:lnSpc>
              <a:spcBef>
                <a:spcPts val="322"/>
              </a:spcBef>
            </a:pPr>
            <a:r>
              <a:rPr sz="1220" b="0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Same measures again</a:t>
            </a:r>
          </a:p>
        </p:txBody>
      </p:sp>
      <p:sp>
        <p:nvSpPr>
          <p:cNvPr id="19" name="Paper rule"/>
          <p:cNvSpPr/>
          <p:nvPr/>
        </p:nvSpPr>
        <p:spPr>
          <a:xfrm>
            <a:off x="3585436" y="2379403"/>
            <a:ext cx="3494423" cy="832735"/>
          </a:xfrm>
          <a:custGeom>
            <a:avLst/>
            <a:gdLst/>
            <a:ahLst/>
            <a:cxnLst/>
            <a:rect l="l" t="t" r="r" b="b"/>
            <a:pathLst>
              <a:path w="3494423" h="832735">
                <a:moveTo>
                  <a:pt x="0" y="832735"/>
                </a:moveTo>
                <a:lnTo>
                  <a:pt x="3494423" y="0"/>
                </a:lnTo>
              </a:path>
            </a:pathLst>
          </a:custGeom>
          <a:noFill/>
          <a:ln w="19050" cap="rnd">
            <a:solidFill>
              <a:srgbClr val="0B0610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mp"/>
          <p:cNvSpPr/>
          <p:nvPr/>
        </p:nvSpPr>
        <p:spPr>
          <a:xfrm rot="360000">
            <a:off x="6858000" y="635000"/>
            <a:ext cx="4817245" cy="533400"/>
          </a:xfrm>
          <a:prstGeom prst="roundRect">
            <a:avLst>
              <a:gd name="adj" fmla="val 19047"/>
            </a:avLst>
          </a:prstGeom>
          <a:solidFill>
            <a:srgbClr val="0B0610">
              <a:alpha val="35000"/>
            </a:srgbClr>
          </a:solidFill>
          <a:ln w="63500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0800" rIns="190500" bIns="38100">
            <a:noAutofit/>
          </a:bodyPr>
          <a:lstStyle/>
          <a:p>
            <a:pPr algn="ctr">
              <a:lnSpc>
                <a:spcPts val="2300"/>
              </a:lnSpc>
            </a:pPr>
            <a:r>
              <a:rPr sz="2300" b="0" spc="46">
                <a:solidFill>
                  <a:srgbClr val="FF2E88"/>
                </a:solidFill>
                <a:latin typeface="Archivo Condensed"/>
                <a:ea typeface="Archivo Condensed"/>
                <a:cs typeface="Archivo Condensed"/>
              </a:rPr>
              <a:t>PROPOSED · NOT YET CONDUCTED</a:t>
            </a:r>
          </a:p>
        </p:txBody>
      </p:sp>
      <p:sp>
        <p:nvSpPr>
          <p:cNvPr id="21" name="Marker note"/>
          <p:cNvSpPr txBox="1"/>
          <p:nvPr/>
        </p:nvSpPr>
        <p:spPr>
          <a:xfrm rot="21240000">
            <a:off x="9271000" y="1841500"/>
            <a:ext cx="2921000" cy="139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115"/>
              </a:lnSpc>
            </a:pPr>
            <a:r>
              <a:rPr sz="4200" b="0">
                <a:solidFill>
                  <a:srgbClr val="FFD23F"/>
                </a:solidFill>
                <a:latin typeface="Caveat Brush"/>
                <a:ea typeface="Caveat Brush"/>
                <a:cs typeface="Caveat Brush"/>
              </a:rPr>
              <a:t>a plan,</a:t>
            </a:r>
          </a:p>
          <a:p>
            <a:pPr algn="l">
              <a:lnSpc>
                <a:spcPts val="4115"/>
              </a:lnSpc>
            </a:pPr>
            <a:r>
              <a:rPr sz="4200" b="0">
                <a:solidFill>
                  <a:srgbClr val="FFD23F"/>
                </a:solidFill>
                <a:latin typeface="Caveat Brush"/>
                <a:ea typeface="Caveat Brush"/>
                <a:cs typeface="Caveat Brush"/>
              </a:rPr>
              <a:t>not a result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D1243"/>
            </a:gs>
            <a:gs pos="52000">
              <a:srgbClr val="1C0A29"/>
            </a:gs>
            <a:gs pos="100000">
              <a:srgbClr val="0B0610"/>
            </a:gs>
          </a:gsLst>
          <a:path path="circle">
            <a:fillToRect l="50000" t="38000" r="50000" b="62000"/>
          </a:path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Texture: film grain" descr="grain.png"/>
          <p:cNvPicPr>
            <a:picLocks noChangeAspect="1" noSel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VII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TEST</a:t>
            </a:r>
          </a:p>
        </p:txBody>
      </p:sp>
      <p:sp>
        <p:nvSpPr>
          <p:cNvPr id="4" name="!!beam"/>
          <p:cNvSpPr/>
          <p:nvPr/>
        </p:nvSpPr>
        <p:spPr>
          <a:xfrm>
            <a:off x="1333500" y="4838700"/>
            <a:ext cx="9525000" cy="114300"/>
          </a:xfrm>
          <a:prstGeom prst="roundRect">
            <a:avLst>
              <a:gd name="adj" fmla="val 50000"/>
            </a:avLst>
          </a:prstGeom>
          <a:solidFill>
            <a:srgbClr val="F4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ulcrum"/>
          <p:cNvSpPr/>
          <p:nvPr/>
        </p:nvSpPr>
        <p:spPr>
          <a:xfrm>
            <a:off x="5588000" y="4953000"/>
            <a:ext cx="1016000" cy="952500"/>
          </a:xfrm>
          <a:custGeom>
            <a:avLst/>
            <a:gdLst/>
            <a:ahLst/>
            <a:cxnLst/>
            <a:rect l="l" t="t" r="r" b="b"/>
            <a:pathLst>
              <a:path w="1016000" h="952500">
                <a:moveTo>
                  <a:pt x="0" y="952500"/>
                </a:moveTo>
                <a:lnTo>
                  <a:pt x="508000" y="0"/>
                </a:lnTo>
                <a:lnTo>
                  <a:pt x="1016000" y="952500"/>
                </a:lnTo>
                <a:close/>
              </a:path>
            </a:pathLst>
          </a:cu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!!left"/>
          <p:cNvGrpSpPr/>
          <p:nvPr/>
        </p:nvGrpSpPr>
        <p:grpSpPr>
          <a:xfrm>
            <a:off x="1270000" y="762000"/>
            <a:ext cx="4318000" cy="4000500"/>
            <a:chOff x="1270000" y="762000"/>
            <a:chExt cx="4318000" cy="4000500"/>
          </a:xfrm>
        </p:grpSpPr>
        <p:pic>
          <p:nvPicPr>
            <p:cNvPr id="7" name="Cashier A04" descr="a04_sticke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4000" y="762000"/>
              <a:ext cx="2984500" cy="2120494"/>
            </a:xfrm>
            <a:prstGeom prst="rect">
              <a:avLst/>
            </a:prstGeom>
          </p:spPr>
        </p:pic>
        <p:sp>
          <p:nvSpPr>
            <p:cNvPr id="8" name="Card"/>
            <p:cNvSpPr/>
            <p:nvPr/>
          </p:nvSpPr>
          <p:spPr>
            <a:xfrm>
              <a:off x="1270000" y="2540000"/>
              <a:ext cx="4318000" cy="2222500"/>
            </a:xfrm>
            <a:prstGeom prst="rect">
              <a:avLst/>
            </a:prstGeom>
            <a:solidFill>
              <a:srgbClr val="F7F1E3"/>
            </a:solidFill>
            <a:ln>
              <a:noFill/>
            </a:ln>
            <a:effectLst>
              <a:outerShdw blurRad="0" dist="109249" dir="3267739" algn="tl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" name="Card top"/>
            <p:cNvSpPr/>
            <p:nvPr/>
          </p:nvSpPr>
          <p:spPr>
            <a:xfrm>
              <a:off x="1270000" y="2540000"/>
              <a:ext cx="4318000" cy="139700"/>
            </a:xfrm>
            <a:prstGeom prst="rect">
              <a:avLst/>
            </a:prstGeom>
            <a:solidFill>
              <a:srgbClr val="3D6B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" name="Employee Experience title"/>
            <p:cNvSpPr txBox="1"/>
            <p:nvPr/>
          </p:nvSpPr>
          <p:spPr>
            <a:xfrm>
              <a:off x="1485900" y="2717800"/>
              <a:ext cx="3937000" cy="3937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2484"/>
                </a:lnSpc>
              </a:pPr>
              <a:r>
                <a:rPr sz="2700" b="0">
                  <a:solidFill>
                    <a:srgbClr val="0B0610"/>
                  </a:solidFill>
                  <a:latin typeface="Archivo Condensed"/>
                  <a:ea typeface="Archivo Condensed"/>
                  <a:cs typeface="Archivo Condensed"/>
                </a:rPr>
                <a:t>EMPLOYEE EXPERIENCE</a:t>
              </a:r>
            </a:p>
          </p:txBody>
        </p:sp>
        <p:sp>
          <p:nvSpPr>
            <p:cNvPr id="11" name="Employee Experience list"/>
            <p:cNvSpPr txBox="1"/>
            <p:nvPr/>
          </p:nvSpPr>
          <p:spPr>
            <a:xfrm>
              <a:off x="1485900" y="3175000"/>
              <a:ext cx="2667000" cy="1587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687"/>
                </a:lnSpc>
              </a:pPr>
              <a:r>
                <a:rPr sz="1350" b="1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Skill Variety</a:t>
              </a:r>
            </a:p>
            <a:p>
              <a:pPr algn="l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Autonomy</a:t>
              </a:r>
            </a:p>
            <a:p>
              <a:pPr algn="l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Feedback</a:t>
              </a:r>
            </a:p>
            <a:p>
              <a:pPr algn="l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Internal Work Motivation</a:t>
              </a:r>
            </a:p>
            <a:p>
              <a:pPr algn="l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Job Satisfaction</a:t>
              </a:r>
            </a:p>
          </p:txBody>
        </p:sp>
        <p:sp>
          <p:nvSpPr>
            <p:cNvPr id="12" name="Employee Experience direction"/>
            <p:cNvSpPr txBox="1"/>
            <p:nvPr/>
          </p:nvSpPr>
          <p:spPr>
            <a:xfrm>
              <a:off x="4064000" y="3175000"/>
              <a:ext cx="1333500" cy="1587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>
                <a:lnSpc>
                  <a:spcPts val="1687"/>
                </a:lnSpc>
              </a:pPr>
              <a:r>
                <a:rPr sz="1350" b="1">
                  <a:solidFill>
                    <a:srgbClr val="3D6BFF"/>
                  </a:solidFill>
                  <a:latin typeface="JetBrains Mono"/>
                  <a:ea typeface="JetBrains Mono"/>
                  <a:cs typeface="JetBrains Mono"/>
                </a:rPr>
                <a:t>expected</a:t>
              </a:r>
              <a:r>
                <a:rPr sz="1350" b="0">
                  <a:solidFill>
                    <a:srgbClr val="3D6BFF"/>
                  </a:solidFill>
                  <a:latin typeface="Arial"/>
                  <a:ea typeface="Arial"/>
                  <a:cs typeface="Arial"/>
                </a:rPr>
                <a:t> ↑</a:t>
              </a:r>
            </a:p>
            <a:p>
              <a:pPr algn="r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3D6BFF"/>
                  </a:solidFill>
                  <a:latin typeface="JetBrains Mono"/>
                  <a:ea typeface="JetBrains Mono"/>
                  <a:cs typeface="JetBrains Mono"/>
                </a:rPr>
                <a:t>expected</a:t>
              </a:r>
              <a:r>
                <a:rPr sz="1350" b="0">
                  <a:solidFill>
                    <a:srgbClr val="3D6BFF"/>
                  </a:solidFill>
                  <a:latin typeface="Arial"/>
                  <a:ea typeface="Arial"/>
                  <a:cs typeface="Arial"/>
                </a:rPr>
                <a:t> ↑</a:t>
              </a:r>
            </a:p>
            <a:p>
              <a:pPr algn="r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3D6BFF"/>
                  </a:solidFill>
                  <a:latin typeface="JetBrains Mono"/>
                  <a:ea typeface="JetBrains Mono"/>
                  <a:cs typeface="JetBrains Mono"/>
                </a:rPr>
                <a:t>expected</a:t>
              </a:r>
              <a:r>
                <a:rPr sz="1350" b="0">
                  <a:solidFill>
                    <a:srgbClr val="3D6BFF"/>
                  </a:solidFill>
                  <a:latin typeface="Arial"/>
                  <a:ea typeface="Arial"/>
                  <a:cs typeface="Arial"/>
                </a:rPr>
                <a:t> ↑</a:t>
              </a:r>
            </a:p>
            <a:p>
              <a:pPr algn="r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3D6BFF"/>
                  </a:solidFill>
                  <a:latin typeface="JetBrains Mono"/>
                  <a:ea typeface="JetBrains Mono"/>
                  <a:cs typeface="JetBrains Mono"/>
                </a:rPr>
                <a:t>expected</a:t>
              </a:r>
              <a:r>
                <a:rPr sz="1350" b="0">
                  <a:solidFill>
                    <a:srgbClr val="3D6BFF"/>
                  </a:solidFill>
                  <a:latin typeface="Arial"/>
                  <a:ea typeface="Arial"/>
                  <a:cs typeface="Arial"/>
                </a:rPr>
                <a:t> ↑</a:t>
              </a:r>
            </a:p>
            <a:p>
              <a:pPr algn="r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3D6BFF"/>
                  </a:solidFill>
                  <a:latin typeface="JetBrains Mono"/>
                  <a:ea typeface="JetBrains Mono"/>
                  <a:cs typeface="JetBrains Mono"/>
                </a:rPr>
                <a:t>expected</a:t>
              </a:r>
              <a:r>
                <a:rPr sz="1350" b="0">
                  <a:solidFill>
                    <a:srgbClr val="3D6BFF"/>
                  </a:solidFill>
                  <a:latin typeface="Arial"/>
                  <a:ea typeface="Arial"/>
                  <a:cs typeface="Arial"/>
                </a:rPr>
                <a:t> ↑</a:t>
              </a:r>
            </a:p>
          </p:txBody>
        </p:sp>
      </p:grpSp>
      <p:grpSp>
        <p:nvGrpSpPr>
          <p:cNvPr id="13" name="!!right"/>
          <p:cNvGrpSpPr/>
          <p:nvPr/>
        </p:nvGrpSpPr>
        <p:grpSpPr>
          <a:xfrm>
            <a:off x="6604000" y="698500"/>
            <a:ext cx="4318000" cy="4064000"/>
            <a:chOff x="6604000" y="698500"/>
            <a:chExt cx="4318000" cy="4064000"/>
          </a:xfrm>
        </p:grpSpPr>
        <p:pic>
          <p:nvPicPr>
            <p:cNvPr id="14" name="Till (A08, torn)" descr="torn_a08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80000">
              <a:off x="7175500" y="698500"/>
              <a:ext cx="3175000" cy="1905000"/>
            </a:xfrm>
            <a:prstGeom prst="rect">
              <a:avLst/>
            </a:prstGeom>
          </p:spPr>
        </p:pic>
        <p:sp>
          <p:nvSpPr>
            <p:cNvPr id="15" name="Card"/>
            <p:cNvSpPr/>
            <p:nvPr/>
          </p:nvSpPr>
          <p:spPr>
            <a:xfrm>
              <a:off x="6604000" y="2540000"/>
              <a:ext cx="4318000" cy="2222500"/>
            </a:xfrm>
            <a:prstGeom prst="rect">
              <a:avLst/>
            </a:prstGeom>
            <a:solidFill>
              <a:srgbClr val="F7F1E3"/>
            </a:solidFill>
            <a:ln>
              <a:noFill/>
            </a:ln>
            <a:effectLst>
              <a:outerShdw blurRad="0" dist="109249" dir="3267739" algn="tl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6" name="Card top"/>
            <p:cNvSpPr/>
            <p:nvPr/>
          </p:nvSpPr>
          <p:spPr>
            <a:xfrm>
              <a:off x="6604000" y="2540000"/>
              <a:ext cx="4318000" cy="139700"/>
            </a:xfrm>
            <a:prstGeom prst="rect">
              <a:avLst/>
            </a:prstGeom>
            <a:solidFill>
              <a:srgbClr val="FF2E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7" name="Operational Safety title"/>
            <p:cNvSpPr txBox="1"/>
            <p:nvPr/>
          </p:nvSpPr>
          <p:spPr>
            <a:xfrm>
              <a:off x="6819900" y="2717800"/>
              <a:ext cx="3937000" cy="3937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2484"/>
                </a:lnSpc>
              </a:pPr>
              <a:r>
                <a:rPr sz="2700" b="0">
                  <a:solidFill>
                    <a:srgbClr val="0B0610"/>
                  </a:solidFill>
                  <a:latin typeface="Archivo Condensed"/>
                  <a:ea typeface="Archivo Condensed"/>
                  <a:cs typeface="Archivo Condensed"/>
                </a:rPr>
                <a:t>OPERATIONAL SAFETY</a:t>
              </a:r>
            </a:p>
          </p:txBody>
        </p:sp>
        <p:sp>
          <p:nvSpPr>
            <p:cNvPr id="18" name="Operational Safety list"/>
            <p:cNvSpPr txBox="1"/>
            <p:nvPr/>
          </p:nvSpPr>
          <p:spPr>
            <a:xfrm>
              <a:off x="6819900" y="3175000"/>
              <a:ext cx="2667000" cy="1587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687"/>
                </a:lnSpc>
              </a:pPr>
              <a:r>
                <a:rPr sz="1350" b="1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Transaction / error rate</a:t>
              </a:r>
            </a:p>
            <a:p>
              <a:pPr algn="l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Cash discrepancies</a:t>
              </a:r>
            </a:p>
            <a:p>
              <a:pPr algn="l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Routine escalations</a:t>
              </a:r>
            </a:p>
            <a:p>
              <a:pPr algn="l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Checkout complaints</a:t>
              </a:r>
            </a:p>
          </p:txBody>
        </p:sp>
        <p:sp>
          <p:nvSpPr>
            <p:cNvPr id="19" name="Operational Safety direction"/>
            <p:cNvSpPr txBox="1"/>
            <p:nvPr/>
          </p:nvSpPr>
          <p:spPr>
            <a:xfrm>
              <a:off x="9398000" y="3175000"/>
              <a:ext cx="1333500" cy="1587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>
                <a:lnSpc>
                  <a:spcPts val="1687"/>
                </a:lnSpc>
              </a:pPr>
              <a:r>
                <a:rPr sz="1350" b="1">
                  <a:solidFill>
                    <a:srgbClr val="FF2E88"/>
                  </a:solidFill>
                  <a:latin typeface="JetBrains Mono"/>
                  <a:ea typeface="JetBrains Mono"/>
                  <a:cs typeface="JetBrains Mono"/>
                </a:rPr>
                <a:t>no worse</a:t>
              </a:r>
              <a:r>
                <a:rPr sz="1350" b="0">
                  <a:solidFill>
                    <a:srgbClr val="FF2E88"/>
                  </a:solidFill>
                  <a:latin typeface="JetBrains Mono"/>
                  <a:ea typeface="JetBrains Mono"/>
                  <a:cs typeface="JetBrains Mono"/>
                </a:rPr>
                <a:t/>
              </a:r>
            </a:p>
            <a:p>
              <a:pPr algn="r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FF2E88"/>
                  </a:solidFill>
                  <a:latin typeface="JetBrains Mono"/>
                  <a:ea typeface="JetBrains Mono"/>
                  <a:cs typeface="JetBrains Mono"/>
                </a:rPr>
                <a:t>no worse</a:t>
              </a:r>
              <a:r>
                <a:rPr sz="1350" b="0">
                  <a:solidFill>
                    <a:srgbClr val="FF2E88"/>
                  </a:solidFill>
                  <a:latin typeface="JetBrains Mono"/>
                  <a:ea typeface="JetBrains Mono"/>
                  <a:cs typeface="JetBrains Mono"/>
                </a:rPr>
                <a:t/>
              </a:r>
            </a:p>
            <a:p>
              <a:pPr algn="r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FF2E88"/>
                  </a:solidFill>
                  <a:latin typeface="JetBrains Mono"/>
                  <a:ea typeface="JetBrains Mono"/>
                  <a:cs typeface="JetBrains Mono"/>
                </a:rPr>
                <a:t>no worse</a:t>
              </a:r>
              <a:r>
                <a:rPr sz="1350" b="0">
                  <a:solidFill>
                    <a:srgbClr val="FF2E88"/>
                  </a:solidFill>
                  <a:latin typeface="JetBrains Mono"/>
                  <a:ea typeface="JetBrains Mono"/>
                  <a:cs typeface="JetBrains Mono"/>
                </a:rPr>
                <a:t/>
              </a:r>
            </a:p>
            <a:p>
              <a:pPr algn="r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FF2E88"/>
                  </a:solidFill>
                  <a:latin typeface="JetBrains Mono"/>
                  <a:ea typeface="JetBrains Mono"/>
                  <a:cs typeface="JetBrains Mono"/>
                </a:rPr>
                <a:t>no worse</a:t>
              </a:r>
              <a:r>
                <a:rPr sz="1350" b="0">
                  <a:solidFill>
                    <a:srgbClr val="FF2E88"/>
                  </a:solidFill>
                  <a:latin typeface="JetBrains Mono"/>
                  <a:ea typeface="JetBrains Mono"/>
                  <a:cs typeface="JetBrains Mono"/>
                </a:rPr>
                <a:t/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D1243"/>
            </a:gs>
            <a:gs pos="52000">
              <a:srgbClr val="1C0A29"/>
            </a:gs>
            <a:gs pos="100000">
              <a:srgbClr val="0B0610"/>
            </a:gs>
          </a:gsLst>
          <a:path path="circle">
            <a:fillToRect l="50000" t="38000" r="50000" b="62000"/>
          </a:path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Texture: film grain" descr="grain.png"/>
          <p:cNvPicPr>
            <a:picLocks noChangeAspect="1" noSel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VII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TEST</a:t>
            </a:r>
          </a:p>
        </p:txBody>
      </p:sp>
      <p:sp>
        <p:nvSpPr>
          <p:cNvPr id="4" name="!!beam"/>
          <p:cNvSpPr/>
          <p:nvPr/>
        </p:nvSpPr>
        <p:spPr>
          <a:xfrm rot="420000">
            <a:off x="1333500" y="4838700"/>
            <a:ext cx="9525000" cy="114300"/>
          </a:xfrm>
          <a:prstGeom prst="roundRect">
            <a:avLst>
              <a:gd name="adj" fmla="val 50000"/>
            </a:avLst>
          </a:prstGeom>
          <a:solidFill>
            <a:srgbClr val="F4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ulcrum"/>
          <p:cNvSpPr/>
          <p:nvPr/>
        </p:nvSpPr>
        <p:spPr>
          <a:xfrm>
            <a:off x="5588000" y="4953000"/>
            <a:ext cx="1016000" cy="952500"/>
          </a:xfrm>
          <a:custGeom>
            <a:avLst/>
            <a:gdLst/>
            <a:ahLst/>
            <a:cxnLst/>
            <a:rect l="l" t="t" r="r" b="b"/>
            <a:pathLst>
              <a:path w="1016000" h="952500">
                <a:moveTo>
                  <a:pt x="0" y="952500"/>
                </a:moveTo>
                <a:lnTo>
                  <a:pt x="508000" y="0"/>
                </a:lnTo>
                <a:lnTo>
                  <a:pt x="1016000" y="952500"/>
                </a:lnTo>
                <a:close/>
              </a:path>
            </a:pathLst>
          </a:cu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!!left"/>
          <p:cNvGrpSpPr/>
          <p:nvPr/>
        </p:nvGrpSpPr>
        <p:grpSpPr>
          <a:xfrm>
            <a:off x="1270000" y="177800"/>
            <a:ext cx="4318000" cy="4000500"/>
            <a:chOff x="1270000" y="177800"/>
            <a:chExt cx="4318000" cy="4000500"/>
          </a:xfrm>
        </p:grpSpPr>
        <p:pic>
          <p:nvPicPr>
            <p:cNvPr id="7" name="Cashier A04" descr="a04_sticke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4000" y="177800"/>
              <a:ext cx="2984500" cy="2120494"/>
            </a:xfrm>
            <a:prstGeom prst="rect">
              <a:avLst/>
            </a:prstGeom>
          </p:spPr>
        </p:pic>
        <p:sp>
          <p:nvSpPr>
            <p:cNvPr id="8" name="Card"/>
            <p:cNvSpPr/>
            <p:nvPr/>
          </p:nvSpPr>
          <p:spPr>
            <a:xfrm>
              <a:off x="1270000" y="1955800"/>
              <a:ext cx="4318000" cy="2222500"/>
            </a:xfrm>
            <a:prstGeom prst="rect">
              <a:avLst/>
            </a:prstGeom>
            <a:solidFill>
              <a:srgbClr val="F7F1E3"/>
            </a:solidFill>
            <a:ln>
              <a:noFill/>
            </a:ln>
            <a:effectLst>
              <a:outerShdw blurRad="0" dist="109249" dir="3267739" algn="tl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" name="Card top"/>
            <p:cNvSpPr/>
            <p:nvPr/>
          </p:nvSpPr>
          <p:spPr>
            <a:xfrm>
              <a:off x="1270000" y="1955800"/>
              <a:ext cx="4318000" cy="139700"/>
            </a:xfrm>
            <a:prstGeom prst="rect">
              <a:avLst/>
            </a:prstGeom>
            <a:solidFill>
              <a:srgbClr val="3D6B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" name="Employee Experience title"/>
            <p:cNvSpPr txBox="1"/>
            <p:nvPr/>
          </p:nvSpPr>
          <p:spPr>
            <a:xfrm>
              <a:off x="1485900" y="2133600"/>
              <a:ext cx="3937000" cy="3937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2484"/>
                </a:lnSpc>
              </a:pPr>
              <a:r>
                <a:rPr sz="2700" b="0">
                  <a:solidFill>
                    <a:srgbClr val="0B0610"/>
                  </a:solidFill>
                  <a:latin typeface="Archivo Condensed"/>
                  <a:ea typeface="Archivo Condensed"/>
                  <a:cs typeface="Archivo Condensed"/>
                </a:rPr>
                <a:t>EMPLOYEE EXPERIENCE</a:t>
              </a:r>
            </a:p>
          </p:txBody>
        </p:sp>
        <p:sp>
          <p:nvSpPr>
            <p:cNvPr id="11" name="Employee Experience list"/>
            <p:cNvSpPr txBox="1"/>
            <p:nvPr/>
          </p:nvSpPr>
          <p:spPr>
            <a:xfrm>
              <a:off x="1485900" y="2590800"/>
              <a:ext cx="2667000" cy="1587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687"/>
                </a:lnSpc>
              </a:pPr>
              <a:r>
                <a:rPr sz="1350" b="1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Skill Variety</a:t>
              </a:r>
            </a:p>
            <a:p>
              <a:pPr algn="l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Autonomy</a:t>
              </a:r>
            </a:p>
            <a:p>
              <a:pPr algn="l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Feedback</a:t>
              </a:r>
            </a:p>
            <a:p>
              <a:pPr algn="l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Internal Work Motivation</a:t>
              </a:r>
            </a:p>
            <a:p>
              <a:pPr algn="l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Job Satisfaction</a:t>
              </a:r>
            </a:p>
          </p:txBody>
        </p:sp>
        <p:sp>
          <p:nvSpPr>
            <p:cNvPr id="12" name="Employee Experience direction"/>
            <p:cNvSpPr txBox="1"/>
            <p:nvPr/>
          </p:nvSpPr>
          <p:spPr>
            <a:xfrm>
              <a:off x="4064000" y="2590800"/>
              <a:ext cx="1333500" cy="1587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>
                <a:lnSpc>
                  <a:spcPts val="1687"/>
                </a:lnSpc>
              </a:pPr>
              <a:r>
                <a:rPr sz="1350" b="1">
                  <a:solidFill>
                    <a:srgbClr val="3D6BFF"/>
                  </a:solidFill>
                  <a:latin typeface="JetBrains Mono"/>
                  <a:ea typeface="JetBrains Mono"/>
                  <a:cs typeface="JetBrains Mono"/>
                </a:rPr>
                <a:t>expected</a:t>
              </a:r>
              <a:r>
                <a:rPr sz="1350" b="0">
                  <a:solidFill>
                    <a:srgbClr val="3D6BFF"/>
                  </a:solidFill>
                  <a:latin typeface="Arial"/>
                  <a:ea typeface="Arial"/>
                  <a:cs typeface="Arial"/>
                </a:rPr>
                <a:t> ↑</a:t>
              </a:r>
            </a:p>
            <a:p>
              <a:pPr algn="r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3D6BFF"/>
                  </a:solidFill>
                  <a:latin typeface="JetBrains Mono"/>
                  <a:ea typeface="JetBrains Mono"/>
                  <a:cs typeface="JetBrains Mono"/>
                </a:rPr>
                <a:t>expected</a:t>
              </a:r>
              <a:r>
                <a:rPr sz="1350" b="0">
                  <a:solidFill>
                    <a:srgbClr val="3D6BFF"/>
                  </a:solidFill>
                  <a:latin typeface="Arial"/>
                  <a:ea typeface="Arial"/>
                  <a:cs typeface="Arial"/>
                </a:rPr>
                <a:t> ↑</a:t>
              </a:r>
            </a:p>
            <a:p>
              <a:pPr algn="r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3D6BFF"/>
                  </a:solidFill>
                  <a:latin typeface="JetBrains Mono"/>
                  <a:ea typeface="JetBrains Mono"/>
                  <a:cs typeface="JetBrains Mono"/>
                </a:rPr>
                <a:t>expected</a:t>
              </a:r>
              <a:r>
                <a:rPr sz="1350" b="0">
                  <a:solidFill>
                    <a:srgbClr val="3D6BFF"/>
                  </a:solidFill>
                  <a:latin typeface="Arial"/>
                  <a:ea typeface="Arial"/>
                  <a:cs typeface="Arial"/>
                </a:rPr>
                <a:t> ↑</a:t>
              </a:r>
            </a:p>
            <a:p>
              <a:pPr algn="r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3D6BFF"/>
                  </a:solidFill>
                  <a:latin typeface="JetBrains Mono"/>
                  <a:ea typeface="JetBrains Mono"/>
                  <a:cs typeface="JetBrains Mono"/>
                </a:rPr>
                <a:t>expected</a:t>
              </a:r>
              <a:r>
                <a:rPr sz="1350" b="0">
                  <a:solidFill>
                    <a:srgbClr val="3D6BFF"/>
                  </a:solidFill>
                  <a:latin typeface="Arial"/>
                  <a:ea typeface="Arial"/>
                  <a:cs typeface="Arial"/>
                </a:rPr>
                <a:t> ↑</a:t>
              </a:r>
            </a:p>
            <a:p>
              <a:pPr algn="r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3D6BFF"/>
                  </a:solidFill>
                  <a:latin typeface="JetBrains Mono"/>
                  <a:ea typeface="JetBrains Mono"/>
                  <a:cs typeface="JetBrains Mono"/>
                </a:rPr>
                <a:t>expected</a:t>
              </a:r>
              <a:r>
                <a:rPr sz="1350" b="0">
                  <a:solidFill>
                    <a:srgbClr val="3D6BFF"/>
                  </a:solidFill>
                  <a:latin typeface="Arial"/>
                  <a:ea typeface="Arial"/>
                  <a:cs typeface="Arial"/>
                </a:rPr>
                <a:t> ↑</a:t>
              </a:r>
            </a:p>
          </p:txBody>
        </p:sp>
      </p:grpSp>
      <p:grpSp>
        <p:nvGrpSpPr>
          <p:cNvPr id="13" name="!!right"/>
          <p:cNvGrpSpPr/>
          <p:nvPr/>
        </p:nvGrpSpPr>
        <p:grpSpPr>
          <a:xfrm>
            <a:off x="6604000" y="1282700"/>
            <a:ext cx="4318000" cy="4064000"/>
            <a:chOff x="6604000" y="1282700"/>
            <a:chExt cx="4318000" cy="4064000"/>
          </a:xfrm>
        </p:grpSpPr>
        <p:pic>
          <p:nvPicPr>
            <p:cNvPr id="14" name="Till (A08, torn)" descr="torn_a08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80000">
              <a:off x="7175500" y="1282700"/>
              <a:ext cx="3175000" cy="1905000"/>
            </a:xfrm>
            <a:prstGeom prst="rect">
              <a:avLst/>
            </a:prstGeom>
          </p:spPr>
        </p:pic>
        <p:sp>
          <p:nvSpPr>
            <p:cNvPr id="15" name="Card"/>
            <p:cNvSpPr/>
            <p:nvPr/>
          </p:nvSpPr>
          <p:spPr>
            <a:xfrm>
              <a:off x="6604000" y="3124200"/>
              <a:ext cx="4318000" cy="2222500"/>
            </a:xfrm>
            <a:prstGeom prst="rect">
              <a:avLst/>
            </a:prstGeom>
            <a:solidFill>
              <a:srgbClr val="F7F1E3"/>
            </a:solidFill>
            <a:ln>
              <a:noFill/>
            </a:ln>
            <a:effectLst>
              <a:outerShdw blurRad="0" dist="109249" dir="3267739" algn="tl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6" name="Card top"/>
            <p:cNvSpPr/>
            <p:nvPr/>
          </p:nvSpPr>
          <p:spPr>
            <a:xfrm>
              <a:off x="6604000" y="3124200"/>
              <a:ext cx="4318000" cy="139700"/>
            </a:xfrm>
            <a:prstGeom prst="rect">
              <a:avLst/>
            </a:prstGeom>
            <a:solidFill>
              <a:srgbClr val="FF2E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7" name="Operational Safety title"/>
            <p:cNvSpPr txBox="1"/>
            <p:nvPr/>
          </p:nvSpPr>
          <p:spPr>
            <a:xfrm>
              <a:off x="6819900" y="3302000"/>
              <a:ext cx="3937000" cy="3937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2484"/>
                </a:lnSpc>
              </a:pPr>
              <a:r>
                <a:rPr sz="2700" b="0">
                  <a:solidFill>
                    <a:srgbClr val="0B0610"/>
                  </a:solidFill>
                  <a:latin typeface="Archivo Condensed"/>
                  <a:ea typeface="Archivo Condensed"/>
                  <a:cs typeface="Archivo Condensed"/>
                </a:rPr>
                <a:t>OPERATIONAL SAFETY</a:t>
              </a:r>
            </a:p>
          </p:txBody>
        </p:sp>
        <p:sp>
          <p:nvSpPr>
            <p:cNvPr id="18" name="Operational Safety list"/>
            <p:cNvSpPr txBox="1"/>
            <p:nvPr/>
          </p:nvSpPr>
          <p:spPr>
            <a:xfrm>
              <a:off x="6819900" y="3759200"/>
              <a:ext cx="2667000" cy="1587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687"/>
                </a:lnSpc>
              </a:pPr>
              <a:r>
                <a:rPr sz="1350" b="1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Transaction / error rate</a:t>
              </a:r>
            </a:p>
            <a:p>
              <a:pPr algn="l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Cash discrepancies</a:t>
              </a:r>
            </a:p>
            <a:p>
              <a:pPr algn="l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Routine escalations</a:t>
              </a:r>
            </a:p>
            <a:p>
              <a:pPr algn="l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0B0610"/>
                  </a:solidFill>
                  <a:latin typeface="JetBrains Mono"/>
                  <a:ea typeface="JetBrains Mono"/>
                  <a:cs typeface="JetBrains Mono"/>
                </a:rPr>
                <a:t>Checkout complaints</a:t>
              </a:r>
            </a:p>
          </p:txBody>
        </p:sp>
        <p:sp>
          <p:nvSpPr>
            <p:cNvPr id="19" name="Operational Safety direction"/>
            <p:cNvSpPr txBox="1"/>
            <p:nvPr/>
          </p:nvSpPr>
          <p:spPr>
            <a:xfrm>
              <a:off x="9398000" y="3759200"/>
              <a:ext cx="1333500" cy="1587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>
                <a:lnSpc>
                  <a:spcPts val="1687"/>
                </a:lnSpc>
              </a:pPr>
              <a:r>
                <a:rPr sz="1350" b="1">
                  <a:solidFill>
                    <a:srgbClr val="FF2E88"/>
                  </a:solidFill>
                  <a:latin typeface="JetBrains Mono"/>
                  <a:ea typeface="JetBrains Mono"/>
                  <a:cs typeface="JetBrains Mono"/>
                </a:rPr>
                <a:t>no worse</a:t>
              </a:r>
              <a:r>
                <a:rPr sz="1350" b="0">
                  <a:solidFill>
                    <a:srgbClr val="FF2E88"/>
                  </a:solidFill>
                  <a:latin typeface="JetBrains Mono"/>
                  <a:ea typeface="JetBrains Mono"/>
                  <a:cs typeface="JetBrains Mono"/>
                </a:rPr>
                <a:t/>
              </a:r>
            </a:p>
            <a:p>
              <a:pPr algn="r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FF2E88"/>
                  </a:solidFill>
                  <a:latin typeface="JetBrains Mono"/>
                  <a:ea typeface="JetBrains Mono"/>
                  <a:cs typeface="JetBrains Mono"/>
                </a:rPr>
                <a:t>no worse</a:t>
              </a:r>
              <a:r>
                <a:rPr sz="1350" b="0">
                  <a:solidFill>
                    <a:srgbClr val="FF2E88"/>
                  </a:solidFill>
                  <a:latin typeface="JetBrains Mono"/>
                  <a:ea typeface="JetBrains Mono"/>
                  <a:cs typeface="JetBrains Mono"/>
                </a:rPr>
                <a:t/>
              </a:r>
            </a:p>
            <a:p>
              <a:pPr algn="r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FF2E88"/>
                  </a:solidFill>
                  <a:latin typeface="JetBrains Mono"/>
                  <a:ea typeface="JetBrains Mono"/>
                  <a:cs typeface="JetBrains Mono"/>
                </a:rPr>
                <a:t>no worse</a:t>
              </a:r>
              <a:r>
                <a:rPr sz="1350" b="0">
                  <a:solidFill>
                    <a:srgbClr val="FF2E88"/>
                  </a:solidFill>
                  <a:latin typeface="JetBrains Mono"/>
                  <a:ea typeface="JetBrains Mono"/>
                  <a:cs typeface="JetBrains Mono"/>
                </a:rPr>
                <a:t/>
              </a:r>
            </a:p>
            <a:p>
              <a:pPr algn="r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FF2E88"/>
                  </a:solidFill>
                  <a:latin typeface="JetBrains Mono"/>
                  <a:ea typeface="JetBrains Mono"/>
                  <a:cs typeface="JetBrains Mono"/>
                </a:rPr>
                <a:t>no worse</a:t>
              </a:r>
              <a:r>
                <a:rPr sz="1350" b="0">
                  <a:solidFill>
                    <a:srgbClr val="FF2E88"/>
                  </a:solidFill>
                  <a:latin typeface="JetBrains Mono"/>
                  <a:ea typeface="JetBrains Mono"/>
                  <a:cs typeface="JetBrains Mono"/>
                </a:rPr>
                <a:t/>
              </a:r>
            </a:p>
          </p:txBody>
        </p:sp>
      </p:grpSp>
      <p:sp>
        <p:nvSpPr>
          <p:cNvPr id="20" name="Hypothetical caption"/>
          <p:cNvSpPr txBox="1"/>
          <p:nvPr/>
        </p:nvSpPr>
        <p:spPr>
          <a:xfrm>
            <a:off x="0" y="6032500"/>
            <a:ext cx="121920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HYPOTHETICAL: satisfaction </a:t>
            </a:r>
            <a:r>
              <a:rPr sz="1400" b="0">
                <a:solidFill>
                  <a:srgbClr val="FFD23F"/>
                </a:solidFill>
                <a:latin typeface="Arial"/>
                <a:ea typeface="Arial"/>
                <a:cs typeface="Arial"/>
              </a:rPr>
              <a:t>↑</a:t>
            </a:r>
            <a:r>
              <a:rPr sz="14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 while cash discrepancies </a:t>
            </a:r>
            <a:r>
              <a:rPr sz="1400" b="0">
                <a:solidFill>
                  <a:srgbClr val="FFD23F"/>
                </a:solidFill>
                <a:latin typeface="Arial"/>
                <a:ea typeface="Arial"/>
                <a:cs typeface="Arial"/>
              </a:rPr>
              <a:t>↑</a:t>
            </a:r>
          </a:p>
        </p:txBody>
      </p:sp>
      <p:sp>
        <p:nvSpPr>
          <p:cNvPr id="21" name="Stamp"/>
          <p:cNvSpPr/>
          <p:nvPr/>
        </p:nvSpPr>
        <p:spPr>
          <a:xfrm>
            <a:off x="3226485" y="2984500"/>
            <a:ext cx="5739031" cy="1003300"/>
          </a:xfrm>
          <a:prstGeom prst="roundRect">
            <a:avLst>
              <a:gd name="adj" fmla="val 10126"/>
            </a:avLst>
          </a:prstGeom>
          <a:solidFill>
            <a:srgbClr val="0B0610">
              <a:alpha val="75000"/>
            </a:srgbClr>
          </a:solidFill>
          <a:ln w="63500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0800" rIns="190500" bIns="38100">
            <a:noAutofit/>
          </a:bodyPr>
          <a:lstStyle/>
          <a:p>
            <a:pPr algn="ctr">
              <a:lnSpc>
                <a:spcPts val="6000"/>
              </a:lnSpc>
            </a:pPr>
            <a:r>
              <a:rPr sz="6000" b="0" spc="120">
                <a:solidFill>
                  <a:srgbClr val="FF2E88"/>
                </a:solidFill>
                <a:latin typeface="Archivo Condensed"/>
                <a:ea typeface="Archivo Condensed"/>
                <a:cs typeface="Archivo Condensed"/>
              </a:rPr>
              <a:t>NOT A SUCCESS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D1243"/>
            </a:gs>
            <a:gs pos="52000">
              <a:srgbClr val="1C0A29"/>
            </a:gs>
            <a:gs pos="100000">
              <a:srgbClr val="0B0610"/>
            </a:gs>
          </a:gsLst>
          <a:path path="circle">
            <a:fillToRect l="50000" t="38000" r="50000" b="62000"/>
          </a:path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Texture: film grain" descr="grain.png"/>
          <p:cNvPicPr>
            <a:picLocks noChangeAspect="1" noSel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VII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TEST</a:t>
            </a:r>
          </a:p>
        </p:txBody>
      </p:sp>
      <p:sp>
        <p:nvSpPr>
          <p:cNvPr id="4" name="!!beam"/>
          <p:cNvSpPr/>
          <p:nvPr/>
        </p:nvSpPr>
        <p:spPr>
          <a:xfrm>
            <a:off x="1333500" y="4838700"/>
            <a:ext cx="9525000" cy="114300"/>
          </a:xfrm>
          <a:prstGeom prst="roundRect">
            <a:avLst>
              <a:gd name="adj" fmla="val 50000"/>
            </a:avLst>
          </a:prstGeom>
          <a:solidFill>
            <a:srgbClr val="F4ECDD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ulcrum"/>
          <p:cNvSpPr/>
          <p:nvPr/>
        </p:nvSpPr>
        <p:spPr>
          <a:xfrm>
            <a:off x="5588000" y="4953000"/>
            <a:ext cx="1016000" cy="952500"/>
          </a:xfrm>
          <a:custGeom>
            <a:avLst/>
            <a:gdLst/>
            <a:ahLst/>
            <a:cxnLst/>
            <a:rect l="l" t="t" r="r" b="b"/>
            <a:pathLst>
              <a:path w="1016000" h="952500">
                <a:moveTo>
                  <a:pt x="0" y="952500"/>
                </a:moveTo>
                <a:lnTo>
                  <a:pt x="508000" y="0"/>
                </a:lnTo>
                <a:lnTo>
                  <a:pt x="1016000" y="952500"/>
                </a:lnTo>
                <a:close/>
              </a:path>
            </a:pathLst>
          </a:custGeom>
          <a:solidFill>
            <a:srgbClr val="FFD23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!!left"/>
          <p:cNvGrpSpPr/>
          <p:nvPr/>
        </p:nvGrpSpPr>
        <p:grpSpPr>
          <a:xfrm>
            <a:off x="1270000" y="762000"/>
            <a:ext cx="4318000" cy="4000500"/>
            <a:chOff x="1270000" y="762000"/>
            <a:chExt cx="4318000" cy="4000500"/>
          </a:xfrm>
        </p:grpSpPr>
        <p:pic>
          <p:nvPicPr>
            <p:cNvPr id="7" name="Cashier A04" descr="a04_sticker.png"/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1524000" y="762000"/>
              <a:ext cx="2984500" cy="2120494"/>
            </a:xfrm>
            <a:prstGeom prst="rect">
              <a:avLst/>
            </a:prstGeom>
          </p:spPr>
        </p:pic>
        <p:sp>
          <p:nvSpPr>
            <p:cNvPr id="8" name="Card"/>
            <p:cNvSpPr/>
            <p:nvPr/>
          </p:nvSpPr>
          <p:spPr>
            <a:xfrm>
              <a:off x="1270000" y="2540000"/>
              <a:ext cx="4318000" cy="2222500"/>
            </a:xfrm>
            <a:prstGeom prst="rect">
              <a:avLst/>
            </a:prstGeom>
            <a:solidFill>
              <a:srgbClr val="F7F1E3">
                <a:alpha val="30000"/>
              </a:srgbClr>
            </a:solidFill>
            <a:ln>
              <a:noFill/>
            </a:ln>
            <a:effectLst>
              <a:outerShdw blurRad="0" dist="109249" dir="3267739" algn="tl" rotWithShape="0">
                <a:srgbClr val="000000">
                  <a:alpha val="135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" name="Card top"/>
            <p:cNvSpPr/>
            <p:nvPr/>
          </p:nvSpPr>
          <p:spPr>
            <a:xfrm>
              <a:off x="1270000" y="2540000"/>
              <a:ext cx="4318000" cy="139700"/>
            </a:xfrm>
            <a:prstGeom prst="rect">
              <a:avLst/>
            </a:prstGeom>
            <a:solidFill>
              <a:srgbClr val="3D6BFF">
                <a:alpha val="3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" name="Employee Experience title"/>
            <p:cNvSpPr txBox="1"/>
            <p:nvPr/>
          </p:nvSpPr>
          <p:spPr>
            <a:xfrm>
              <a:off x="1485900" y="2717800"/>
              <a:ext cx="3937000" cy="3937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2484"/>
                </a:lnSpc>
              </a:pPr>
              <a:r>
                <a:rPr sz="2700" b="0">
                  <a:solidFill>
                    <a:srgbClr val="2C1F34"/>
                  </a:solidFill>
                  <a:latin typeface="Archivo Condensed"/>
                  <a:ea typeface="Archivo Condensed"/>
                  <a:cs typeface="Archivo Condensed"/>
                </a:rPr>
                <a:t>EMPLOYEE EXPERIENCE</a:t>
              </a:r>
            </a:p>
          </p:txBody>
        </p:sp>
        <p:sp>
          <p:nvSpPr>
            <p:cNvPr id="11" name="Employee Experience list"/>
            <p:cNvSpPr txBox="1"/>
            <p:nvPr/>
          </p:nvSpPr>
          <p:spPr>
            <a:xfrm>
              <a:off x="1485900" y="3175000"/>
              <a:ext cx="2667000" cy="1587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687"/>
                </a:lnSpc>
              </a:pPr>
              <a:r>
                <a:rPr sz="1350" b="1">
                  <a:solidFill>
                    <a:srgbClr val="2C1F34"/>
                  </a:solidFill>
                  <a:latin typeface="JetBrains Mono"/>
                  <a:ea typeface="JetBrains Mono"/>
                  <a:cs typeface="JetBrains Mono"/>
                </a:rPr>
                <a:t>Skill Variety</a:t>
              </a:r>
            </a:p>
            <a:p>
              <a:pPr algn="l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2C1F34"/>
                  </a:solidFill>
                  <a:latin typeface="JetBrains Mono"/>
                  <a:ea typeface="JetBrains Mono"/>
                  <a:cs typeface="JetBrains Mono"/>
                </a:rPr>
                <a:t>Autonomy</a:t>
              </a:r>
            </a:p>
            <a:p>
              <a:pPr algn="l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2C1F34"/>
                  </a:solidFill>
                  <a:latin typeface="JetBrains Mono"/>
                  <a:ea typeface="JetBrains Mono"/>
                  <a:cs typeface="JetBrains Mono"/>
                </a:rPr>
                <a:t>Feedback</a:t>
              </a:r>
            </a:p>
            <a:p>
              <a:pPr algn="l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2C1F34"/>
                  </a:solidFill>
                  <a:latin typeface="JetBrains Mono"/>
                  <a:ea typeface="JetBrains Mono"/>
                  <a:cs typeface="JetBrains Mono"/>
                </a:rPr>
                <a:t>Internal Work Motivation</a:t>
              </a:r>
            </a:p>
            <a:p>
              <a:pPr algn="l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2C1F34"/>
                  </a:solidFill>
                  <a:latin typeface="JetBrains Mono"/>
                  <a:ea typeface="JetBrains Mono"/>
                  <a:cs typeface="JetBrains Mono"/>
                </a:rPr>
                <a:t>Job Satisfaction</a:t>
              </a:r>
            </a:p>
          </p:txBody>
        </p:sp>
        <p:sp>
          <p:nvSpPr>
            <p:cNvPr id="12" name="Employee Experience direction"/>
            <p:cNvSpPr txBox="1"/>
            <p:nvPr/>
          </p:nvSpPr>
          <p:spPr>
            <a:xfrm>
              <a:off x="4064000" y="3175000"/>
              <a:ext cx="1333500" cy="1587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>
                <a:lnSpc>
                  <a:spcPts val="1687"/>
                </a:lnSpc>
              </a:pPr>
              <a:r>
                <a:rPr sz="1350" b="1">
                  <a:solidFill>
                    <a:srgbClr val="3B3E7C"/>
                  </a:solidFill>
                  <a:latin typeface="JetBrains Mono"/>
                  <a:ea typeface="JetBrains Mono"/>
                  <a:cs typeface="JetBrains Mono"/>
                </a:rPr>
                <a:t>expected</a:t>
              </a:r>
              <a:r>
                <a:rPr sz="1350" b="0">
                  <a:solidFill>
                    <a:srgbClr val="3B3E7C"/>
                  </a:solidFill>
                  <a:latin typeface="Arial"/>
                  <a:ea typeface="Arial"/>
                  <a:cs typeface="Arial"/>
                </a:rPr>
                <a:t> ↑</a:t>
              </a:r>
            </a:p>
            <a:p>
              <a:pPr algn="r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3B3E7C"/>
                  </a:solidFill>
                  <a:latin typeface="JetBrains Mono"/>
                  <a:ea typeface="JetBrains Mono"/>
                  <a:cs typeface="JetBrains Mono"/>
                </a:rPr>
                <a:t>expected</a:t>
              </a:r>
              <a:r>
                <a:rPr sz="1350" b="0">
                  <a:solidFill>
                    <a:srgbClr val="3B3E7C"/>
                  </a:solidFill>
                  <a:latin typeface="Arial"/>
                  <a:ea typeface="Arial"/>
                  <a:cs typeface="Arial"/>
                </a:rPr>
                <a:t> ↑</a:t>
              </a:r>
            </a:p>
            <a:p>
              <a:pPr algn="r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3B3E7C"/>
                  </a:solidFill>
                  <a:latin typeface="JetBrains Mono"/>
                  <a:ea typeface="JetBrains Mono"/>
                  <a:cs typeface="JetBrains Mono"/>
                </a:rPr>
                <a:t>expected</a:t>
              </a:r>
              <a:r>
                <a:rPr sz="1350" b="0">
                  <a:solidFill>
                    <a:srgbClr val="3B3E7C"/>
                  </a:solidFill>
                  <a:latin typeface="Arial"/>
                  <a:ea typeface="Arial"/>
                  <a:cs typeface="Arial"/>
                </a:rPr>
                <a:t> ↑</a:t>
              </a:r>
            </a:p>
            <a:p>
              <a:pPr algn="r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3B3E7C"/>
                  </a:solidFill>
                  <a:latin typeface="JetBrains Mono"/>
                  <a:ea typeface="JetBrains Mono"/>
                  <a:cs typeface="JetBrains Mono"/>
                </a:rPr>
                <a:t>expected</a:t>
              </a:r>
              <a:r>
                <a:rPr sz="1350" b="0">
                  <a:solidFill>
                    <a:srgbClr val="3B3E7C"/>
                  </a:solidFill>
                  <a:latin typeface="Arial"/>
                  <a:ea typeface="Arial"/>
                  <a:cs typeface="Arial"/>
                </a:rPr>
                <a:t> ↑</a:t>
              </a:r>
            </a:p>
            <a:p>
              <a:pPr algn="r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3B3E7C"/>
                  </a:solidFill>
                  <a:latin typeface="JetBrains Mono"/>
                  <a:ea typeface="JetBrains Mono"/>
                  <a:cs typeface="JetBrains Mono"/>
                </a:rPr>
                <a:t>expected</a:t>
              </a:r>
              <a:r>
                <a:rPr sz="1350" b="0">
                  <a:solidFill>
                    <a:srgbClr val="3B3E7C"/>
                  </a:solidFill>
                  <a:latin typeface="Arial"/>
                  <a:ea typeface="Arial"/>
                  <a:cs typeface="Arial"/>
                </a:rPr>
                <a:t> ↑</a:t>
              </a:r>
            </a:p>
          </p:txBody>
        </p:sp>
      </p:grpSp>
      <p:grpSp>
        <p:nvGrpSpPr>
          <p:cNvPr id="13" name="!!right"/>
          <p:cNvGrpSpPr/>
          <p:nvPr/>
        </p:nvGrpSpPr>
        <p:grpSpPr>
          <a:xfrm>
            <a:off x="6604000" y="698500"/>
            <a:ext cx="4318000" cy="4064000"/>
            <a:chOff x="6604000" y="698500"/>
            <a:chExt cx="4318000" cy="4064000"/>
          </a:xfrm>
        </p:grpSpPr>
        <p:pic>
          <p:nvPicPr>
            <p:cNvPr id="14" name="Till (A08, torn)" descr="torn_a08.png"/>
            <p:cNvPicPr>
              <a:picLocks noChangeAspect="1"/>
            </p:cNvPicPr>
            <p:nvPr/>
          </p:nvPicPr>
          <p:blipFill>
            <a:blip r:embed="rId4">
              <a:alphaModFix amt="30000"/>
            </a:blip>
            <a:stretch>
              <a:fillRect/>
            </a:stretch>
          </p:blipFill>
          <p:spPr>
            <a:xfrm rot="180000">
              <a:off x="7175500" y="698500"/>
              <a:ext cx="3175000" cy="1905000"/>
            </a:xfrm>
            <a:prstGeom prst="rect">
              <a:avLst/>
            </a:prstGeom>
          </p:spPr>
        </p:pic>
        <p:sp>
          <p:nvSpPr>
            <p:cNvPr id="15" name="Card"/>
            <p:cNvSpPr/>
            <p:nvPr/>
          </p:nvSpPr>
          <p:spPr>
            <a:xfrm>
              <a:off x="6604000" y="2540000"/>
              <a:ext cx="4318000" cy="2222500"/>
            </a:xfrm>
            <a:prstGeom prst="rect">
              <a:avLst/>
            </a:prstGeom>
            <a:solidFill>
              <a:srgbClr val="F7F1E3">
                <a:alpha val="30000"/>
              </a:srgbClr>
            </a:solidFill>
            <a:ln>
              <a:noFill/>
            </a:ln>
            <a:effectLst>
              <a:outerShdw blurRad="0" dist="109249" dir="3267739" algn="tl" rotWithShape="0">
                <a:srgbClr val="000000">
                  <a:alpha val="135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6" name="Card top"/>
            <p:cNvSpPr/>
            <p:nvPr/>
          </p:nvSpPr>
          <p:spPr>
            <a:xfrm>
              <a:off x="6604000" y="2540000"/>
              <a:ext cx="4318000" cy="139700"/>
            </a:xfrm>
            <a:prstGeom prst="rect">
              <a:avLst/>
            </a:prstGeom>
            <a:solidFill>
              <a:srgbClr val="FF2E88">
                <a:alpha val="3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7" name="Operational Safety title"/>
            <p:cNvSpPr txBox="1"/>
            <p:nvPr/>
          </p:nvSpPr>
          <p:spPr>
            <a:xfrm>
              <a:off x="6819900" y="2717800"/>
              <a:ext cx="3937000" cy="3937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>
                <a:lnSpc>
                  <a:spcPts val="2484"/>
                </a:lnSpc>
              </a:pPr>
              <a:r>
                <a:rPr sz="2700" b="0">
                  <a:solidFill>
                    <a:srgbClr val="2C1F34"/>
                  </a:solidFill>
                  <a:latin typeface="Archivo Condensed"/>
                  <a:ea typeface="Archivo Condensed"/>
                  <a:cs typeface="Archivo Condensed"/>
                </a:rPr>
                <a:t>OPERATIONAL SAFETY</a:t>
              </a:r>
            </a:p>
          </p:txBody>
        </p:sp>
        <p:sp>
          <p:nvSpPr>
            <p:cNvPr id="18" name="Operational Safety list"/>
            <p:cNvSpPr txBox="1"/>
            <p:nvPr/>
          </p:nvSpPr>
          <p:spPr>
            <a:xfrm>
              <a:off x="6819900" y="3175000"/>
              <a:ext cx="2667000" cy="1587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687"/>
                </a:lnSpc>
              </a:pPr>
              <a:r>
                <a:rPr sz="1350" b="1">
                  <a:solidFill>
                    <a:srgbClr val="2C1F34"/>
                  </a:solidFill>
                  <a:latin typeface="JetBrains Mono"/>
                  <a:ea typeface="JetBrains Mono"/>
                  <a:cs typeface="JetBrains Mono"/>
                </a:rPr>
                <a:t>Transaction / error rate</a:t>
              </a:r>
            </a:p>
            <a:p>
              <a:pPr algn="l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2C1F34"/>
                  </a:solidFill>
                  <a:latin typeface="JetBrains Mono"/>
                  <a:ea typeface="JetBrains Mono"/>
                  <a:cs typeface="JetBrains Mono"/>
                </a:rPr>
                <a:t>Cash discrepancies</a:t>
              </a:r>
            </a:p>
            <a:p>
              <a:pPr algn="l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2C1F34"/>
                  </a:solidFill>
                  <a:latin typeface="JetBrains Mono"/>
                  <a:ea typeface="JetBrains Mono"/>
                  <a:cs typeface="JetBrains Mono"/>
                </a:rPr>
                <a:t>Routine escalations</a:t>
              </a:r>
            </a:p>
            <a:p>
              <a:pPr algn="l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2C1F34"/>
                  </a:solidFill>
                  <a:latin typeface="JetBrains Mono"/>
                  <a:ea typeface="JetBrains Mono"/>
                  <a:cs typeface="JetBrains Mono"/>
                </a:rPr>
                <a:t>Checkout complaints</a:t>
              </a:r>
            </a:p>
          </p:txBody>
        </p:sp>
        <p:sp>
          <p:nvSpPr>
            <p:cNvPr id="19" name="Operational Safety direction"/>
            <p:cNvSpPr txBox="1"/>
            <p:nvPr/>
          </p:nvSpPr>
          <p:spPr>
            <a:xfrm>
              <a:off x="9398000" y="3175000"/>
              <a:ext cx="1333500" cy="1587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>
                <a:lnSpc>
                  <a:spcPts val="1687"/>
                </a:lnSpc>
              </a:pPr>
              <a:r>
                <a:rPr sz="1350" b="1">
                  <a:solidFill>
                    <a:srgbClr val="752B58"/>
                  </a:solidFill>
                  <a:latin typeface="JetBrains Mono"/>
                  <a:ea typeface="JetBrains Mono"/>
                  <a:cs typeface="JetBrains Mono"/>
                </a:rPr>
                <a:t>no worse</a:t>
              </a:r>
              <a:r>
                <a:rPr sz="1350" b="0">
                  <a:solidFill>
                    <a:srgbClr val="FF2E88"/>
                  </a:solidFill>
                  <a:latin typeface="JetBrains Mono"/>
                  <a:ea typeface="JetBrains Mono"/>
                  <a:cs typeface="JetBrains Mono"/>
                </a:rPr>
                <a:t/>
              </a:r>
            </a:p>
            <a:p>
              <a:pPr algn="r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752B58"/>
                  </a:solidFill>
                  <a:latin typeface="JetBrains Mono"/>
                  <a:ea typeface="JetBrains Mono"/>
                  <a:cs typeface="JetBrains Mono"/>
                </a:rPr>
                <a:t>no worse</a:t>
              </a:r>
              <a:r>
                <a:rPr sz="1350" b="0">
                  <a:solidFill>
                    <a:srgbClr val="FF2E88"/>
                  </a:solidFill>
                  <a:latin typeface="JetBrains Mono"/>
                  <a:ea typeface="JetBrains Mono"/>
                  <a:cs typeface="JetBrains Mono"/>
                </a:rPr>
                <a:t/>
              </a:r>
            </a:p>
            <a:p>
              <a:pPr algn="r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752B58"/>
                  </a:solidFill>
                  <a:latin typeface="JetBrains Mono"/>
                  <a:ea typeface="JetBrains Mono"/>
                  <a:cs typeface="JetBrains Mono"/>
                </a:rPr>
                <a:t>no worse</a:t>
              </a:r>
              <a:r>
                <a:rPr sz="1350" b="0">
                  <a:solidFill>
                    <a:srgbClr val="FF2E88"/>
                  </a:solidFill>
                  <a:latin typeface="JetBrains Mono"/>
                  <a:ea typeface="JetBrains Mono"/>
                  <a:cs typeface="JetBrains Mono"/>
                </a:rPr>
                <a:t/>
              </a:r>
            </a:p>
            <a:p>
              <a:pPr algn="r">
                <a:lnSpc>
                  <a:spcPts val="1687"/>
                </a:lnSpc>
                <a:spcBef>
                  <a:spcPts val="500"/>
                </a:spcBef>
              </a:pPr>
              <a:r>
                <a:rPr sz="1350" b="1">
                  <a:solidFill>
                    <a:srgbClr val="752B58"/>
                  </a:solidFill>
                  <a:latin typeface="JetBrains Mono"/>
                  <a:ea typeface="JetBrains Mono"/>
                  <a:cs typeface="JetBrains Mono"/>
                </a:rPr>
                <a:t>no worse</a:t>
              </a:r>
              <a:r>
                <a:rPr sz="1350" b="0">
                  <a:solidFill>
                    <a:srgbClr val="FF2E88"/>
                  </a:solidFill>
                  <a:latin typeface="JetBrains Mono"/>
                  <a:ea typeface="JetBrains Mono"/>
                  <a:cs typeface="JetBrains Mono"/>
                </a:rPr>
                <a:t/>
              </a:r>
            </a:p>
          </p:txBody>
        </p:sp>
      </p:grpSp>
      <p:sp>
        <p:nvSpPr>
          <p:cNvPr id="20" name="Decision: Scale"/>
          <p:cNvSpPr/>
          <p:nvPr/>
        </p:nvSpPr>
        <p:spPr>
          <a:xfrm rot="21420000">
            <a:off x="1945551" y="2667000"/>
            <a:ext cx="2502317" cy="939800"/>
          </a:xfrm>
          <a:prstGeom prst="roundRect">
            <a:avLst>
              <a:gd name="adj" fmla="val 10810"/>
            </a:avLst>
          </a:prstGeom>
          <a:solidFill>
            <a:srgbClr val="0B0610">
              <a:alpha val="85000"/>
            </a:srgbClr>
          </a:solidFill>
          <a:ln w="63500">
            <a:solidFill>
              <a:srgbClr val="3D6BF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0800" rIns="190500" bIns="38100">
            <a:noAutofit/>
          </a:bodyPr>
          <a:lstStyle/>
          <a:p>
            <a:pPr algn="ctr">
              <a:lnSpc>
                <a:spcPts val="5500"/>
              </a:lnSpc>
            </a:pPr>
            <a:r>
              <a:rPr sz="5500" b="0" spc="110">
                <a:solidFill>
                  <a:srgbClr val="3D6BFF"/>
                </a:solidFill>
                <a:latin typeface="Archivo Condensed"/>
                <a:ea typeface="Archivo Condensed"/>
                <a:cs typeface="Archivo Condensed"/>
              </a:rPr>
              <a:t>SCALE</a:t>
            </a:r>
          </a:p>
        </p:txBody>
      </p:sp>
      <p:sp>
        <p:nvSpPr>
          <p:cNvPr id="21" name="Decision: Modify"/>
          <p:cNvSpPr/>
          <p:nvPr/>
        </p:nvSpPr>
        <p:spPr>
          <a:xfrm rot="60000">
            <a:off x="4828867" y="2667000"/>
            <a:ext cx="2910086" cy="939800"/>
          </a:xfrm>
          <a:prstGeom prst="roundRect">
            <a:avLst>
              <a:gd name="adj" fmla="val 10810"/>
            </a:avLst>
          </a:prstGeom>
          <a:solidFill>
            <a:srgbClr val="0B0610">
              <a:alpha val="85000"/>
            </a:srgbClr>
          </a:solidFill>
          <a:ln w="63500">
            <a:solidFill>
              <a:srgbClr val="FFD23F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0800" rIns="190500" bIns="38100">
            <a:noAutofit/>
          </a:bodyPr>
          <a:lstStyle/>
          <a:p>
            <a:pPr algn="ctr">
              <a:lnSpc>
                <a:spcPts val="5500"/>
              </a:lnSpc>
            </a:pPr>
            <a:r>
              <a:rPr sz="5500" b="0" spc="110">
                <a:solidFill>
                  <a:srgbClr val="FFD23F"/>
                </a:solidFill>
                <a:latin typeface="Archivo Condensed"/>
                <a:ea typeface="Archivo Condensed"/>
                <a:cs typeface="Archivo Condensed"/>
              </a:rPr>
              <a:t>MODIFY</a:t>
            </a:r>
          </a:p>
        </p:txBody>
      </p:sp>
      <p:sp>
        <p:nvSpPr>
          <p:cNvPr id="22" name="Decision: Stop"/>
          <p:cNvSpPr/>
          <p:nvPr/>
        </p:nvSpPr>
        <p:spPr>
          <a:xfrm rot="180000">
            <a:off x="8119953" y="2667000"/>
            <a:ext cx="2126496" cy="939800"/>
          </a:xfrm>
          <a:prstGeom prst="roundRect">
            <a:avLst>
              <a:gd name="adj" fmla="val 10810"/>
            </a:avLst>
          </a:prstGeom>
          <a:solidFill>
            <a:srgbClr val="0B0610">
              <a:alpha val="85000"/>
            </a:srgbClr>
          </a:solidFill>
          <a:ln w="63500">
            <a:solidFill>
              <a:srgbClr val="FF2E88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0" tIns="50800" rIns="190500" bIns="38100">
            <a:noAutofit/>
          </a:bodyPr>
          <a:lstStyle/>
          <a:p>
            <a:pPr algn="ctr">
              <a:lnSpc>
                <a:spcPts val="5500"/>
              </a:lnSpc>
            </a:pPr>
            <a:r>
              <a:rPr sz="5500" b="0" spc="110">
                <a:solidFill>
                  <a:srgbClr val="FF2E88"/>
                </a:solidFill>
                <a:latin typeface="Archivo Condensed"/>
                <a:ea typeface="Archivo Condensed"/>
                <a:cs typeface="Archivo Condensed"/>
              </a:rPr>
              <a:t>STOP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6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 A01 (scanner hands)" descr="a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de lef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0610">
                  <a:alpha val="92000"/>
                </a:srgbClr>
              </a:gs>
              <a:gs pos="45000">
                <a:srgbClr val="0B0610">
                  <a:alpha val="75000"/>
                </a:srgbClr>
              </a:gs>
              <a:gs pos="100000">
                <a:srgbClr val="0B0610">
                  <a:alpha val="25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Shade botto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0610">
                  <a:alpha val="0"/>
                </a:srgbClr>
              </a:gs>
              <a:gs pos="35000">
                <a:srgbClr val="0B0610">
                  <a:alpha val="0"/>
                </a:srgbClr>
              </a:gs>
              <a:gs pos="65000">
                <a:srgbClr val="0B0610">
                  <a:alpha val="60000"/>
                </a:srgbClr>
              </a:gs>
              <a:gs pos="100000">
                <a:srgbClr val="0B0610">
                  <a:alpha val="95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Texture: film grain" descr="grain.png"/>
          <p:cNvPicPr>
            <a:picLocks noChangeAspect="1" noSel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VIII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CONCLUDE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4254500"/>
            <a:ext cx="2314812" cy="238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25"/>
              </a:lnSpc>
            </a:pPr>
            <a:r>
              <a:rPr sz="1500" b="0" spc="210">
                <a:solidFill>
                  <a:srgbClr val="7FA0FF"/>
                </a:solidFill>
                <a:latin typeface="Archivo Label"/>
                <a:ea typeface="Archivo Label"/>
                <a:cs typeface="Archivo Label"/>
              </a:rPr>
              <a:t>ALREADY THERE</a:t>
            </a:r>
          </a:p>
        </p:txBody>
      </p:sp>
      <p:sp>
        <p:nvSpPr>
          <p:cNvPr id="8" name="Already there: Task Significance"/>
          <p:cNvSpPr txBox="1"/>
          <p:nvPr/>
        </p:nvSpPr>
        <p:spPr>
          <a:xfrm>
            <a:off x="698500" y="4572000"/>
            <a:ext cx="4826000" cy="381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20"/>
              </a:lnSpc>
            </a:pPr>
            <a:r>
              <a:rPr sz="2200" b="0">
                <a:solidFill>
                  <a:srgbClr val="7FA0FF"/>
                </a:solidFill>
                <a:latin typeface="Segoe UI Symbol"/>
                <a:ea typeface="Segoe UI Symbol"/>
                <a:cs typeface="Segoe UI Symbol"/>
              </a:rPr>
              <a:t>✓  </a:t>
            </a:r>
            <a:r>
              <a:rPr sz="21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TASK SIGNIFICANCE</a:t>
            </a:r>
            <a:r>
              <a:rPr sz="1600" b="1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  4.09</a:t>
            </a:r>
          </a:p>
        </p:txBody>
      </p:sp>
      <p:sp>
        <p:nvSpPr>
          <p:cNvPr id="9" name="Already there: Task Identity"/>
          <p:cNvSpPr txBox="1"/>
          <p:nvPr/>
        </p:nvSpPr>
        <p:spPr>
          <a:xfrm>
            <a:off x="698500" y="4991100"/>
            <a:ext cx="4826000" cy="381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20"/>
              </a:lnSpc>
            </a:pPr>
            <a:r>
              <a:rPr sz="2200" b="0">
                <a:solidFill>
                  <a:srgbClr val="7FA0FF"/>
                </a:solidFill>
                <a:latin typeface="Segoe UI Symbol"/>
                <a:ea typeface="Segoe UI Symbol"/>
                <a:cs typeface="Segoe UI Symbol"/>
              </a:rPr>
              <a:t>✓  </a:t>
            </a:r>
            <a:r>
              <a:rPr sz="21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TASK IDENTITY</a:t>
            </a:r>
            <a:r>
              <a:rPr sz="1600" b="1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  4.04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4254500"/>
            <a:ext cx="4342590" cy="238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25"/>
              </a:lnSpc>
            </a:pPr>
            <a:r>
              <a:rPr sz="1500" b="0" spc="210">
                <a:solidFill>
                  <a:srgbClr val="FF7A1A"/>
                </a:solidFill>
                <a:latin typeface="Archivo Label"/>
                <a:ea typeface="Archivo Label"/>
                <a:cs typeface="Archivo Label"/>
              </a:rPr>
              <a:t>WHAT APPEARS TO BE MISSING</a:t>
            </a:r>
          </a:p>
        </p:txBody>
      </p:sp>
      <p:sp>
        <p:nvSpPr>
          <p:cNvPr id="11" name="Empty tag"/>
          <p:cNvSpPr/>
          <p:nvPr/>
        </p:nvSpPr>
        <p:spPr>
          <a:xfrm>
            <a:off x="6350000" y="4622800"/>
            <a:ext cx="368300" cy="254000"/>
          </a:xfrm>
          <a:prstGeom prst="roundRect">
            <a:avLst>
              <a:gd name="adj" fmla="val 25000"/>
            </a:avLst>
          </a:prstGeom>
          <a:noFill/>
          <a:ln w="31750">
            <a:solidFill>
              <a:srgbClr val="FF7A1A"/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Missing: Variety"/>
          <p:cNvSpPr txBox="1"/>
          <p:nvPr/>
        </p:nvSpPr>
        <p:spPr>
          <a:xfrm>
            <a:off x="6858000" y="4572000"/>
            <a:ext cx="1683798" cy="3067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05"/>
              </a:lnSpc>
            </a:pPr>
            <a:r>
              <a:rPr sz="21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VARIETY</a:t>
            </a:r>
          </a:p>
        </p:txBody>
      </p:sp>
      <p:sp>
        <p:nvSpPr>
          <p:cNvPr id="13" name="Empty tag"/>
          <p:cNvSpPr/>
          <p:nvPr/>
        </p:nvSpPr>
        <p:spPr>
          <a:xfrm>
            <a:off x="6350000" y="5041900"/>
            <a:ext cx="368300" cy="254000"/>
          </a:xfrm>
          <a:prstGeom prst="roundRect">
            <a:avLst>
              <a:gd name="adj" fmla="val 25000"/>
            </a:avLst>
          </a:prstGeom>
          <a:noFill/>
          <a:ln w="31750">
            <a:solidFill>
              <a:srgbClr val="FF7A1A"/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Missing: Appropriate discretion"/>
          <p:cNvSpPr txBox="1"/>
          <p:nvPr/>
        </p:nvSpPr>
        <p:spPr>
          <a:xfrm>
            <a:off x="6858000" y="4991100"/>
            <a:ext cx="5018199" cy="3067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05"/>
              </a:lnSpc>
            </a:pPr>
            <a:r>
              <a:rPr sz="21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APPROPRIATE DISCRETION</a:t>
            </a:r>
          </a:p>
        </p:txBody>
      </p:sp>
      <p:sp>
        <p:nvSpPr>
          <p:cNvPr id="15" name="Empty tag"/>
          <p:cNvSpPr/>
          <p:nvPr/>
        </p:nvSpPr>
        <p:spPr>
          <a:xfrm>
            <a:off x="6350000" y="5461000"/>
            <a:ext cx="368300" cy="254000"/>
          </a:xfrm>
          <a:prstGeom prst="roundRect">
            <a:avLst>
              <a:gd name="adj" fmla="val 25000"/>
            </a:avLst>
          </a:prstGeom>
          <a:noFill/>
          <a:ln w="31750">
            <a:solidFill>
              <a:srgbClr val="FF7A1A"/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Missing: Developmental feedback"/>
          <p:cNvSpPr txBox="1"/>
          <p:nvPr/>
        </p:nvSpPr>
        <p:spPr>
          <a:xfrm>
            <a:off x="6858000" y="5410200"/>
            <a:ext cx="5376569" cy="3067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05"/>
              </a:lnSpc>
            </a:pPr>
            <a:r>
              <a:rPr sz="21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DEVELOPMENTAL FEEDBACK</a:t>
            </a:r>
          </a:p>
        </p:txBody>
      </p:sp>
      <p:sp>
        <p:nvSpPr>
          <p:cNvPr id="17" name="Statement"/>
          <p:cNvSpPr txBox="1"/>
          <p:nvPr/>
        </p:nvSpPr>
        <p:spPr>
          <a:xfrm>
            <a:off x="698500" y="762000"/>
            <a:ext cx="10795000" cy="292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750"/>
              </a:lnSpc>
            </a:pPr>
            <a:r>
              <a:rPr sz="12500" b="0">
                <a:solidFill>
                  <a:srgbClr val="F4ECDD"/>
                </a:solidFill>
                <a:effectLst>
                  <a:outerShdw blurRad="0" dist="76200" dir="5400000" algn="tl" rotWithShape="0">
                    <a:srgbClr val="000000">
                      <a:alpha val="40000"/>
                    </a:srgbClr>
                  </a:outerShdw>
                </a:effectLst>
                <a:latin typeface="Archivo Display"/>
                <a:ea typeface="Archivo Display"/>
                <a:cs typeface="Archivo Display"/>
              </a:rPr>
              <a:t>ROUTINE</a:t>
            </a:r>
          </a:p>
          <a:p>
            <a:pPr algn="l">
              <a:lnSpc>
                <a:spcPts val="13750"/>
              </a:lnSpc>
            </a:pPr>
            <a:r>
              <a:rPr sz="10000" b="0">
                <a:solidFill>
                  <a:srgbClr val="FF2E88"/>
                </a:solidFill>
                <a:latin typeface="Arial"/>
                <a:ea typeface="Arial"/>
                <a:cs typeface="Arial"/>
              </a:rPr>
              <a:t>≠ </a:t>
            </a:r>
            <a:r>
              <a:rPr sz="12500" b="0">
                <a:solidFill>
                  <a:srgbClr val="F4ECDD"/>
                </a:solidFill>
                <a:effectLst>
                  <a:outerShdw blurRad="0" dist="76200" dir="5400000" algn="tl" rotWithShape="0">
                    <a:srgbClr val="000000">
                      <a:alpha val="40000"/>
                    </a:srgbClr>
                  </a:outerShdw>
                </a:effectLst>
                <a:latin typeface="Archivo Display"/>
                <a:ea typeface="Archivo Display"/>
                <a:cs typeface="Archivo Display"/>
              </a:rPr>
              <a:t>MEANINGLESS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6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 A01 (scanner hands)" descr="a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de lef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0610">
                  <a:alpha val="92000"/>
                </a:srgbClr>
              </a:gs>
              <a:gs pos="45000">
                <a:srgbClr val="0B0610">
                  <a:alpha val="75000"/>
                </a:srgbClr>
              </a:gs>
              <a:gs pos="100000">
                <a:srgbClr val="0B0610">
                  <a:alpha val="25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Shade botto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0610">
                  <a:alpha val="0"/>
                </a:srgbClr>
              </a:gs>
              <a:gs pos="35000">
                <a:srgbClr val="0B0610">
                  <a:alpha val="0"/>
                </a:srgbClr>
              </a:gs>
              <a:gs pos="65000">
                <a:srgbClr val="0B0610">
                  <a:alpha val="60000"/>
                </a:srgbClr>
              </a:gs>
              <a:gs pos="100000">
                <a:srgbClr val="0B0610">
                  <a:alpha val="95000"/>
                </a:srgbClr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Texture: film grain" descr="grain.png"/>
          <p:cNvPicPr>
            <a:picLocks noChangeAspect="1" noSel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Act tag"/>
          <p:cNvSpPr txBox="1"/>
          <p:nvPr/>
        </p:nvSpPr>
        <p:spPr>
          <a:xfrm>
            <a:off x="406400" y="292100"/>
            <a:ext cx="4445000" cy="254000"/>
          </a:xfrm>
          <a:prstGeom prst="rect">
            <a:avLst/>
          </a:prstGeom>
          <a:noFill/>
        </p:spPr>
        <p:txBody>
          <a:bodyPr wrap="none" lIns="25400" tIns="2540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96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VIII</a:t>
            </a:r>
            <a:r>
              <a:rPr sz="1200" b="0" spc="96">
                <a:solidFill>
                  <a:srgbClr val="BAB2AA"/>
                </a:solidFill>
                <a:latin typeface="JetBrains Mono"/>
                <a:ea typeface="JetBrains Mono"/>
                <a:cs typeface="JetBrains Mono"/>
              </a:rPr>
              <a:t>  CONCLUDE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" y="4254500"/>
            <a:ext cx="2314812" cy="238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25"/>
              </a:lnSpc>
            </a:pPr>
            <a:r>
              <a:rPr sz="1500" b="0" spc="210">
                <a:solidFill>
                  <a:srgbClr val="7FA0FF"/>
                </a:solidFill>
                <a:latin typeface="Archivo Label"/>
                <a:ea typeface="Archivo Label"/>
                <a:cs typeface="Archivo Label"/>
              </a:rPr>
              <a:t>ALREADY THERE</a:t>
            </a:r>
          </a:p>
        </p:txBody>
      </p:sp>
      <p:sp>
        <p:nvSpPr>
          <p:cNvPr id="8" name="Already there: Task Significance"/>
          <p:cNvSpPr txBox="1"/>
          <p:nvPr/>
        </p:nvSpPr>
        <p:spPr>
          <a:xfrm>
            <a:off x="698500" y="4572000"/>
            <a:ext cx="4826000" cy="381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20"/>
              </a:lnSpc>
            </a:pPr>
            <a:r>
              <a:rPr sz="2200" b="0">
                <a:solidFill>
                  <a:srgbClr val="7FA0FF"/>
                </a:solidFill>
                <a:latin typeface="Segoe UI Symbol"/>
                <a:ea typeface="Segoe UI Symbol"/>
                <a:cs typeface="Segoe UI Symbol"/>
              </a:rPr>
              <a:t>✓  </a:t>
            </a:r>
            <a:r>
              <a:rPr sz="21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TASK SIGNIFICANCE</a:t>
            </a:r>
            <a:r>
              <a:rPr sz="1600" b="1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  4.09</a:t>
            </a:r>
          </a:p>
        </p:txBody>
      </p:sp>
      <p:sp>
        <p:nvSpPr>
          <p:cNvPr id="9" name="Already there: Task Identity"/>
          <p:cNvSpPr txBox="1"/>
          <p:nvPr/>
        </p:nvSpPr>
        <p:spPr>
          <a:xfrm>
            <a:off x="698500" y="4991100"/>
            <a:ext cx="4826000" cy="381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420"/>
              </a:lnSpc>
            </a:pPr>
            <a:r>
              <a:rPr sz="2200" b="0">
                <a:solidFill>
                  <a:srgbClr val="7FA0FF"/>
                </a:solidFill>
                <a:latin typeface="Segoe UI Symbol"/>
                <a:ea typeface="Segoe UI Symbol"/>
                <a:cs typeface="Segoe UI Symbol"/>
              </a:rPr>
              <a:t>✓  </a:t>
            </a:r>
            <a:r>
              <a:rPr sz="21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TASK IDENTITY</a:t>
            </a:r>
            <a:r>
              <a:rPr sz="1600" b="1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  4.04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4254500"/>
            <a:ext cx="4342590" cy="238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25"/>
              </a:lnSpc>
            </a:pPr>
            <a:r>
              <a:rPr sz="1500" b="0" spc="210">
                <a:solidFill>
                  <a:srgbClr val="FF7A1A"/>
                </a:solidFill>
                <a:latin typeface="Archivo Label"/>
                <a:ea typeface="Archivo Label"/>
                <a:cs typeface="Archivo Label"/>
              </a:rPr>
              <a:t>WHAT APPEARS TO BE MISSING</a:t>
            </a:r>
          </a:p>
        </p:txBody>
      </p:sp>
      <p:sp>
        <p:nvSpPr>
          <p:cNvPr id="11" name="Empty tag"/>
          <p:cNvSpPr/>
          <p:nvPr/>
        </p:nvSpPr>
        <p:spPr>
          <a:xfrm>
            <a:off x="6350000" y="4622800"/>
            <a:ext cx="368300" cy="254000"/>
          </a:xfrm>
          <a:prstGeom prst="roundRect">
            <a:avLst>
              <a:gd name="adj" fmla="val 25000"/>
            </a:avLst>
          </a:prstGeom>
          <a:noFill/>
          <a:ln w="31750">
            <a:solidFill>
              <a:srgbClr val="FF7A1A"/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Missing: Variety"/>
          <p:cNvSpPr txBox="1"/>
          <p:nvPr/>
        </p:nvSpPr>
        <p:spPr>
          <a:xfrm>
            <a:off x="6858000" y="4572000"/>
            <a:ext cx="1683798" cy="3067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05"/>
              </a:lnSpc>
            </a:pPr>
            <a:r>
              <a:rPr sz="21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VARIETY</a:t>
            </a:r>
          </a:p>
        </p:txBody>
      </p:sp>
      <p:sp>
        <p:nvSpPr>
          <p:cNvPr id="13" name="Empty tag"/>
          <p:cNvSpPr/>
          <p:nvPr/>
        </p:nvSpPr>
        <p:spPr>
          <a:xfrm>
            <a:off x="6350000" y="5041900"/>
            <a:ext cx="368300" cy="254000"/>
          </a:xfrm>
          <a:prstGeom prst="roundRect">
            <a:avLst>
              <a:gd name="adj" fmla="val 25000"/>
            </a:avLst>
          </a:prstGeom>
          <a:noFill/>
          <a:ln w="31750">
            <a:solidFill>
              <a:srgbClr val="FF7A1A"/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Missing: Appropriate discretion"/>
          <p:cNvSpPr txBox="1"/>
          <p:nvPr/>
        </p:nvSpPr>
        <p:spPr>
          <a:xfrm>
            <a:off x="6858000" y="4991100"/>
            <a:ext cx="5018199" cy="3067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05"/>
              </a:lnSpc>
            </a:pPr>
            <a:r>
              <a:rPr sz="21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APPROPRIATE DISCRETION</a:t>
            </a:r>
          </a:p>
        </p:txBody>
      </p:sp>
      <p:sp>
        <p:nvSpPr>
          <p:cNvPr id="15" name="Empty tag"/>
          <p:cNvSpPr/>
          <p:nvPr/>
        </p:nvSpPr>
        <p:spPr>
          <a:xfrm>
            <a:off x="6350000" y="5461000"/>
            <a:ext cx="368300" cy="254000"/>
          </a:xfrm>
          <a:prstGeom prst="roundRect">
            <a:avLst>
              <a:gd name="adj" fmla="val 25000"/>
            </a:avLst>
          </a:prstGeom>
          <a:noFill/>
          <a:ln w="31750">
            <a:solidFill>
              <a:srgbClr val="FF7A1A"/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Missing: Developmental feedback"/>
          <p:cNvSpPr txBox="1"/>
          <p:nvPr/>
        </p:nvSpPr>
        <p:spPr>
          <a:xfrm>
            <a:off x="6858000" y="5410200"/>
            <a:ext cx="5376569" cy="30670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205"/>
              </a:lnSpc>
            </a:pPr>
            <a:r>
              <a:rPr sz="21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DEVELOPMENTAL FEEDBACK</a:t>
            </a:r>
          </a:p>
        </p:txBody>
      </p:sp>
      <p:sp>
        <p:nvSpPr>
          <p:cNvPr id="17" name="Statement"/>
          <p:cNvSpPr txBox="1"/>
          <p:nvPr/>
        </p:nvSpPr>
        <p:spPr>
          <a:xfrm>
            <a:off x="698500" y="952500"/>
            <a:ext cx="10795000" cy="292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6450"/>
              </a:lnSpc>
            </a:pPr>
            <a:r>
              <a:rPr sz="7500" b="0">
                <a:solidFill>
                  <a:srgbClr val="F4ECDD"/>
                </a:solidFill>
                <a:effectLst>
                  <a:outerShdw blurRad="0" dist="63500" dir="5400000" algn="tl" rotWithShape="0">
                    <a:srgbClr val="000000">
                      <a:alpha val="45000"/>
                    </a:srgbClr>
                  </a:outerShdw>
                </a:effectLst>
                <a:latin typeface="Archivo Display"/>
                <a:ea typeface="Archivo Display"/>
                <a:cs typeface="Archivo Display"/>
              </a:rPr>
              <a:t>REDESIGN THE ENVIRONMENT </a:t>
            </a:r>
            <a:r>
              <a:rPr sz="7500" b="0">
                <a:solidFill>
                  <a:srgbClr val="FFD23F"/>
                </a:solidFill>
                <a:effectLst>
                  <a:outerShdw blurRad="0" dist="63500" dir="5400000" algn="tl" rotWithShape="0">
                    <a:srgbClr val="000000">
                      <a:alpha val="45000"/>
                    </a:srgbClr>
                  </a:outerShdw>
                </a:effectLst>
                <a:latin typeface="Archivo Display"/>
                <a:ea typeface="Archivo Display"/>
                <a:cs typeface="Archivo Display"/>
              </a:rPr>
              <a:t>AROUND</a:t>
            </a:r>
            <a:r>
              <a:rPr sz="7500" b="0">
                <a:solidFill>
                  <a:srgbClr val="F4ECDD"/>
                </a:solidFill>
                <a:effectLst>
                  <a:outerShdw blurRad="0" dist="63500" dir="5400000" algn="tl" rotWithShape="0">
                    <a:srgbClr val="000000">
                      <a:alpha val="45000"/>
                    </a:srgbClr>
                  </a:outerShdw>
                </a:effectLst>
                <a:latin typeface="Archivo Display"/>
                <a:ea typeface="Archivo Display"/>
                <a:cs typeface="Archivo Display"/>
              </a:rPr>
              <a:t> THE CASHIER — NOT THE CASHIER.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6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store A03" descr="a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400" y="-514350"/>
            <a:ext cx="14020800" cy="7886700"/>
          </a:xfrm>
          <a:prstGeom prst="rect">
            <a:avLst/>
          </a:prstGeom>
        </p:spPr>
      </p:pic>
      <p:sp>
        <p:nvSpPr>
          <p:cNvPr id="3" name="Photo d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!!cashier A04" descr="a04_sti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984500"/>
            <a:ext cx="4064000" cy="2887481"/>
          </a:xfrm>
          <a:prstGeom prst="rect">
            <a:avLst/>
          </a:prstGeom>
        </p:spPr>
      </p:pic>
      <p:sp>
        <p:nvSpPr>
          <p:cNvPr id="5" name="!!barL"/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1E0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!!hazL" descr="haz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0"/>
            <a:ext cx="228600" cy="6858000"/>
          </a:xfrm>
          <a:prstGeom prst="rect">
            <a:avLst/>
          </a:prstGeom>
        </p:spPr>
      </p:pic>
      <p:sp>
        <p:nvSpPr>
          <p:cNvPr id="7" name="!!barR"/>
          <p:cNvSpPr/>
          <p:nvPr/>
        </p:nvSpPr>
        <p:spPr>
          <a:xfrm>
            <a:off x="8001000" y="0"/>
            <a:ext cx="4191000" cy="6858000"/>
          </a:xfrm>
          <a:prstGeom prst="rect">
            <a:avLst/>
          </a:prstGeom>
          <a:solidFill>
            <a:srgbClr val="1E0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!!hazR" descr="haz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0"/>
            <a:ext cx="228600" cy="6858000"/>
          </a:xfrm>
          <a:prstGeom prst="rect">
            <a:avLst/>
          </a:prstGeom>
        </p:spPr>
      </p:pic>
      <p:sp>
        <p:nvSpPr>
          <p:cNvPr id="9" name="!!phrase"/>
          <p:cNvSpPr txBox="1"/>
          <p:nvPr/>
        </p:nvSpPr>
        <p:spPr>
          <a:xfrm>
            <a:off x="0" y="698500"/>
            <a:ext cx="12192000" cy="952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5590"/>
              </a:lnSpc>
            </a:pPr>
            <a:r>
              <a:rPr sz="6500" b="0">
                <a:solidFill>
                  <a:srgbClr val="F4ECDD"/>
                </a:solidFill>
                <a:effectLst>
                  <a:outerShdw blurRad="0" dist="63500" dir="5400000" algn="tl" rotWithShape="0">
                    <a:srgbClr val="000000">
                      <a:alpha val="50000"/>
                    </a:srgbClr>
                  </a:outerShdw>
                </a:effectLst>
                <a:latin typeface="Archivo Display"/>
                <a:ea typeface="Archivo Display"/>
                <a:cs typeface="Archivo Display"/>
              </a:rPr>
              <a:t>A JOB SOMEONE </a:t>
            </a:r>
            <a:r>
              <a:rPr sz="6500" b="0">
                <a:solidFill>
                  <a:srgbClr val="F4ECDD"/>
                </a:solidFill>
                <a:effectLst>
                  <a:outerShdw blurRad="0" dist="63500" dir="5400000" algn="tl" rotWithShape="0">
                    <a:srgbClr val="000000">
                      <a:alpha val="50000"/>
                    </a:srgbClr>
                  </a:outerShdw>
                </a:effectLst>
                <a:latin typeface="Archivo Display"/>
                <a:ea typeface="Archivo Display"/>
                <a:cs typeface="Archivo Display"/>
              </a:rPr>
              <a:t>PERFORMS…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6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store A03" descr="a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hoto d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Lane 1"/>
          <p:cNvSpPr/>
          <p:nvPr/>
        </p:nvSpPr>
        <p:spPr>
          <a:xfrm>
            <a:off x="2984500" y="2159000"/>
            <a:ext cx="3111500" cy="1905000"/>
          </a:xfrm>
          <a:custGeom>
            <a:avLst/>
            <a:gdLst/>
            <a:ahLst/>
            <a:cxnLst/>
            <a:rect l="l" t="t" r="r" b="b"/>
            <a:pathLst>
              <a:path w="3111500" h="1905000">
                <a:moveTo>
                  <a:pt x="3111500" y="1905000"/>
                </a:moveTo>
                <a:lnTo>
                  <a:pt x="2710689" y="1686269"/>
                </a:lnTo>
                <a:lnTo>
                  <a:pt x="2318926" y="1452758"/>
                </a:lnTo>
                <a:lnTo>
                  <a:pt x="1930688" y="1213491"/>
                </a:lnTo>
                <a:lnTo>
                  <a:pt x="1553207" y="956654"/>
                </a:lnTo>
                <a:lnTo>
                  <a:pt x="1161236" y="723483"/>
                </a:lnTo>
                <a:lnTo>
                  <a:pt x="769693" y="489614"/>
                </a:lnTo>
                <a:lnTo>
                  <a:pt x="384087" y="246048"/>
                </a:lnTo>
                <a:lnTo>
                  <a:pt x="0" y="0"/>
                </a:lnTo>
              </a:path>
            </a:pathLst>
          </a:custGeom>
          <a:noFill/>
          <a:ln w="190500" cap="rnd">
            <a:solidFill>
              <a:srgbClr val="FF2E88">
                <a:alpha val="92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ne 2"/>
          <p:cNvSpPr/>
          <p:nvPr/>
        </p:nvSpPr>
        <p:spPr>
          <a:xfrm>
            <a:off x="6096000" y="2159000"/>
            <a:ext cx="3111500" cy="1905000"/>
          </a:xfrm>
          <a:custGeom>
            <a:avLst/>
            <a:gdLst/>
            <a:ahLst/>
            <a:cxnLst/>
            <a:rect l="l" t="t" r="r" b="b"/>
            <a:pathLst>
              <a:path w="3111500" h="1905000">
                <a:moveTo>
                  <a:pt x="0" y="1905000"/>
                </a:moveTo>
                <a:lnTo>
                  <a:pt x="377082" y="1647511"/>
                </a:lnTo>
                <a:lnTo>
                  <a:pt x="767387" y="1411619"/>
                </a:lnTo>
                <a:lnTo>
                  <a:pt x="1184597" y="1219672"/>
                </a:lnTo>
                <a:lnTo>
                  <a:pt x="1554925" y="951152"/>
                </a:lnTo>
                <a:lnTo>
                  <a:pt x="1923629" y="679979"/>
                </a:lnTo>
                <a:lnTo>
                  <a:pt x="2313732" y="443758"/>
                </a:lnTo>
                <a:lnTo>
                  <a:pt x="2737720" y="262883"/>
                </a:lnTo>
                <a:lnTo>
                  <a:pt x="3111500" y="0"/>
                </a:lnTo>
              </a:path>
            </a:pathLst>
          </a:custGeom>
          <a:noFill/>
          <a:ln w="190500" cap="rnd">
            <a:solidFill>
              <a:srgbClr val="FF7A1A">
                <a:alpha val="92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ane 3"/>
          <p:cNvSpPr/>
          <p:nvPr/>
        </p:nvSpPr>
        <p:spPr>
          <a:xfrm>
            <a:off x="2984500" y="4064000"/>
            <a:ext cx="3111500" cy="1206500"/>
          </a:xfrm>
          <a:custGeom>
            <a:avLst/>
            <a:gdLst/>
            <a:ahLst/>
            <a:cxnLst/>
            <a:rect l="l" t="t" r="r" b="b"/>
            <a:pathLst>
              <a:path w="3111500" h="1206500">
                <a:moveTo>
                  <a:pt x="3111500" y="0"/>
                </a:moveTo>
                <a:lnTo>
                  <a:pt x="2730759" y="171950"/>
                </a:lnTo>
                <a:lnTo>
                  <a:pt x="2337972" y="312835"/>
                </a:lnTo>
                <a:lnTo>
                  <a:pt x="1942508" y="446816"/>
                </a:lnTo>
                <a:lnTo>
                  <a:pt x="1555132" y="601655"/>
                </a:lnTo>
                <a:lnTo>
                  <a:pt x="1159973" y="736424"/>
                </a:lnTo>
                <a:lnTo>
                  <a:pt x="767617" y="878421"/>
                </a:lnTo>
                <a:lnTo>
                  <a:pt x="396729" y="1075781"/>
                </a:lnTo>
                <a:lnTo>
                  <a:pt x="0" y="1206500"/>
                </a:lnTo>
              </a:path>
            </a:pathLst>
          </a:custGeom>
          <a:noFill/>
          <a:ln w="190500" cap="rnd">
            <a:solidFill>
              <a:srgbClr val="8A4DFF">
                <a:alpha val="92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ane 4"/>
          <p:cNvSpPr/>
          <p:nvPr/>
        </p:nvSpPr>
        <p:spPr>
          <a:xfrm>
            <a:off x="6096000" y="4064000"/>
            <a:ext cx="3111500" cy="1206500"/>
          </a:xfrm>
          <a:custGeom>
            <a:avLst/>
            <a:gdLst/>
            <a:ahLst/>
            <a:cxnLst/>
            <a:rect l="l" t="t" r="r" b="b"/>
            <a:pathLst>
              <a:path w="3111500" h="1206500">
                <a:moveTo>
                  <a:pt x="0" y="0"/>
                </a:moveTo>
                <a:lnTo>
                  <a:pt x="397121" y="129707"/>
                </a:lnTo>
                <a:lnTo>
                  <a:pt x="779307" y="297933"/>
                </a:lnTo>
                <a:lnTo>
                  <a:pt x="1174766" y="431926"/>
                </a:lnTo>
                <a:lnTo>
                  <a:pt x="1553942" y="607913"/>
                </a:lnTo>
                <a:lnTo>
                  <a:pt x="1948568" y="744055"/>
                </a:lnTo>
                <a:lnTo>
                  <a:pt x="2331476" y="910418"/>
                </a:lnTo>
                <a:lnTo>
                  <a:pt x="2716500" y="1071321"/>
                </a:lnTo>
                <a:lnTo>
                  <a:pt x="3111500" y="1206500"/>
                </a:lnTo>
              </a:path>
            </a:pathLst>
          </a:custGeom>
          <a:noFill/>
          <a:ln w="190500" cap="rnd">
            <a:solidFill>
              <a:srgbClr val="3D6BFF">
                <a:alpha val="92000"/>
              </a:srgbClr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ne label 01"/>
          <p:cNvSpPr/>
          <p:nvPr/>
        </p:nvSpPr>
        <p:spPr>
          <a:xfrm rot="21480000">
            <a:off x="698500" y="1651000"/>
            <a:ext cx="2286000" cy="952500"/>
          </a:xfrm>
          <a:prstGeom prst="rect">
            <a:avLst/>
          </a:prstGeom>
          <a:solidFill>
            <a:srgbClr val="0B061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tIns="88900" rIns="114300" bIns="88900">
            <a:noAutofit/>
          </a:bodyPr>
          <a:lstStyle/>
          <a:p>
            <a:pPr algn="l">
              <a:lnSpc>
                <a:spcPts val="3096"/>
              </a:lnSpc>
            </a:pPr>
            <a:r>
              <a:rPr sz="3600" b="0">
                <a:solidFill>
                  <a:srgbClr val="FF2E88"/>
                </a:solidFill>
                <a:latin typeface="Archivo Display"/>
                <a:ea typeface="Archivo Display"/>
                <a:cs typeface="Archivo Display"/>
              </a:rPr>
              <a:t>01</a:t>
            </a:r>
          </a:p>
          <a:p>
            <a:pPr algn="l">
              <a:lnSpc>
                <a:spcPts val="1400"/>
              </a:lnSpc>
            </a:pPr>
            <a:r>
              <a:rPr sz="13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STRUCTURED MICRO-ROTATION</a:t>
            </a:r>
          </a:p>
        </p:txBody>
      </p:sp>
      <p:sp>
        <p:nvSpPr>
          <p:cNvPr id="9" name="Lane label 02"/>
          <p:cNvSpPr/>
          <p:nvPr/>
        </p:nvSpPr>
        <p:spPr>
          <a:xfrm rot="120000">
            <a:off x="9334500" y="1651000"/>
            <a:ext cx="2286000" cy="952500"/>
          </a:xfrm>
          <a:prstGeom prst="rect">
            <a:avLst/>
          </a:prstGeom>
          <a:solidFill>
            <a:srgbClr val="0B061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tIns="88900" rIns="114300" bIns="88900">
            <a:noAutofit/>
          </a:bodyPr>
          <a:lstStyle/>
          <a:p>
            <a:pPr algn="l">
              <a:lnSpc>
                <a:spcPts val="3096"/>
              </a:lnSpc>
            </a:pPr>
            <a:r>
              <a:rPr sz="3600" b="0">
                <a:solidFill>
                  <a:srgbClr val="FF7A1A"/>
                </a:solidFill>
                <a:latin typeface="Archivo Display"/>
                <a:ea typeface="Archivo Display"/>
                <a:cs typeface="Archivo Display"/>
              </a:rPr>
              <a:t>02</a:t>
            </a:r>
          </a:p>
          <a:p>
            <a:pPr algn="l">
              <a:lnSpc>
                <a:spcPts val="1400"/>
              </a:lnSpc>
            </a:pPr>
            <a:r>
              <a:rPr sz="13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CONTROLLED DECISION AUTHORITY</a:t>
            </a:r>
          </a:p>
        </p:txBody>
      </p:sp>
      <p:sp>
        <p:nvSpPr>
          <p:cNvPr id="10" name="Lane label 03"/>
          <p:cNvSpPr/>
          <p:nvPr/>
        </p:nvSpPr>
        <p:spPr>
          <a:xfrm rot="90000">
            <a:off x="698500" y="4826000"/>
            <a:ext cx="2286000" cy="952500"/>
          </a:xfrm>
          <a:prstGeom prst="rect">
            <a:avLst/>
          </a:prstGeom>
          <a:solidFill>
            <a:srgbClr val="0B061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tIns="88900" rIns="114300" bIns="88900">
            <a:noAutofit/>
          </a:bodyPr>
          <a:lstStyle/>
          <a:p>
            <a:pPr algn="l">
              <a:lnSpc>
                <a:spcPts val="3096"/>
              </a:lnSpc>
            </a:pPr>
            <a:r>
              <a:rPr sz="3600" b="0">
                <a:solidFill>
                  <a:srgbClr val="8A4DFF"/>
                </a:solidFill>
                <a:latin typeface="Archivo Display"/>
                <a:ea typeface="Archivo Display"/>
                <a:cs typeface="Archivo Display"/>
              </a:rPr>
              <a:t>03</a:t>
            </a:r>
          </a:p>
          <a:p>
            <a:pPr algn="l">
              <a:lnSpc>
                <a:spcPts val="1400"/>
              </a:lnSpc>
            </a:pPr>
            <a:r>
              <a:rPr sz="13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CHECKOUT-ZONE OWNERSHIP</a:t>
            </a:r>
          </a:p>
        </p:txBody>
      </p:sp>
      <p:sp>
        <p:nvSpPr>
          <p:cNvPr id="11" name="Lane label 04"/>
          <p:cNvSpPr/>
          <p:nvPr/>
        </p:nvSpPr>
        <p:spPr>
          <a:xfrm rot="21510000">
            <a:off x="9334500" y="4826000"/>
            <a:ext cx="2286000" cy="952500"/>
          </a:xfrm>
          <a:prstGeom prst="rect">
            <a:avLst/>
          </a:prstGeom>
          <a:solidFill>
            <a:srgbClr val="0B0610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tIns="88900" rIns="114300" bIns="88900">
            <a:noAutofit/>
          </a:bodyPr>
          <a:lstStyle/>
          <a:p>
            <a:pPr algn="l">
              <a:lnSpc>
                <a:spcPts val="3096"/>
              </a:lnSpc>
            </a:pPr>
            <a:r>
              <a:rPr sz="3600" b="0">
                <a:solidFill>
                  <a:srgbClr val="3D6BFF"/>
                </a:solidFill>
                <a:latin typeface="Archivo Display"/>
                <a:ea typeface="Archivo Display"/>
                <a:cs typeface="Archivo Display"/>
              </a:rPr>
              <a:t>04</a:t>
            </a:r>
          </a:p>
          <a:p>
            <a:pPr algn="l">
              <a:lnSpc>
                <a:spcPts val="1400"/>
              </a:lnSpc>
            </a:pPr>
            <a:r>
              <a:rPr sz="1300" b="0">
                <a:solidFill>
                  <a:srgbClr val="F4ECDD"/>
                </a:solidFill>
                <a:latin typeface="Archivo Expanded"/>
                <a:ea typeface="Archivo Expanded"/>
                <a:cs typeface="Archivo Expanded"/>
              </a:rPr>
              <a:t>STRUCTURED FEEDBACK</a:t>
            </a:r>
          </a:p>
        </p:txBody>
      </p:sp>
      <p:pic>
        <p:nvPicPr>
          <p:cNvPr id="12" name="!!cashier A04" descr="a04_sti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984500"/>
            <a:ext cx="4064000" cy="2887481"/>
          </a:xfrm>
          <a:prstGeom prst="rect">
            <a:avLst/>
          </a:prstGeom>
        </p:spPr>
      </p:pic>
      <p:sp>
        <p:nvSpPr>
          <p:cNvPr id="13" name="!!barL"/>
          <p:cNvSpPr/>
          <p:nvPr/>
        </p:nvSpPr>
        <p:spPr>
          <a:xfrm>
            <a:off x="-4445000" y="0"/>
            <a:ext cx="4191000" cy="6858000"/>
          </a:xfrm>
          <a:prstGeom prst="rect">
            <a:avLst/>
          </a:prstGeom>
          <a:solidFill>
            <a:srgbClr val="1E0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!!hazL" descr="haz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82600" y="0"/>
            <a:ext cx="228600" cy="6858000"/>
          </a:xfrm>
          <a:prstGeom prst="rect">
            <a:avLst/>
          </a:prstGeom>
        </p:spPr>
      </p:pic>
      <p:sp>
        <p:nvSpPr>
          <p:cNvPr id="15" name="!!barR"/>
          <p:cNvSpPr/>
          <p:nvPr/>
        </p:nvSpPr>
        <p:spPr>
          <a:xfrm>
            <a:off x="12446000" y="0"/>
            <a:ext cx="4191000" cy="6858000"/>
          </a:xfrm>
          <a:prstGeom prst="rect">
            <a:avLst/>
          </a:prstGeom>
          <a:solidFill>
            <a:srgbClr val="1E0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!!hazR" descr="haz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6000" y="0"/>
            <a:ext cx="228600" cy="6858000"/>
          </a:xfrm>
          <a:prstGeom prst="rect">
            <a:avLst/>
          </a:prstGeom>
        </p:spPr>
      </p:pic>
      <p:sp>
        <p:nvSpPr>
          <p:cNvPr id="17" name="!!phrase"/>
          <p:cNvSpPr txBox="1"/>
          <p:nvPr/>
        </p:nvSpPr>
        <p:spPr>
          <a:xfrm>
            <a:off x="0" y="698500"/>
            <a:ext cx="12192000" cy="952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5590"/>
              </a:lnSpc>
            </a:pPr>
            <a:r>
              <a:rPr sz="6500" b="0">
                <a:solidFill>
                  <a:srgbClr val="F4ECDD"/>
                </a:solidFill>
                <a:effectLst>
                  <a:outerShdw blurRad="0" dist="63500" dir="5400000" algn="tl" rotWithShape="0">
                    <a:srgbClr val="000000">
                      <a:alpha val="50000"/>
                    </a:srgbClr>
                  </a:outerShdw>
                </a:effectLst>
                <a:latin typeface="Archivo Display"/>
                <a:ea typeface="Archivo Display"/>
                <a:cs typeface="Archivo Display"/>
              </a:rPr>
              <a:t>A JOB SOMEONE </a:t>
            </a:r>
            <a:r>
              <a:rPr sz="6500" b="0">
                <a:solidFill>
                  <a:srgbClr val="FFD23F"/>
                </a:solidFill>
                <a:effectLst>
                  <a:outerShdw blurRad="0" dist="63500" dir="5400000" algn="tl" rotWithShape="0">
                    <a:srgbClr val="000000">
                      <a:alpha val="50000"/>
                    </a:srgbClr>
                  </a:outerShdw>
                </a:effectLst>
                <a:latin typeface="Archivo Display"/>
                <a:ea typeface="Archivo Display"/>
                <a:cs typeface="Archivo Display"/>
              </a:rPr>
              <a:t>OWNS.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4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exture: film grain" descr="grain.png"/>
          <p:cNvPicPr>
            <a:picLocks noChangeAspect="1" noSel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inal line 1"/>
          <p:cNvSpPr txBox="1"/>
          <p:nvPr/>
        </p:nvSpPr>
        <p:spPr>
          <a:xfrm>
            <a:off x="0" y="1206500"/>
            <a:ext cx="121920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8600"/>
              </a:lnSpc>
            </a:pPr>
            <a:r>
              <a:rPr sz="10000" b="0">
                <a:solidFill>
                  <a:srgbClr val="F4ECDD"/>
                </a:solidFill>
                <a:latin typeface="Archivo Display"/>
                <a:ea typeface="Archivo Display"/>
                <a:cs typeface="Archivo Display"/>
              </a:rPr>
              <a:t>NOT A DIFFERENT JOB.</a:t>
            </a:r>
          </a:p>
        </p:txBody>
      </p:sp>
      <p:sp>
        <p:nvSpPr>
          <p:cNvPr id="4" name="Final line 2"/>
          <p:cNvSpPr txBox="1"/>
          <p:nvPr/>
        </p:nvSpPr>
        <p:spPr>
          <a:xfrm>
            <a:off x="0" y="2413000"/>
            <a:ext cx="121920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8600"/>
              </a:lnSpc>
            </a:pPr>
            <a:r>
              <a:rPr sz="10000" b="0">
                <a:solidFill>
                  <a:srgbClr val="FFD23F"/>
                </a:solidFill>
                <a:latin typeface="Archivo Display"/>
                <a:ea typeface="Archivo Display"/>
                <a:cs typeface="Archivo Display"/>
              </a:rPr>
              <a:t>A BETTER-DESIGNED ONE.</a:t>
            </a:r>
          </a:p>
        </p:txBody>
      </p:sp>
      <p:pic>
        <p:nvPicPr>
          <p:cNvPr id="5" name="Receipt paper" descr="receipt_strip.jpg"/>
          <p:cNvPicPr>
            <a:picLocks noChangeAspect="1"/>
          </p:cNvPicPr>
          <p:nvPr/>
        </p:nvPicPr>
        <p:blipFill>
          <a:blip r:embed="rId3"/>
          <a:srcRect t="73016"/>
          <a:stretch>
            <a:fillRect/>
          </a:stretch>
        </p:blipFill>
        <p:spPr>
          <a:xfrm>
            <a:off x="5048250" y="4191000"/>
            <a:ext cx="2095500" cy="2095500"/>
          </a:xfrm>
          <a:prstGeom prst="rect">
            <a:avLst/>
          </a:prstGeom>
          <a:effectLst>
            <a:outerShdw blurRad="0" dist="762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6" name="Thank you"/>
          <p:cNvSpPr txBox="1"/>
          <p:nvPr/>
        </p:nvSpPr>
        <p:spPr>
          <a:xfrm>
            <a:off x="5175250" y="4318000"/>
            <a:ext cx="1841500" cy="184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875"/>
              </a:lnSpc>
            </a:pPr>
            <a:r>
              <a:rPr sz="230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Thank you.</a:t>
            </a:r>
          </a:p>
          <a:p>
            <a:pPr algn="ctr">
              <a:lnSpc>
                <a:spcPts val="1125"/>
              </a:lnSpc>
              <a:spcBef>
                <a:spcPts val="200"/>
              </a:spcBef>
            </a:pPr>
            <a:r>
              <a:rPr sz="900" b="0">
                <a:solidFill>
                  <a:srgbClr val="686262"/>
                </a:solidFill>
                <a:latin typeface="JetBrains Mono"/>
                <a:ea typeface="JetBrains Mono"/>
                <a:cs typeface="JetBrains Mono"/>
              </a:rPr>
              <a:t>— — — — — — — —</a:t>
            </a:r>
          </a:p>
          <a:p>
            <a:pPr algn="ctr">
              <a:lnSpc>
                <a:spcPts val="1500"/>
              </a:lnSpc>
            </a:pPr>
            <a:r>
              <a:rPr sz="105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Munhib Alam Khan</a:t>
            </a:r>
          </a:p>
          <a:p>
            <a:pPr algn="ctr">
              <a:lnSpc>
                <a:spcPts val="1500"/>
              </a:lnSpc>
            </a:pPr>
            <a:r>
              <a:rPr sz="105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Abdullah Khan</a:t>
            </a:r>
          </a:p>
          <a:p>
            <a:pPr algn="ctr">
              <a:lnSpc>
                <a:spcPts val="1500"/>
              </a:lnSpc>
            </a:pPr>
            <a:r>
              <a:rPr sz="105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Rabie Sami</a:t>
            </a:r>
          </a:p>
          <a:p>
            <a:pPr algn="ctr">
              <a:lnSpc>
                <a:spcPts val="1500"/>
              </a:lnSpc>
            </a:pPr>
            <a:r>
              <a:rPr sz="1050" b="1">
                <a:solidFill>
                  <a:srgbClr val="0B0610"/>
                </a:solidFill>
                <a:latin typeface="JetBrains Mono"/>
                <a:ea typeface="JetBrains Mono"/>
                <a:cs typeface="JetBrains Mono"/>
              </a:rPr>
              <a:t>Karan Kumar</a:t>
            </a:r>
          </a:p>
        </p:txBody>
      </p:sp>
      <p:sp>
        <p:nvSpPr>
          <p:cNvPr id="7" name="References"/>
          <p:cNvSpPr txBox="1"/>
          <p:nvPr/>
        </p:nvSpPr>
        <p:spPr>
          <a:xfrm>
            <a:off x="698500" y="5715000"/>
            <a:ext cx="40640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97908B"/>
                </a:solidFill>
                <a:latin typeface="JetBrains Mono"/>
                <a:ea typeface="JetBrains Mono"/>
                <a:cs typeface="JetBrains Mono"/>
              </a:rPr>
              <a:t>Karachi School of Business &amp; Leadership</a:t>
            </a:r>
          </a:p>
          <a:p>
            <a:pPr algn="l">
              <a:lnSpc>
                <a:spcPts val="1250"/>
              </a:lnSpc>
            </a:pPr>
            <a:r>
              <a:rPr sz="1000" b="0">
                <a:solidFill>
                  <a:srgbClr val="97908B"/>
                </a:solidFill>
                <a:latin typeface="JetBrains Mono"/>
                <a:ea typeface="JetBrains Mono"/>
                <a:cs typeface="JetBrains Mono"/>
              </a:rPr>
              <a:t>Organizational Behaviour · Fall 2026 · Dr. Faryal Razzaq</a:t>
            </a:r>
          </a:p>
          <a:p>
            <a:pPr algn="l">
              <a:lnSpc>
                <a:spcPts val="1250"/>
              </a:lnSpc>
              <a:spcBef>
                <a:spcPts val="300"/>
              </a:spcBef>
            </a:pPr>
            <a:r>
              <a:rPr sz="1000" b="0">
                <a:solidFill>
                  <a:srgbClr val="97908B"/>
                </a:solidFill>
                <a:latin typeface="JetBrains Mono"/>
                <a:ea typeface="JetBrains Mono"/>
                <a:cs typeface="JetBrains Mono"/>
              </a:rPr>
              <a:t>Reference: Hackman &amp; Oldham (1976), Organizational Behavior and Human Performance, 16(2), 250–279.</a:t>
            </a:r>
          </a:p>
        </p:txBody>
      </p:sp>
      <p:sp>
        <p:nvSpPr>
          <p:cNvPr id="8" name="Imagery disclosure"/>
          <p:cNvSpPr txBox="1"/>
          <p:nvPr/>
        </p:nvSpPr>
        <p:spPr>
          <a:xfrm>
            <a:off x="7493000" y="5969000"/>
            <a:ext cx="40640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50"/>
              </a:lnSpc>
            </a:pPr>
            <a:r>
              <a:rPr sz="1000" b="0">
                <a:solidFill>
                  <a:srgbClr val="97908B"/>
                </a:solidFill>
                <a:latin typeface="JetBrains Mono"/>
                <a:ea typeface="JetBrains Mono"/>
                <a:cs typeface="JetBrains Mono"/>
              </a:rPr>
              <a:t>Photography: AI-generated &amp; illustrative.</a:t>
            </a:r>
          </a:p>
          <a:p>
            <a:pPr algn="r">
              <a:lnSpc>
                <a:spcPts val="1250"/>
              </a:lnSpc>
            </a:pPr>
            <a:r>
              <a:rPr sz="1000" b="0">
                <a:solidFill>
                  <a:srgbClr val="97908B"/>
                </a:solidFill>
                <a:latin typeface="JetBrains Mono"/>
                <a:ea typeface="JetBrains Mono"/>
                <a:cs typeface="JetBrains Mono"/>
              </a:rPr>
              <a:t>No real employees or respondents · not affiliated with Imtiaz.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D1243"/>
            </a:gs>
            <a:gs pos="52000">
              <a:srgbClr val="1C0A29"/>
            </a:gs>
            <a:gs pos="100000">
              <a:srgbClr val="0B0610"/>
            </a:gs>
          </a:gsLst>
          <a:path path="circle">
            <a:fillToRect l="50000" t="38000" r="50000" b="62000"/>
          </a:path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Texture: film grain" descr="grain.png"/>
          <p:cNvPicPr>
            <a:picLocks noChangeAspect="1" noSel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" y="444500"/>
            <a:ext cx="2895900" cy="20574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sz="1200" b="1" spc="144">
                <a:solidFill>
                  <a:srgbClr val="FF2E88"/>
                </a:solidFill>
                <a:latin typeface="JetBrains Mono"/>
                <a:ea typeface="JetBrains Mono"/>
                <a:cs typeface="JetBrains Mono"/>
              </a:rPr>
              <a:t>APPENDIX · BACKUP FOR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" y="698500"/>
            <a:ext cx="8474591" cy="6217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416"/>
              </a:lnSpc>
            </a:pPr>
            <a:r>
              <a:rPr sz="4800" b="0">
                <a:solidFill>
                  <a:srgbClr val="F4ECDD"/>
                </a:solidFill>
                <a:latin typeface="Archivo Condensed"/>
                <a:ea typeface="Archivo Condensed"/>
                <a:cs typeface="Archivo Condensed"/>
              </a:rPr>
              <a:t>EXPLORATORY CORRELATIONS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1365250"/>
            <a:ext cx="5306568" cy="2571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500" b="1">
                <a:solidFill>
                  <a:srgbClr val="FFD23F"/>
                </a:solidFill>
                <a:latin typeface="JetBrains Mono"/>
                <a:ea typeface="JetBrains Mono"/>
                <a:cs typeface="JetBrains Mono"/>
              </a:rPr>
              <a:t>n = 25 · Pearson r · no significance testing</a:t>
            </a:r>
          </a:p>
        </p:txBody>
      </p:sp>
      <p:graphicFrame>
        <p:nvGraphicFramePr>
          <p:cNvPr id="6" name="Correlation table"/>
          <p:cNvGraphicFramePr>
            <a:graphicFrameLocks noGrp="1"/>
          </p:cNvGraphicFramePr>
          <p:nvPr/>
        </p:nvGraphicFramePr>
        <p:xfrm>
          <a:off x="698500" y="1905000"/>
          <a:ext cx="8255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/>
                <a:gridCol w="2349500"/>
                <a:gridCol w="234950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610"/>
                          </a:solidFill>
                          <a:latin typeface="Archivo Label"/>
                        </a:rPr>
                        <a:t>JOB CHARACTERISTIC</a:t>
                      </a:r>
                    </a:p>
                  </a:txBody>
                  <a:tcPr marL="152400" marR="152400" anchor="ctr">
                    <a:solidFill>
                      <a:srgbClr val="FFD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0610"/>
                          </a:solidFill>
                          <a:latin typeface="Archivo Label"/>
                        </a:rPr>
                        <a:t>INTERNAL WORK MOTIVATION</a:t>
                      </a:r>
                    </a:p>
                  </a:txBody>
                  <a:tcPr marL="152400" marR="152400" anchor="ctr">
                    <a:solidFill>
                      <a:srgbClr val="FFD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B0610"/>
                          </a:solidFill>
                          <a:latin typeface="Archivo Label"/>
                        </a:rPr>
                        <a:t>JOB SATISFACTION</a:t>
                      </a:r>
                    </a:p>
                  </a:txBody>
                  <a:tcPr marL="152400" marR="152400" anchor="ctr">
                    <a:solidFill>
                      <a:srgbClr val="FFD23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610"/>
                          </a:solidFill>
                          <a:latin typeface="Archivo Expanded"/>
                        </a:rPr>
                        <a:t>SKILL VARIETY</a:t>
                      </a:r>
                    </a:p>
                  </a:txBody>
                  <a:tcPr marL="152400" marR="152400" anchor="ctr">
                    <a:solidFill>
                      <a:srgbClr val="F7F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B0610"/>
                          </a:solidFill>
                          <a:latin typeface="JetBrains Mono"/>
                        </a:rPr>
                        <a:t>+0.312</a:t>
                      </a:r>
                    </a:p>
                  </a:txBody>
                  <a:tcPr marL="152400" marR="152400" anchor="ctr">
                    <a:solidFill>
                      <a:srgbClr val="F7F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4ECDD"/>
                          </a:solidFill>
                          <a:latin typeface="JetBrains Mono"/>
                        </a:rPr>
                        <a:t>+0.539</a:t>
                      </a:r>
                    </a:p>
                  </a:txBody>
                  <a:tcPr marL="152400" marR="152400" anchor="ctr">
                    <a:solidFill>
                      <a:srgbClr val="FF2E88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610"/>
                          </a:solidFill>
                          <a:latin typeface="Archivo Expanded"/>
                        </a:rPr>
                        <a:t>TASK IDENTITY</a:t>
                      </a:r>
                    </a:p>
                  </a:txBody>
                  <a:tcPr marL="152400" marR="152400" anchor="ctr">
                    <a:solidFill>
                      <a:srgbClr val="EDE3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B0610"/>
                          </a:solidFill>
                          <a:latin typeface="JetBrains Mono"/>
                        </a:rPr>
                        <a:t>+0.439</a:t>
                      </a:r>
                    </a:p>
                  </a:txBody>
                  <a:tcPr marL="152400" marR="152400" anchor="ctr">
                    <a:solidFill>
                      <a:srgbClr val="EDE3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B0610"/>
                          </a:solidFill>
                          <a:latin typeface="JetBrains Mono"/>
                        </a:rPr>
                        <a:t>-0.048</a:t>
                      </a:r>
                    </a:p>
                  </a:txBody>
                  <a:tcPr marL="152400" marR="152400" anchor="ctr">
                    <a:solidFill>
                      <a:srgbClr val="EDE3D0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610"/>
                          </a:solidFill>
                          <a:latin typeface="Archivo Expanded"/>
                        </a:rPr>
                        <a:t>TASK SIGNIFICANCE</a:t>
                      </a:r>
                    </a:p>
                  </a:txBody>
                  <a:tcPr marL="152400" marR="152400" anchor="ctr">
                    <a:solidFill>
                      <a:srgbClr val="F7F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B0610"/>
                          </a:solidFill>
                          <a:latin typeface="JetBrains Mono"/>
                        </a:rPr>
                        <a:t>+0.330</a:t>
                      </a:r>
                    </a:p>
                  </a:txBody>
                  <a:tcPr marL="152400" marR="152400" anchor="ctr">
                    <a:solidFill>
                      <a:srgbClr val="F7F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B0610"/>
                          </a:solidFill>
                          <a:latin typeface="JetBrains Mono"/>
                        </a:rPr>
                        <a:t>+0.203</a:t>
                      </a:r>
                    </a:p>
                  </a:txBody>
                  <a:tcPr marL="152400" marR="152400" anchor="ctr">
                    <a:solidFill>
                      <a:srgbClr val="F7F1E3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610"/>
                          </a:solidFill>
                          <a:latin typeface="Archivo Expanded"/>
                        </a:rPr>
                        <a:t>AUTONOMY</a:t>
                      </a:r>
                    </a:p>
                  </a:txBody>
                  <a:tcPr marL="152400" marR="152400" anchor="ctr">
                    <a:solidFill>
                      <a:srgbClr val="EDE3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B0610"/>
                          </a:solidFill>
                          <a:latin typeface="JetBrains Mono"/>
                        </a:rPr>
                        <a:t>+0.161</a:t>
                      </a:r>
                    </a:p>
                  </a:txBody>
                  <a:tcPr marL="152400" marR="152400" anchor="ctr">
                    <a:solidFill>
                      <a:srgbClr val="EDE3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B0610"/>
                          </a:solidFill>
                          <a:latin typeface="JetBrains Mono"/>
                        </a:rPr>
                        <a:t>-0.006</a:t>
                      </a:r>
                    </a:p>
                  </a:txBody>
                  <a:tcPr marL="152400" marR="152400" anchor="ctr">
                    <a:solidFill>
                      <a:srgbClr val="EDE3D0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610"/>
                          </a:solidFill>
                          <a:latin typeface="Archivo Expanded"/>
                        </a:rPr>
                        <a:t>FEEDBACK</a:t>
                      </a:r>
                    </a:p>
                  </a:txBody>
                  <a:tcPr marL="152400" marR="152400" anchor="ctr">
                    <a:solidFill>
                      <a:srgbClr val="F7F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B0610"/>
                          </a:solidFill>
                          <a:latin typeface="JetBrains Mono"/>
                        </a:rPr>
                        <a:t>+0.354</a:t>
                      </a:r>
                    </a:p>
                  </a:txBody>
                  <a:tcPr marL="152400" marR="152400" anchor="ctr">
                    <a:solidFill>
                      <a:srgbClr val="F7F1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B0610"/>
                          </a:solidFill>
                          <a:latin typeface="JetBrains Mono"/>
                        </a:rPr>
                        <a:t>+0.364</a:t>
                      </a:r>
                    </a:p>
                  </a:txBody>
                  <a:tcPr marL="152400" marR="152400" anchor="ctr">
                    <a:solidFill>
                      <a:srgbClr val="F7F1E3"/>
                    </a:solidFill>
                  </a:tcPr>
                </a:tc>
              </a:tr>
            </a:tbl>
          </a:graphicData>
        </a:graphic>
      </p:graphicFrame>
      <p:sp>
        <p:nvSpPr>
          <p:cNvPr id="7" name="Reading note"/>
          <p:cNvSpPr txBox="1"/>
          <p:nvPr/>
        </p:nvSpPr>
        <p:spPr>
          <a:xfrm>
            <a:off x="9271000" y="1905000"/>
            <a:ext cx="2413000" cy="381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80"/>
              </a:lnSpc>
            </a:pPr>
            <a:r>
              <a:rPr sz="1200" b="0" spc="120">
                <a:solidFill>
                  <a:srgbClr val="FFD23F"/>
                </a:solidFill>
                <a:latin typeface="Archivo Label"/>
                <a:ea typeface="Archivo Label"/>
                <a:cs typeface="Archivo Label"/>
              </a:rPr>
              <a:t>READ AS ASSOCIATIONS ONLY</a:t>
            </a:r>
          </a:p>
          <a:p>
            <a:pPr algn="l">
              <a:lnSpc>
                <a:spcPts val="1700"/>
              </a:lnSpc>
              <a:spcBef>
                <a:spcPts val="700"/>
              </a:spcBef>
            </a:pPr>
            <a:r>
              <a:rPr sz="12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Cross-sectional, self-reported, small sample. No p-values were computed, so no coefficient is described as statistically significant. None of these values shows causation.</a:t>
            </a:r>
          </a:p>
          <a:p>
            <a:pPr algn="l">
              <a:lnSpc>
                <a:spcPts val="1700"/>
              </a:lnSpc>
              <a:spcBef>
                <a:spcPts val="900"/>
              </a:spcBef>
            </a:pPr>
            <a:r>
              <a:rPr sz="12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Highlighted: Skill Variety </a:t>
            </a:r>
            <a:r>
              <a:rPr sz="1200" b="0">
                <a:solidFill>
                  <a:srgbClr val="F4ECDD"/>
                </a:solidFill>
                <a:latin typeface="Arial"/>
                <a:ea typeface="Arial"/>
                <a:cs typeface="Arial"/>
              </a:rPr>
              <a:t>↔</a:t>
            </a:r>
            <a:r>
              <a:rPr sz="1200" b="0">
                <a:solidFill>
                  <a:srgbClr val="F4ECDD"/>
                </a:solidFill>
                <a:latin typeface="JetBrains Mono"/>
                <a:ea typeface="JetBrains Mono"/>
                <a:cs typeface="JetBrains Mono"/>
              </a:rPr>
              <a:t> Job Satisfaction, r = +0.539, presented in the deck as r ≈ .54.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Redesigning the Checkout Cashier Role Using the Job Characteristics Model</dc:title>
  <dc:subject>KSBL · Organizational Behaviour · Fall 2026</dc:subject>
  <dc:creator>Munhib Alam Khan, Abdullah Khan, Rabie Sami, Karan Kumar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